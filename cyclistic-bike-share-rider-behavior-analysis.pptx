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61" r:id="rId5"/>
    <p:sldId id="262" r:id="rId6"/>
    <p:sldId id="263" r:id="rId7"/>
    <p:sldId id="264" r:id="rId8"/>
    <p:sldId id="270" r:id="rId9"/>
    <p:sldId id="269" r:id="rId10"/>
    <p:sldId id="267" r:id="rId11"/>
    <p:sldId id="268" r:id="rId12"/>
  </p:sldIdLst>
  <p:sldSz cx="14401800" cy="8102600"/>
  <p:notesSz cx="14401800" cy="8102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5EEF"/>
    <a:srgbClr val="0909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61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305800" y="533400"/>
            <a:ext cx="5562599" cy="7038974"/>
          </a:xfrm>
          <a:prstGeom prst="rect">
            <a:avLst/>
          </a:prstGeom>
        </p:spPr>
      </p:pic>
      <p:sp>
        <p:nvSpPr>
          <p:cNvPr id="2" name="Holder 2"/>
          <p:cNvSpPr>
            <a:spLocks noGrp="1"/>
          </p:cNvSpPr>
          <p:nvPr>
            <p:ph type="ctrTitle"/>
          </p:nvPr>
        </p:nvSpPr>
        <p:spPr>
          <a:xfrm>
            <a:off x="520700" y="2282825"/>
            <a:ext cx="2193290" cy="299719"/>
          </a:xfrm>
          <a:prstGeom prst="rect">
            <a:avLst/>
          </a:prstGeom>
        </p:spPr>
        <p:txBody>
          <a:bodyPr wrap="square" lIns="0" tIns="0" rIns="0" bIns="0">
            <a:spAutoFit/>
          </a:bodyPr>
          <a:lstStyle>
            <a:lvl1pPr>
              <a:defRPr sz="2400" b="0" i="0">
                <a:solidFill>
                  <a:srgbClr val="06080C"/>
                </a:solidFill>
                <a:latin typeface="Tahoma"/>
                <a:cs typeface="Tahoma"/>
              </a:defRPr>
            </a:lvl1pPr>
          </a:lstStyle>
          <a:p>
            <a:endParaRPr/>
          </a:p>
        </p:txBody>
      </p:sp>
      <p:sp>
        <p:nvSpPr>
          <p:cNvPr id="3" name="Holder 3"/>
          <p:cNvSpPr>
            <a:spLocks noGrp="1"/>
          </p:cNvSpPr>
          <p:nvPr>
            <p:ph type="subTitle" idx="4"/>
          </p:nvPr>
        </p:nvSpPr>
        <p:spPr>
          <a:xfrm>
            <a:off x="2160270" y="4537456"/>
            <a:ext cx="10081260" cy="20256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6080C"/>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6080C"/>
                </a:solidFill>
                <a:latin typeface="Tahoma"/>
                <a:cs typeface="Tahoma"/>
              </a:defRPr>
            </a:lvl1pPr>
          </a:lstStyle>
          <a:p>
            <a:endParaRPr/>
          </a:p>
        </p:txBody>
      </p:sp>
      <p:sp>
        <p:nvSpPr>
          <p:cNvPr id="3" name="Holder 3"/>
          <p:cNvSpPr>
            <a:spLocks noGrp="1"/>
          </p:cNvSpPr>
          <p:nvPr>
            <p:ph sz="half" idx="2"/>
          </p:nvPr>
        </p:nvSpPr>
        <p:spPr>
          <a:xfrm>
            <a:off x="720090" y="1863598"/>
            <a:ext cx="6264783" cy="534771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416927" y="1863598"/>
            <a:ext cx="6264783" cy="534771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6080C"/>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401800" cy="8096250"/>
          </a:xfrm>
          <a:custGeom>
            <a:avLst/>
            <a:gdLst/>
            <a:ahLst/>
            <a:cxnLst/>
            <a:rect l="l" t="t" r="r" b="b"/>
            <a:pathLst>
              <a:path w="14401800" h="8096250">
                <a:moveTo>
                  <a:pt x="14401798" y="8096249"/>
                </a:moveTo>
                <a:lnTo>
                  <a:pt x="0" y="8096249"/>
                </a:lnTo>
                <a:lnTo>
                  <a:pt x="0" y="0"/>
                </a:lnTo>
                <a:lnTo>
                  <a:pt x="14401798" y="0"/>
                </a:lnTo>
                <a:lnTo>
                  <a:pt x="14401798" y="8096249"/>
                </a:lnTo>
                <a:close/>
              </a:path>
            </a:pathLst>
          </a:custGeom>
          <a:solidFill>
            <a:srgbClr val="F9FAFA"/>
          </a:solidFill>
        </p:spPr>
        <p:txBody>
          <a:bodyPr wrap="square" lIns="0" tIns="0" rIns="0" bIns="0" rtlCol="0"/>
          <a:lstStyle/>
          <a:p>
            <a:endParaRPr/>
          </a:p>
        </p:txBody>
      </p:sp>
      <p:sp>
        <p:nvSpPr>
          <p:cNvPr id="2" name="Holder 2"/>
          <p:cNvSpPr>
            <a:spLocks noGrp="1"/>
          </p:cNvSpPr>
          <p:nvPr>
            <p:ph type="title"/>
          </p:nvPr>
        </p:nvSpPr>
        <p:spPr>
          <a:xfrm>
            <a:off x="6445249" y="434975"/>
            <a:ext cx="6820534" cy="848360"/>
          </a:xfrm>
          <a:prstGeom prst="rect">
            <a:avLst/>
          </a:prstGeom>
        </p:spPr>
        <p:txBody>
          <a:bodyPr wrap="square" lIns="0" tIns="0" rIns="0" bIns="0">
            <a:spAutoFit/>
          </a:bodyPr>
          <a:lstStyle>
            <a:lvl1pPr>
              <a:defRPr sz="2400" b="0" i="0">
                <a:solidFill>
                  <a:srgbClr val="06080C"/>
                </a:solidFill>
                <a:latin typeface="Tahoma"/>
                <a:cs typeface="Tahoma"/>
              </a:defRPr>
            </a:lvl1pPr>
          </a:lstStyle>
          <a:p>
            <a:endParaRPr/>
          </a:p>
        </p:txBody>
      </p:sp>
      <p:sp>
        <p:nvSpPr>
          <p:cNvPr id="3" name="Holder 3"/>
          <p:cNvSpPr>
            <a:spLocks noGrp="1"/>
          </p:cNvSpPr>
          <p:nvPr>
            <p:ph type="body" idx="1"/>
          </p:nvPr>
        </p:nvSpPr>
        <p:spPr>
          <a:xfrm>
            <a:off x="720090" y="1863598"/>
            <a:ext cx="12961620" cy="534771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896612" y="7535418"/>
            <a:ext cx="4608576" cy="40513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20090" y="7535418"/>
            <a:ext cx="3312414" cy="40513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6" name="Holder 6"/>
          <p:cNvSpPr>
            <a:spLocks noGrp="1"/>
          </p:cNvSpPr>
          <p:nvPr>
            <p:ph type="sldNum" sz="quarter" idx="7"/>
          </p:nvPr>
        </p:nvSpPr>
        <p:spPr>
          <a:xfrm>
            <a:off x="10369296" y="7535418"/>
            <a:ext cx="3312414" cy="40513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analytics@cyclistic.co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1800" spc="95" dirty="0">
                <a:solidFill>
                  <a:schemeClr val="tx1">
                    <a:lumMod val="75000"/>
                    <a:lumOff val="25000"/>
                  </a:schemeClr>
                </a:solidFill>
              </a:rPr>
              <a:t>Cyclistic</a:t>
            </a:r>
            <a:r>
              <a:rPr sz="1800" dirty="0">
                <a:solidFill>
                  <a:schemeClr val="tx1">
                    <a:lumMod val="75000"/>
                    <a:lumOff val="25000"/>
                  </a:schemeClr>
                </a:solidFill>
              </a:rPr>
              <a:t> </a:t>
            </a:r>
            <a:r>
              <a:rPr sz="1800" spc="65" dirty="0">
                <a:solidFill>
                  <a:schemeClr val="tx1">
                    <a:lumMod val="75000"/>
                    <a:lumOff val="25000"/>
                  </a:schemeClr>
                </a:solidFill>
              </a:rPr>
              <a:t>Bike-</a:t>
            </a:r>
            <a:r>
              <a:rPr sz="1800" spc="70" dirty="0">
                <a:solidFill>
                  <a:schemeClr val="tx1">
                    <a:lumMod val="75000"/>
                    <a:lumOff val="25000"/>
                  </a:schemeClr>
                </a:solidFill>
              </a:rPr>
              <a:t>Share</a:t>
            </a:r>
            <a:endParaRPr sz="1800" dirty="0">
              <a:solidFill>
                <a:schemeClr val="tx1">
                  <a:lumMod val="75000"/>
                  <a:lumOff val="25000"/>
                </a:schemeClr>
              </a:solidFill>
            </a:endParaRPr>
          </a:p>
        </p:txBody>
      </p:sp>
      <p:sp>
        <p:nvSpPr>
          <p:cNvPr id="3" name="object 3"/>
          <p:cNvSpPr txBox="1"/>
          <p:nvPr/>
        </p:nvSpPr>
        <p:spPr>
          <a:xfrm>
            <a:off x="520700" y="2787650"/>
            <a:ext cx="6144260" cy="2037080"/>
          </a:xfrm>
          <a:prstGeom prst="rect">
            <a:avLst/>
          </a:prstGeom>
        </p:spPr>
        <p:txBody>
          <a:bodyPr vert="horz" wrap="square" lIns="0" tIns="195580" rIns="0" bIns="0" rtlCol="0">
            <a:spAutoFit/>
          </a:bodyPr>
          <a:lstStyle/>
          <a:p>
            <a:pPr marL="12700" marR="5080">
              <a:lnSpc>
                <a:spcPts val="7200"/>
              </a:lnSpc>
              <a:spcBef>
                <a:spcPts val="1540"/>
              </a:spcBef>
            </a:pPr>
            <a:r>
              <a:rPr sz="7200" spc="125" dirty="0">
                <a:solidFill>
                  <a:schemeClr val="tx1">
                    <a:lumMod val="75000"/>
                    <a:lumOff val="25000"/>
                  </a:schemeClr>
                </a:solidFill>
                <a:latin typeface="Tahoma"/>
                <a:cs typeface="Tahoma"/>
              </a:rPr>
              <a:t>Rider</a:t>
            </a:r>
            <a:r>
              <a:rPr sz="7200" spc="-440" dirty="0">
                <a:solidFill>
                  <a:schemeClr val="tx1">
                    <a:lumMod val="75000"/>
                    <a:lumOff val="25000"/>
                  </a:schemeClr>
                </a:solidFill>
                <a:latin typeface="Tahoma"/>
                <a:cs typeface="Tahoma"/>
              </a:rPr>
              <a:t> </a:t>
            </a:r>
            <a:r>
              <a:rPr sz="7200" spc="170" dirty="0">
                <a:solidFill>
                  <a:schemeClr val="tx1">
                    <a:lumMod val="75000"/>
                    <a:lumOff val="25000"/>
                  </a:schemeClr>
                </a:solidFill>
                <a:latin typeface="Tahoma"/>
                <a:cs typeface="Tahoma"/>
              </a:rPr>
              <a:t>Behavior </a:t>
            </a:r>
            <a:r>
              <a:rPr sz="7200" spc="254" dirty="0">
                <a:solidFill>
                  <a:schemeClr val="tx1">
                    <a:lumMod val="75000"/>
                    <a:lumOff val="25000"/>
                  </a:schemeClr>
                </a:solidFill>
                <a:latin typeface="Tahoma"/>
                <a:cs typeface="Tahoma"/>
              </a:rPr>
              <a:t>Analysis</a:t>
            </a:r>
            <a:endParaRPr sz="7200" dirty="0">
              <a:solidFill>
                <a:schemeClr val="tx1">
                  <a:lumMod val="75000"/>
                  <a:lumOff val="25000"/>
                </a:schemeClr>
              </a:solidFill>
              <a:latin typeface="Tahoma"/>
              <a:cs typeface="Tahoma"/>
            </a:endParaRPr>
          </a:p>
        </p:txBody>
      </p:sp>
      <p:sp>
        <p:nvSpPr>
          <p:cNvPr id="4" name="object 4"/>
          <p:cNvSpPr txBox="1"/>
          <p:nvPr/>
        </p:nvSpPr>
        <p:spPr>
          <a:xfrm>
            <a:off x="520700" y="7321550"/>
            <a:ext cx="5433695" cy="254000"/>
          </a:xfrm>
          <a:prstGeom prst="rect">
            <a:avLst/>
          </a:prstGeom>
        </p:spPr>
        <p:txBody>
          <a:bodyPr vert="horz" wrap="square" lIns="0" tIns="12700" rIns="0" bIns="0" rtlCol="0">
            <a:spAutoFit/>
          </a:bodyPr>
          <a:lstStyle/>
          <a:p>
            <a:pPr marL="12700">
              <a:lnSpc>
                <a:spcPct val="100000"/>
              </a:lnSpc>
              <a:spcBef>
                <a:spcPts val="100"/>
              </a:spcBef>
            </a:pPr>
            <a:r>
              <a:rPr sz="1500" spc="60" dirty="0">
                <a:solidFill>
                  <a:srgbClr val="DADADA"/>
                </a:solidFill>
                <a:latin typeface="Tahoma"/>
                <a:cs typeface="Tahoma"/>
              </a:rPr>
              <a:t>Marketing</a:t>
            </a:r>
            <a:r>
              <a:rPr sz="1500" spc="-10" dirty="0">
                <a:solidFill>
                  <a:srgbClr val="DADADA"/>
                </a:solidFill>
                <a:latin typeface="Tahoma"/>
                <a:cs typeface="Tahoma"/>
              </a:rPr>
              <a:t> </a:t>
            </a:r>
            <a:r>
              <a:rPr sz="1500" spc="70" dirty="0">
                <a:solidFill>
                  <a:srgbClr val="DADADA"/>
                </a:solidFill>
                <a:latin typeface="Tahoma"/>
                <a:cs typeface="Tahoma"/>
              </a:rPr>
              <a:t>Analytics</a:t>
            </a:r>
            <a:r>
              <a:rPr sz="1500" spc="-5" dirty="0">
                <a:solidFill>
                  <a:srgbClr val="DADADA"/>
                </a:solidFill>
                <a:latin typeface="Tahoma"/>
                <a:cs typeface="Tahoma"/>
              </a:rPr>
              <a:t> </a:t>
            </a:r>
            <a:r>
              <a:rPr sz="1500" dirty="0">
                <a:solidFill>
                  <a:srgbClr val="DADADA"/>
                </a:solidFill>
                <a:latin typeface="Tahoma"/>
                <a:cs typeface="Tahoma"/>
              </a:rPr>
              <a:t>Team</a:t>
            </a:r>
            <a:r>
              <a:rPr sz="1500" spc="-10" dirty="0">
                <a:solidFill>
                  <a:srgbClr val="DADADA"/>
                </a:solidFill>
                <a:latin typeface="Tahoma"/>
                <a:cs typeface="Tahoma"/>
              </a:rPr>
              <a:t> </a:t>
            </a:r>
            <a:r>
              <a:rPr sz="1500" spc="-100" dirty="0">
                <a:solidFill>
                  <a:srgbClr val="DADADA"/>
                </a:solidFill>
                <a:latin typeface="Tahoma"/>
                <a:cs typeface="Tahoma"/>
              </a:rPr>
              <a:t>·</a:t>
            </a:r>
            <a:r>
              <a:rPr sz="1500" spc="-5" dirty="0">
                <a:solidFill>
                  <a:srgbClr val="DADADA"/>
                </a:solidFill>
                <a:latin typeface="Tahoma"/>
                <a:cs typeface="Tahoma"/>
              </a:rPr>
              <a:t> </a:t>
            </a:r>
            <a:r>
              <a:rPr sz="1500" spc="80" dirty="0">
                <a:solidFill>
                  <a:srgbClr val="DADADA"/>
                </a:solidFill>
                <a:latin typeface="Tahoma"/>
                <a:cs typeface="Tahoma"/>
              </a:rPr>
              <a:t>Cyclistic</a:t>
            </a:r>
            <a:r>
              <a:rPr sz="1500" spc="-5" dirty="0">
                <a:solidFill>
                  <a:srgbClr val="DADADA"/>
                </a:solidFill>
                <a:latin typeface="Tahoma"/>
                <a:cs typeface="Tahoma"/>
              </a:rPr>
              <a:t> </a:t>
            </a:r>
            <a:r>
              <a:rPr sz="1500" spc="60" dirty="0">
                <a:solidFill>
                  <a:srgbClr val="DADADA"/>
                </a:solidFill>
                <a:latin typeface="Tahoma"/>
                <a:cs typeface="Tahoma"/>
              </a:rPr>
              <a:t>Executive</a:t>
            </a:r>
            <a:r>
              <a:rPr sz="1500" spc="-10" dirty="0">
                <a:solidFill>
                  <a:srgbClr val="DADADA"/>
                </a:solidFill>
                <a:latin typeface="Tahoma"/>
                <a:cs typeface="Tahoma"/>
              </a:rPr>
              <a:t> </a:t>
            </a:r>
            <a:r>
              <a:rPr sz="1500" spc="50" dirty="0">
                <a:solidFill>
                  <a:srgbClr val="DADADA"/>
                </a:solidFill>
                <a:latin typeface="Tahoma"/>
                <a:cs typeface="Tahoma"/>
              </a:rPr>
              <a:t>Stakeholders</a:t>
            </a:r>
            <a:endParaRPr sz="1500" dirty="0">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4401800" cy="8096250"/>
          </a:xfrm>
          <a:custGeom>
            <a:avLst/>
            <a:gdLst/>
            <a:ahLst/>
            <a:cxnLst/>
            <a:rect l="l" t="t" r="r" b="b"/>
            <a:pathLst>
              <a:path w="14401800" h="8096250">
                <a:moveTo>
                  <a:pt x="14401798" y="8096249"/>
                </a:moveTo>
                <a:lnTo>
                  <a:pt x="0" y="8096249"/>
                </a:lnTo>
                <a:lnTo>
                  <a:pt x="0" y="0"/>
                </a:lnTo>
                <a:lnTo>
                  <a:pt x="14401798" y="0"/>
                </a:lnTo>
                <a:lnTo>
                  <a:pt x="14401798" y="8096249"/>
                </a:lnTo>
                <a:close/>
              </a:path>
            </a:pathLst>
          </a:custGeom>
          <a:solidFill>
            <a:srgbClr val="F9FAFA"/>
          </a:solidFill>
        </p:spPr>
        <p:txBody>
          <a:bodyPr wrap="square" lIns="0" tIns="0" rIns="0" bIns="0" rtlCol="0"/>
          <a:lstStyle/>
          <a:p>
            <a:endParaRPr/>
          </a:p>
        </p:txBody>
      </p:sp>
      <p:sp>
        <p:nvSpPr>
          <p:cNvPr id="3" name="object 3"/>
          <p:cNvSpPr txBox="1"/>
          <p:nvPr/>
        </p:nvSpPr>
        <p:spPr>
          <a:xfrm>
            <a:off x="506059" y="698500"/>
            <a:ext cx="6123342" cy="2577629"/>
          </a:xfrm>
          <a:prstGeom prst="rect">
            <a:avLst/>
          </a:prstGeom>
        </p:spPr>
        <p:txBody>
          <a:bodyPr vert="horz" wrap="square" lIns="0" tIns="134620" rIns="0" bIns="0" rtlCol="0">
            <a:spAutoFit/>
          </a:bodyPr>
          <a:lstStyle/>
          <a:p>
            <a:pPr marL="12700" marR="5080">
              <a:lnSpc>
                <a:spcPts val="4800"/>
              </a:lnSpc>
              <a:spcBef>
                <a:spcPts val="1060"/>
              </a:spcBef>
            </a:pPr>
            <a:r>
              <a:rPr sz="4800" spc="245" dirty="0">
                <a:solidFill>
                  <a:schemeClr val="tx1">
                    <a:lumMod val="75000"/>
                    <a:lumOff val="25000"/>
                  </a:schemeClr>
                </a:solidFill>
                <a:latin typeface="Tahoma"/>
                <a:cs typeface="Tahoma"/>
              </a:rPr>
              <a:t>How</a:t>
            </a:r>
            <a:r>
              <a:rPr sz="4800" spc="-265" dirty="0">
                <a:solidFill>
                  <a:schemeClr val="tx1">
                    <a:lumMod val="75000"/>
                    <a:lumOff val="25000"/>
                  </a:schemeClr>
                </a:solidFill>
                <a:latin typeface="Tahoma"/>
                <a:cs typeface="Tahoma"/>
              </a:rPr>
              <a:t> </a:t>
            </a:r>
            <a:r>
              <a:rPr sz="4800" spc="229" dirty="0">
                <a:solidFill>
                  <a:schemeClr val="tx1">
                    <a:lumMod val="75000"/>
                    <a:lumOff val="25000"/>
                  </a:schemeClr>
                </a:solidFill>
                <a:latin typeface="Tahoma"/>
                <a:cs typeface="Tahoma"/>
              </a:rPr>
              <a:t>do</a:t>
            </a:r>
            <a:r>
              <a:rPr sz="4800" spc="-260" dirty="0">
                <a:solidFill>
                  <a:schemeClr val="tx1">
                    <a:lumMod val="75000"/>
                    <a:lumOff val="25000"/>
                  </a:schemeClr>
                </a:solidFill>
                <a:latin typeface="Tahoma"/>
                <a:cs typeface="Tahoma"/>
              </a:rPr>
              <a:t> </a:t>
            </a:r>
            <a:r>
              <a:rPr sz="4800" spc="140" dirty="0">
                <a:solidFill>
                  <a:schemeClr val="tx1">
                    <a:lumMod val="75000"/>
                    <a:lumOff val="25000"/>
                  </a:schemeClr>
                </a:solidFill>
                <a:latin typeface="Tahoma"/>
                <a:cs typeface="Tahoma"/>
              </a:rPr>
              <a:t>riders</a:t>
            </a:r>
            <a:r>
              <a:rPr sz="4800" spc="-260" dirty="0">
                <a:solidFill>
                  <a:schemeClr val="tx1">
                    <a:lumMod val="75000"/>
                    <a:lumOff val="25000"/>
                  </a:schemeClr>
                </a:solidFill>
                <a:latin typeface="Tahoma"/>
                <a:cs typeface="Tahoma"/>
              </a:rPr>
              <a:t> </a:t>
            </a:r>
            <a:r>
              <a:rPr sz="4800" spc="200" dirty="0">
                <a:solidFill>
                  <a:schemeClr val="tx1">
                    <a:lumMod val="75000"/>
                    <a:lumOff val="25000"/>
                  </a:schemeClr>
                </a:solidFill>
                <a:latin typeface="Tahoma"/>
                <a:cs typeface="Tahoma"/>
              </a:rPr>
              <a:t>use </a:t>
            </a:r>
            <a:r>
              <a:rPr sz="4800" spc="195" dirty="0">
                <a:solidFill>
                  <a:schemeClr val="tx1">
                    <a:lumMod val="75000"/>
                    <a:lumOff val="25000"/>
                  </a:schemeClr>
                </a:solidFill>
                <a:latin typeface="Tahoma"/>
                <a:cs typeface="Tahoma"/>
              </a:rPr>
              <a:t>Cyclistic </a:t>
            </a:r>
            <a:r>
              <a:rPr sz="4800" spc="70" dirty="0">
                <a:solidFill>
                  <a:schemeClr val="tx1">
                    <a:lumMod val="75000"/>
                    <a:lumOff val="25000"/>
                  </a:schemeClr>
                </a:solidFill>
                <a:latin typeface="Tahoma"/>
                <a:cs typeface="Tahoma"/>
              </a:rPr>
              <a:t>differently?</a:t>
            </a:r>
            <a:endParaRPr sz="4800" dirty="0">
              <a:solidFill>
                <a:schemeClr val="tx1">
                  <a:lumMod val="75000"/>
                  <a:lumOff val="25000"/>
                </a:schemeClr>
              </a:solidFill>
              <a:latin typeface="Tahoma"/>
              <a:cs typeface="Tahoma"/>
            </a:endParaRPr>
          </a:p>
          <a:p>
            <a:pPr marL="12700" marR="53975" algn="just">
              <a:lnSpc>
                <a:spcPct val="99500"/>
              </a:lnSpc>
              <a:spcBef>
                <a:spcPts val="775"/>
              </a:spcBef>
            </a:pPr>
            <a:r>
              <a:rPr sz="1800" spc="70" dirty="0">
                <a:solidFill>
                  <a:srgbClr val="6D6A78"/>
                </a:solidFill>
                <a:latin typeface="Tahoma"/>
                <a:cs typeface="Tahoma"/>
              </a:rPr>
              <a:t>Annual</a:t>
            </a:r>
            <a:r>
              <a:rPr sz="1800" spc="-20" dirty="0">
                <a:solidFill>
                  <a:srgbClr val="6D6A78"/>
                </a:solidFill>
                <a:latin typeface="Tahoma"/>
                <a:cs typeface="Tahoma"/>
              </a:rPr>
              <a:t> </a:t>
            </a:r>
            <a:r>
              <a:rPr sz="1800" spc="80" dirty="0">
                <a:solidFill>
                  <a:srgbClr val="6D6A78"/>
                </a:solidFill>
                <a:latin typeface="Tahoma"/>
                <a:cs typeface="Tahoma"/>
              </a:rPr>
              <a:t>members</a:t>
            </a:r>
            <a:r>
              <a:rPr sz="1800" spc="-15" dirty="0">
                <a:solidFill>
                  <a:srgbClr val="6D6A78"/>
                </a:solidFill>
                <a:latin typeface="Tahoma"/>
                <a:cs typeface="Tahoma"/>
              </a:rPr>
              <a:t> </a:t>
            </a:r>
            <a:r>
              <a:rPr sz="1800" dirty="0">
                <a:solidFill>
                  <a:srgbClr val="6D6A78"/>
                </a:solidFill>
                <a:latin typeface="Tahoma"/>
                <a:cs typeface="Tahoma"/>
              </a:rPr>
              <a:t>are</a:t>
            </a:r>
            <a:r>
              <a:rPr sz="1800" spc="-20" dirty="0">
                <a:solidFill>
                  <a:srgbClr val="6D6A78"/>
                </a:solidFill>
                <a:latin typeface="Tahoma"/>
                <a:cs typeface="Tahoma"/>
              </a:rPr>
              <a:t> </a:t>
            </a:r>
            <a:r>
              <a:rPr sz="1800" spc="60" dirty="0">
                <a:solidFill>
                  <a:srgbClr val="6D6A78"/>
                </a:solidFill>
                <a:latin typeface="Tahoma"/>
                <a:cs typeface="Tahoma"/>
              </a:rPr>
              <a:t>more</a:t>
            </a:r>
            <a:r>
              <a:rPr sz="1800" spc="-15" dirty="0">
                <a:solidFill>
                  <a:srgbClr val="6D6A78"/>
                </a:solidFill>
                <a:latin typeface="Tahoma"/>
                <a:cs typeface="Tahoma"/>
              </a:rPr>
              <a:t> </a:t>
            </a:r>
            <a:r>
              <a:rPr sz="1800" spc="55" dirty="0">
                <a:solidFill>
                  <a:srgbClr val="6D6A78"/>
                </a:solidFill>
                <a:latin typeface="Tahoma"/>
                <a:cs typeface="Tahoma"/>
              </a:rPr>
              <a:t>profitable</a:t>
            </a:r>
            <a:r>
              <a:rPr sz="1800" spc="-20" dirty="0">
                <a:solidFill>
                  <a:srgbClr val="6D6A78"/>
                </a:solidFill>
                <a:latin typeface="Tahoma"/>
                <a:cs typeface="Tahoma"/>
              </a:rPr>
              <a:t> than </a:t>
            </a:r>
            <a:r>
              <a:rPr sz="1800" spc="90" dirty="0">
                <a:solidFill>
                  <a:srgbClr val="6D6A78"/>
                </a:solidFill>
                <a:latin typeface="Tahoma"/>
                <a:cs typeface="Tahoma"/>
              </a:rPr>
              <a:t>casual</a:t>
            </a:r>
            <a:r>
              <a:rPr sz="1800" spc="-45" dirty="0">
                <a:solidFill>
                  <a:srgbClr val="6D6A78"/>
                </a:solidFill>
                <a:latin typeface="Tahoma"/>
                <a:cs typeface="Tahoma"/>
              </a:rPr>
              <a:t> </a:t>
            </a:r>
            <a:r>
              <a:rPr sz="1800" spc="55" dirty="0">
                <a:solidFill>
                  <a:srgbClr val="6D6A78"/>
                </a:solidFill>
                <a:latin typeface="Tahoma"/>
                <a:cs typeface="Tahoma"/>
              </a:rPr>
              <a:t>riders.</a:t>
            </a:r>
            <a:r>
              <a:rPr sz="1800" spc="-40" dirty="0">
                <a:solidFill>
                  <a:srgbClr val="6D6A78"/>
                </a:solidFill>
                <a:latin typeface="Tahoma"/>
                <a:cs typeface="Tahoma"/>
              </a:rPr>
              <a:t> </a:t>
            </a:r>
            <a:br>
              <a:rPr lang="en-US" sz="1800" spc="-40" dirty="0">
                <a:solidFill>
                  <a:srgbClr val="6D6A78"/>
                </a:solidFill>
                <a:latin typeface="Tahoma"/>
                <a:cs typeface="Tahoma"/>
              </a:rPr>
            </a:br>
            <a:r>
              <a:rPr sz="1800" spc="90" dirty="0">
                <a:solidFill>
                  <a:srgbClr val="6D6A78"/>
                </a:solidFill>
                <a:latin typeface="Tahoma"/>
                <a:cs typeface="Tahoma"/>
              </a:rPr>
              <a:t>The</a:t>
            </a:r>
            <a:r>
              <a:rPr sz="1800" spc="-45" dirty="0">
                <a:solidFill>
                  <a:srgbClr val="6D6A78"/>
                </a:solidFill>
                <a:latin typeface="Tahoma"/>
                <a:cs typeface="Tahoma"/>
              </a:rPr>
              <a:t> </a:t>
            </a:r>
            <a:r>
              <a:rPr sz="1800" spc="70" dirty="0">
                <a:solidFill>
                  <a:srgbClr val="6D6A78"/>
                </a:solidFill>
                <a:latin typeface="Tahoma"/>
                <a:cs typeface="Tahoma"/>
              </a:rPr>
              <a:t>goal</a:t>
            </a:r>
            <a:r>
              <a:rPr sz="1800" spc="-40" dirty="0">
                <a:solidFill>
                  <a:srgbClr val="6D6A78"/>
                </a:solidFill>
                <a:latin typeface="Tahoma"/>
                <a:cs typeface="Tahoma"/>
              </a:rPr>
              <a:t> </a:t>
            </a:r>
            <a:r>
              <a:rPr sz="1800" spc="80" dirty="0">
                <a:solidFill>
                  <a:srgbClr val="6D6A78"/>
                </a:solidFill>
                <a:latin typeface="Tahoma"/>
                <a:cs typeface="Tahoma"/>
              </a:rPr>
              <a:t>is</a:t>
            </a:r>
            <a:r>
              <a:rPr sz="1800" spc="-45" dirty="0">
                <a:solidFill>
                  <a:srgbClr val="6D6A78"/>
                </a:solidFill>
                <a:latin typeface="Tahoma"/>
                <a:cs typeface="Tahoma"/>
              </a:rPr>
              <a:t> </a:t>
            </a:r>
            <a:r>
              <a:rPr sz="1800" dirty="0">
                <a:solidFill>
                  <a:srgbClr val="6D6A78"/>
                </a:solidFill>
                <a:latin typeface="Tahoma"/>
                <a:cs typeface="Tahoma"/>
              </a:rPr>
              <a:t>to</a:t>
            </a:r>
            <a:r>
              <a:rPr sz="1800" spc="-40" dirty="0">
                <a:solidFill>
                  <a:srgbClr val="6D6A78"/>
                </a:solidFill>
                <a:latin typeface="Tahoma"/>
                <a:cs typeface="Tahoma"/>
              </a:rPr>
              <a:t> </a:t>
            </a:r>
            <a:r>
              <a:rPr sz="1800" spc="55" dirty="0">
                <a:solidFill>
                  <a:srgbClr val="6D6A78"/>
                </a:solidFill>
                <a:latin typeface="Tahoma"/>
                <a:cs typeface="Tahoma"/>
              </a:rPr>
              <a:t>identify</a:t>
            </a:r>
            <a:r>
              <a:rPr sz="1800" spc="-45" dirty="0">
                <a:solidFill>
                  <a:srgbClr val="6D6A78"/>
                </a:solidFill>
                <a:latin typeface="Tahoma"/>
                <a:cs typeface="Tahoma"/>
              </a:rPr>
              <a:t> </a:t>
            </a:r>
            <a:r>
              <a:rPr sz="1800" spc="50" dirty="0">
                <a:solidFill>
                  <a:srgbClr val="6D6A78"/>
                </a:solidFill>
                <a:latin typeface="Tahoma"/>
                <a:cs typeface="Tahoma"/>
              </a:rPr>
              <a:t>behavioral </a:t>
            </a:r>
            <a:r>
              <a:rPr sz="1800" spc="75" dirty="0">
                <a:solidFill>
                  <a:srgbClr val="6D6A78"/>
                </a:solidFill>
                <a:latin typeface="Tahoma"/>
                <a:cs typeface="Tahoma"/>
              </a:rPr>
              <a:t>differences</a:t>
            </a:r>
            <a:r>
              <a:rPr sz="1800" spc="-40" dirty="0">
                <a:solidFill>
                  <a:srgbClr val="6D6A78"/>
                </a:solidFill>
                <a:latin typeface="Tahoma"/>
                <a:cs typeface="Tahoma"/>
              </a:rPr>
              <a:t> </a:t>
            </a:r>
            <a:r>
              <a:rPr sz="1800" spc="65" dirty="0">
                <a:solidFill>
                  <a:srgbClr val="6D6A78"/>
                </a:solidFill>
                <a:latin typeface="Tahoma"/>
                <a:cs typeface="Tahoma"/>
              </a:rPr>
              <a:t>and</a:t>
            </a:r>
            <a:r>
              <a:rPr sz="1800" spc="-35" dirty="0">
                <a:solidFill>
                  <a:srgbClr val="6D6A78"/>
                </a:solidFill>
                <a:latin typeface="Tahoma"/>
                <a:cs typeface="Tahoma"/>
              </a:rPr>
              <a:t> </a:t>
            </a:r>
            <a:r>
              <a:rPr sz="1800" spc="85" dirty="0">
                <a:solidFill>
                  <a:srgbClr val="6D6A78"/>
                </a:solidFill>
                <a:latin typeface="Tahoma"/>
                <a:cs typeface="Tahoma"/>
              </a:rPr>
              <a:t>design</a:t>
            </a:r>
            <a:r>
              <a:rPr sz="1800" spc="-35" dirty="0">
                <a:solidFill>
                  <a:srgbClr val="6D6A78"/>
                </a:solidFill>
                <a:latin typeface="Tahoma"/>
                <a:cs typeface="Tahoma"/>
              </a:rPr>
              <a:t> </a:t>
            </a:r>
            <a:r>
              <a:rPr sz="1800" spc="55" dirty="0">
                <a:solidFill>
                  <a:srgbClr val="6D6A78"/>
                </a:solidFill>
                <a:latin typeface="Tahoma"/>
                <a:cs typeface="Tahoma"/>
              </a:rPr>
              <a:t>a</a:t>
            </a:r>
            <a:r>
              <a:rPr sz="1800" spc="-35" dirty="0">
                <a:solidFill>
                  <a:srgbClr val="6D6A78"/>
                </a:solidFill>
                <a:latin typeface="Tahoma"/>
                <a:cs typeface="Tahoma"/>
              </a:rPr>
              <a:t> </a:t>
            </a:r>
            <a:r>
              <a:rPr lang="en-US" spc="-35" dirty="0">
                <a:solidFill>
                  <a:srgbClr val="6D6A78"/>
                </a:solidFill>
                <a:latin typeface="Tahoma"/>
                <a:cs typeface="Tahoma"/>
              </a:rPr>
              <a:t>marketing </a:t>
            </a:r>
            <a:r>
              <a:rPr sz="1800" spc="60" dirty="0">
                <a:solidFill>
                  <a:srgbClr val="6D6A78"/>
                </a:solidFill>
                <a:latin typeface="Tahoma"/>
                <a:cs typeface="Tahoma"/>
              </a:rPr>
              <a:t>strategy</a:t>
            </a:r>
            <a:r>
              <a:rPr sz="1800" spc="-35" dirty="0">
                <a:solidFill>
                  <a:srgbClr val="6D6A78"/>
                </a:solidFill>
                <a:latin typeface="Tahoma"/>
                <a:cs typeface="Tahoma"/>
              </a:rPr>
              <a:t> </a:t>
            </a:r>
            <a:r>
              <a:rPr sz="1800" dirty="0">
                <a:solidFill>
                  <a:srgbClr val="6D6A78"/>
                </a:solidFill>
                <a:latin typeface="Tahoma"/>
                <a:cs typeface="Tahoma"/>
              </a:rPr>
              <a:t>that</a:t>
            </a:r>
            <a:r>
              <a:rPr sz="1800" spc="-40" dirty="0">
                <a:solidFill>
                  <a:srgbClr val="6D6A78"/>
                </a:solidFill>
                <a:latin typeface="Tahoma"/>
                <a:cs typeface="Tahoma"/>
              </a:rPr>
              <a:t> </a:t>
            </a:r>
            <a:r>
              <a:rPr sz="1800" spc="70" dirty="0">
                <a:solidFill>
                  <a:srgbClr val="6D6A78"/>
                </a:solidFill>
                <a:latin typeface="Tahoma"/>
                <a:cs typeface="Tahoma"/>
              </a:rPr>
              <a:t>converts </a:t>
            </a:r>
            <a:r>
              <a:rPr sz="1800" spc="90" dirty="0">
                <a:solidFill>
                  <a:srgbClr val="6D6A78"/>
                </a:solidFill>
                <a:latin typeface="Tahoma"/>
                <a:cs typeface="Tahoma"/>
              </a:rPr>
              <a:t>casual</a:t>
            </a:r>
            <a:r>
              <a:rPr sz="1800" spc="-15" dirty="0">
                <a:solidFill>
                  <a:srgbClr val="6D6A78"/>
                </a:solidFill>
                <a:latin typeface="Tahoma"/>
                <a:cs typeface="Tahoma"/>
              </a:rPr>
              <a:t> </a:t>
            </a:r>
            <a:r>
              <a:rPr sz="1800" spc="70" dirty="0">
                <a:solidFill>
                  <a:srgbClr val="6D6A78"/>
                </a:solidFill>
                <a:latin typeface="Tahoma"/>
                <a:cs typeface="Tahoma"/>
              </a:rPr>
              <a:t>riders</a:t>
            </a:r>
            <a:r>
              <a:rPr sz="1800" spc="-15" dirty="0">
                <a:solidFill>
                  <a:srgbClr val="6D6A78"/>
                </a:solidFill>
                <a:latin typeface="Tahoma"/>
                <a:cs typeface="Tahoma"/>
              </a:rPr>
              <a:t> </a:t>
            </a:r>
            <a:r>
              <a:rPr sz="1800" dirty="0">
                <a:solidFill>
                  <a:srgbClr val="6D6A78"/>
                </a:solidFill>
                <a:latin typeface="Tahoma"/>
                <a:cs typeface="Tahoma"/>
              </a:rPr>
              <a:t>into</a:t>
            </a:r>
            <a:r>
              <a:rPr sz="1800" spc="-10" dirty="0">
                <a:solidFill>
                  <a:srgbClr val="6D6A78"/>
                </a:solidFill>
                <a:latin typeface="Tahoma"/>
                <a:cs typeface="Tahoma"/>
              </a:rPr>
              <a:t> </a:t>
            </a:r>
            <a:r>
              <a:rPr sz="1800" spc="55" dirty="0">
                <a:solidFill>
                  <a:srgbClr val="6D6A78"/>
                </a:solidFill>
                <a:latin typeface="Tahoma"/>
                <a:cs typeface="Tahoma"/>
              </a:rPr>
              <a:t>members.</a:t>
            </a:r>
            <a:endParaRPr sz="1800" dirty="0">
              <a:latin typeface="Tahoma"/>
              <a:cs typeface="Tahoma"/>
            </a:endParaRPr>
          </a:p>
        </p:txBody>
      </p:sp>
      <p:pic>
        <p:nvPicPr>
          <p:cNvPr id="4" name="object 4"/>
          <p:cNvPicPr/>
          <p:nvPr/>
        </p:nvPicPr>
        <p:blipFill>
          <a:blip r:embed="rId2" cstate="print"/>
          <a:stretch>
            <a:fillRect/>
          </a:stretch>
        </p:blipFill>
        <p:spPr>
          <a:xfrm>
            <a:off x="7772400" y="533400"/>
            <a:ext cx="6095999" cy="70389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700" y="434975"/>
            <a:ext cx="8432800" cy="751488"/>
          </a:xfrm>
          <a:prstGeom prst="rect">
            <a:avLst/>
          </a:prstGeom>
        </p:spPr>
        <p:txBody>
          <a:bodyPr vert="horz" wrap="square" lIns="0" tIns="12700" rIns="0" bIns="0" rtlCol="0">
            <a:spAutoFit/>
          </a:bodyPr>
          <a:lstStyle/>
          <a:p>
            <a:pPr marL="12700">
              <a:lnSpc>
                <a:spcPct val="100000"/>
              </a:lnSpc>
              <a:spcBef>
                <a:spcPts val="100"/>
              </a:spcBef>
            </a:pPr>
            <a:r>
              <a:rPr sz="4800" spc="185" dirty="0">
                <a:solidFill>
                  <a:schemeClr val="tx1">
                    <a:lumMod val="75000"/>
                    <a:lumOff val="25000"/>
                  </a:schemeClr>
                </a:solidFill>
              </a:rPr>
              <a:t>Analysis</a:t>
            </a:r>
            <a:r>
              <a:rPr sz="4800" spc="-235" dirty="0">
                <a:solidFill>
                  <a:schemeClr val="tx1">
                    <a:lumMod val="75000"/>
                    <a:lumOff val="25000"/>
                  </a:schemeClr>
                </a:solidFill>
              </a:rPr>
              <a:t> </a:t>
            </a:r>
            <a:r>
              <a:rPr lang="en-US" sz="4800" spc="145" dirty="0">
                <a:solidFill>
                  <a:schemeClr val="tx1">
                    <a:lumMod val="75000"/>
                    <a:lumOff val="25000"/>
                  </a:schemeClr>
                </a:solidFill>
              </a:rPr>
              <a:t>Observations</a:t>
            </a:r>
            <a:endParaRPr sz="4800" dirty="0">
              <a:solidFill>
                <a:schemeClr val="tx1">
                  <a:lumMod val="75000"/>
                  <a:lumOff val="25000"/>
                </a:schemeClr>
              </a:solidFill>
            </a:endParaRPr>
          </a:p>
        </p:txBody>
      </p:sp>
      <p:sp>
        <p:nvSpPr>
          <p:cNvPr id="3" name="object 3"/>
          <p:cNvSpPr txBox="1"/>
          <p:nvPr/>
        </p:nvSpPr>
        <p:spPr>
          <a:xfrm>
            <a:off x="560743" y="1866900"/>
            <a:ext cx="6908800" cy="4501232"/>
          </a:xfrm>
          <a:prstGeom prst="rect">
            <a:avLst/>
          </a:prstGeom>
        </p:spPr>
        <p:txBody>
          <a:bodyPr vert="horz" wrap="square" lIns="0" tIns="12700" rIns="0" bIns="0" rtlCol="0">
            <a:spAutoFit/>
          </a:bodyPr>
          <a:lstStyle/>
          <a:p>
            <a:pPr marL="355600" indent="-342900">
              <a:lnSpc>
                <a:spcPct val="100000"/>
              </a:lnSpc>
              <a:spcBef>
                <a:spcPts val="100"/>
              </a:spcBef>
              <a:buAutoNum type="arabicPeriod"/>
            </a:pPr>
            <a:r>
              <a:rPr lang="en-US" sz="1500" spc="55" dirty="0">
                <a:solidFill>
                  <a:srgbClr val="6D6A78"/>
                </a:solidFill>
                <a:latin typeface="Tahoma"/>
                <a:cs typeface="Tahoma"/>
              </a:rPr>
              <a:t>Members drive volume, casuals drive duration</a:t>
            </a:r>
            <a:br>
              <a:rPr lang="en-US" sz="1500" spc="55" dirty="0">
                <a:solidFill>
                  <a:srgbClr val="6D6A78"/>
                </a:solidFill>
                <a:latin typeface="Tahoma"/>
                <a:cs typeface="Tahoma"/>
              </a:rPr>
            </a:br>
            <a:r>
              <a:rPr lang="en-US" sz="1500" spc="55" dirty="0">
                <a:solidFill>
                  <a:srgbClr val="6D6A78"/>
                </a:solidFill>
                <a:latin typeface="Tahoma"/>
                <a:cs typeface="Tahoma"/>
              </a:rPr>
              <a:t>Members consistently take more rides across all months, but casual riders tend to take longer trips.</a:t>
            </a:r>
          </a:p>
          <a:p>
            <a:pPr marL="355600" indent="-342900">
              <a:lnSpc>
                <a:spcPct val="100000"/>
              </a:lnSpc>
              <a:spcBef>
                <a:spcPts val="100"/>
              </a:spcBef>
              <a:buAutoNum type="arabicPeriod"/>
            </a:pPr>
            <a:endParaRPr lang="en-US" sz="1500" spc="55" dirty="0">
              <a:solidFill>
                <a:srgbClr val="6D6A78"/>
              </a:solidFill>
              <a:latin typeface="Tahoma"/>
              <a:cs typeface="Tahoma"/>
            </a:endParaRPr>
          </a:p>
          <a:p>
            <a:pPr marL="355600" indent="-342900">
              <a:lnSpc>
                <a:spcPct val="100000"/>
              </a:lnSpc>
              <a:spcBef>
                <a:spcPts val="100"/>
              </a:spcBef>
              <a:buAutoNum type="arabicPeriod"/>
            </a:pPr>
            <a:r>
              <a:rPr lang="en-US" sz="1500" spc="55" dirty="0">
                <a:solidFill>
                  <a:srgbClr val="6D6A78"/>
                </a:solidFill>
                <a:latin typeface="Tahoma"/>
                <a:cs typeface="Tahoma"/>
              </a:rPr>
              <a:t>Bike preference differs by usage pattern</a:t>
            </a:r>
            <a:br>
              <a:rPr lang="en-US" sz="1500" spc="55" dirty="0">
                <a:solidFill>
                  <a:srgbClr val="6D6A78"/>
                </a:solidFill>
                <a:latin typeface="Tahoma"/>
                <a:cs typeface="Tahoma"/>
              </a:rPr>
            </a:br>
            <a:r>
              <a:rPr lang="en-US" sz="1500" spc="55" dirty="0">
                <a:solidFill>
                  <a:srgbClr val="6D6A78"/>
                </a:solidFill>
                <a:latin typeface="Tahoma"/>
                <a:cs typeface="Tahoma"/>
              </a:rPr>
              <a:t>Electric bikes are used more frequently overall, but longer rides are typically done on classic bikes—especially by casual users.</a:t>
            </a:r>
          </a:p>
          <a:p>
            <a:pPr marL="355600" indent="-342900">
              <a:lnSpc>
                <a:spcPct val="100000"/>
              </a:lnSpc>
              <a:spcBef>
                <a:spcPts val="100"/>
              </a:spcBef>
              <a:buAutoNum type="arabicPeriod"/>
            </a:pPr>
            <a:endParaRPr lang="en-US" sz="1500" spc="55" dirty="0">
              <a:solidFill>
                <a:srgbClr val="6D6A78"/>
              </a:solidFill>
              <a:latin typeface="Tahoma"/>
              <a:cs typeface="Tahoma"/>
            </a:endParaRPr>
          </a:p>
          <a:p>
            <a:pPr marL="355600" indent="-342900">
              <a:lnSpc>
                <a:spcPct val="100000"/>
              </a:lnSpc>
              <a:spcBef>
                <a:spcPts val="100"/>
              </a:spcBef>
              <a:buAutoNum type="arabicPeriod"/>
            </a:pPr>
            <a:r>
              <a:rPr lang="en-US" sz="1500" spc="55" dirty="0">
                <a:solidFill>
                  <a:srgbClr val="6D6A78"/>
                </a:solidFill>
                <a:latin typeface="Tahoma"/>
                <a:cs typeface="Tahoma"/>
              </a:rPr>
              <a:t>Weekends shift behavior toward casual riders</a:t>
            </a:r>
            <a:br>
              <a:rPr lang="en-US" sz="1500" spc="55" dirty="0">
                <a:solidFill>
                  <a:srgbClr val="6D6A78"/>
                </a:solidFill>
                <a:latin typeface="Tahoma"/>
                <a:cs typeface="Tahoma"/>
              </a:rPr>
            </a:br>
            <a:r>
              <a:rPr lang="en-US" sz="1500" spc="55" dirty="0">
                <a:solidFill>
                  <a:srgbClr val="6D6A78"/>
                </a:solidFill>
                <a:latin typeface="Tahoma"/>
                <a:cs typeface="Tahoma"/>
              </a:rPr>
              <a:t>Ride counts between members and casuals become nearly equal on weekends, with casual riders taking longer trips.</a:t>
            </a:r>
          </a:p>
          <a:p>
            <a:pPr marL="355600" indent="-342900">
              <a:lnSpc>
                <a:spcPct val="100000"/>
              </a:lnSpc>
              <a:spcBef>
                <a:spcPts val="100"/>
              </a:spcBef>
              <a:buAutoNum type="arabicPeriod"/>
            </a:pPr>
            <a:endParaRPr lang="en-US" sz="1500" spc="55" dirty="0">
              <a:solidFill>
                <a:srgbClr val="6D6A78"/>
              </a:solidFill>
              <a:latin typeface="Tahoma"/>
              <a:cs typeface="Tahoma"/>
            </a:endParaRPr>
          </a:p>
          <a:p>
            <a:pPr marL="355600" indent="-342900">
              <a:lnSpc>
                <a:spcPct val="100000"/>
              </a:lnSpc>
              <a:spcBef>
                <a:spcPts val="100"/>
              </a:spcBef>
              <a:buAutoNum type="arabicPeriod"/>
            </a:pPr>
            <a:r>
              <a:rPr lang="en-US" sz="1500" spc="55" dirty="0">
                <a:solidFill>
                  <a:srgbClr val="6D6A78"/>
                </a:solidFill>
                <a:latin typeface="Tahoma"/>
                <a:cs typeface="Tahoma"/>
              </a:rPr>
              <a:t>Strong seasonality, especially for casual riders</a:t>
            </a:r>
            <a:br>
              <a:rPr lang="en-US" sz="1500" spc="55" dirty="0">
                <a:solidFill>
                  <a:srgbClr val="6D6A78"/>
                </a:solidFill>
                <a:latin typeface="Tahoma"/>
                <a:cs typeface="Tahoma"/>
              </a:rPr>
            </a:br>
            <a:r>
              <a:rPr lang="en-US" sz="1500" spc="55" dirty="0">
                <a:solidFill>
                  <a:srgbClr val="6D6A78"/>
                </a:solidFill>
                <a:latin typeface="Tahoma"/>
                <a:cs typeface="Tahoma"/>
              </a:rPr>
              <a:t>Ride activity peaks in summer (June–August), with casual riders showing a sharper increase in both ride count and duration.</a:t>
            </a:r>
          </a:p>
          <a:p>
            <a:pPr marL="355600" indent="-342900">
              <a:lnSpc>
                <a:spcPct val="100000"/>
              </a:lnSpc>
              <a:spcBef>
                <a:spcPts val="100"/>
              </a:spcBef>
              <a:buAutoNum type="arabicPeriod"/>
            </a:pPr>
            <a:endParaRPr lang="en-US" sz="1500" spc="55" dirty="0">
              <a:solidFill>
                <a:srgbClr val="6D6A78"/>
              </a:solidFill>
              <a:latin typeface="Tahoma"/>
              <a:cs typeface="Tahoma"/>
            </a:endParaRPr>
          </a:p>
          <a:p>
            <a:pPr marL="355600" indent="-342900">
              <a:lnSpc>
                <a:spcPct val="100000"/>
              </a:lnSpc>
              <a:spcBef>
                <a:spcPts val="100"/>
              </a:spcBef>
              <a:buAutoNum type="arabicPeriod"/>
            </a:pPr>
            <a:r>
              <a:rPr lang="en-US" sz="1500" spc="55" dirty="0">
                <a:solidFill>
                  <a:srgbClr val="6D6A78"/>
                </a:solidFill>
                <a:latin typeface="Tahoma"/>
                <a:cs typeface="Tahoma"/>
              </a:rPr>
              <a:t>Time-of-day usage varies by user type</a:t>
            </a:r>
            <a:br>
              <a:rPr lang="en-US" sz="1500" spc="55" dirty="0">
                <a:solidFill>
                  <a:srgbClr val="6D6A78"/>
                </a:solidFill>
                <a:latin typeface="Tahoma"/>
                <a:cs typeface="Tahoma"/>
              </a:rPr>
            </a:br>
            <a:r>
              <a:rPr lang="en-US" sz="1500" spc="55" dirty="0">
                <a:solidFill>
                  <a:srgbClr val="6D6A78"/>
                </a:solidFill>
                <a:latin typeface="Tahoma"/>
                <a:cs typeface="Tahoma"/>
              </a:rPr>
              <a:t>Members ride consistently throughout the day, while casual riders prefer longer rides in the afternoon.</a:t>
            </a:r>
          </a:p>
        </p:txBody>
      </p:sp>
      <p:pic>
        <p:nvPicPr>
          <p:cNvPr id="5" name="object 5"/>
          <p:cNvPicPr/>
          <p:nvPr/>
        </p:nvPicPr>
        <p:blipFill>
          <a:blip r:embed="rId2" cstate="print"/>
          <a:stretch>
            <a:fillRect/>
          </a:stretch>
        </p:blipFill>
        <p:spPr>
          <a:xfrm>
            <a:off x="7677150" y="1866900"/>
            <a:ext cx="6191249" cy="57054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5181600" cy="8096250"/>
          </a:xfrm>
          <a:custGeom>
            <a:avLst/>
            <a:gdLst/>
            <a:ahLst/>
            <a:cxnLst/>
            <a:rect l="l" t="t" r="r" b="b"/>
            <a:pathLst>
              <a:path w="5181600" h="8096250">
                <a:moveTo>
                  <a:pt x="5181599" y="8096249"/>
                </a:moveTo>
                <a:lnTo>
                  <a:pt x="0" y="8096249"/>
                </a:lnTo>
                <a:lnTo>
                  <a:pt x="0" y="0"/>
                </a:lnTo>
                <a:lnTo>
                  <a:pt x="5181599" y="0"/>
                </a:lnTo>
                <a:lnTo>
                  <a:pt x="5181599" y="8096249"/>
                </a:lnTo>
                <a:close/>
              </a:path>
            </a:pathLst>
          </a:custGeom>
          <a:solidFill>
            <a:srgbClr val="0F1117"/>
          </a:solidFill>
        </p:spPr>
        <p:txBody>
          <a:bodyPr wrap="square" lIns="0" tIns="0" rIns="0" bIns="0" rtlCol="0"/>
          <a:lstStyle/>
          <a:p>
            <a:endParaRPr/>
          </a:p>
        </p:txBody>
      </p:sp>
      <p:sp>
        <p:nvSpPr>
          <p:cNvPr id="3" name="object 3"/>
          <p:cNvSpPr txBox="1"/>
          <p:nvPr/>
        </p:nvSpPr>
        <p:spPr>
          <a:xfrm>
            <a:off x="492125" y="657225"/>
            <a:ext cx="4137660" cy="852156"/>
          </a:xfrm>
          <a:prstGeom prst="rect">
            <a:avLst/>
          </a:prstGeom>
        </p:spPr>
        <p:txBody>
          <a:bodyPr vert="horz" wrap="square" lIns="0" tIns="28575" rIns="0" bIns="0" rtlCol="0">
            <a:spAutoFit/>
          </a:bodyPr>
          <a:lstStyle/>
          <a:p>
            <a:pPr marL="21590">
              <a:lnSpc>
                <a:spcPct val="100000"/>
              </a:lnSpc>
              <a:spcBef>
                <a:spcPts val="225"/>
              </a:spcBef>
            </a:pPr>
            <a:r>
              <a:rPr sz="1500" spc="50" dirty="0">
                <a:solidFill>
                  <a:srgbClr val="6D6A78"/>
                </a:solidFill>
                <a:latin typeface="Tahoma"/>
                <a:cs typeface="Tahoma"/>
              </a:rPr>
              <a:t>Rider</a:t>
            </a:r>
            <a:r>
              <a:rPr sz="1500" spc="-30" dirty="0">
                <a:solidFill>
                  <a:srgbClr val="6D6A78"/>
                </a:solidFill>
                <a:latin typeface="Tahoma"/>
                <a:cs typeface="Tahoma"/>
              </a:rPr>
              <a:t> </a:t>
            </a:r>
            <a:r>
              <a:rPr sz="1500" spc="-10" dirty="0">
                <a:solidFill>
                  <a:srgbClr val="6D6A78"/>
                </a:solidFill>
                <a:latin typeface="Tahoma"/>
                <a:cs typeface="Tahoma"/>
              </a:rPr>
              <a:t>distribution</a:t>
            </a:r>
            <a:endParaRPr sz="1500" dirty="0">
              <a:latin typeface="Tahoma"/>
              <a:cs typeface="Tahoma"/>
            </a:endParaRPr>
          </a:p>
          <a:p>
            <a:pPr marL="12700">
              <a:lnSpc>
                <a:spcPct val="100000"/>
              </a:lnSpc>
              <a:spcBef>
                <a:spcPts val="300"/>
              </a:spcBef>
            </a:pPr>
            <a:r>
              <a:rPr sz="3600" spc="180" dirty="0">
                <a:solidFill>
                  <a:srgbClr val="F1F2F2"/>
                </a:solidFill>
                <a:latin typeface="Tahoma"/>
                <a:cs typeface="Tahoma"/>
              </a:rPr>
              <a:t>Who</a:t>
            </a:r>
            <a:r>
              <a:rPr sz="3600" spc="-145" dirty="0">
                <a:solidFill>
                  <a:srgbClr val="F1F2F2"/>
                </a:solidFill>
                <a:latin typeface="Tahoma"/>
                <a:cs typeface="Tahoma"/>
              </a:rPr>
              <a:t> </a:t>
            </a:r>
            <a:r>
              <a:rPr sz="3600" spc="140" dirty="0">
                <a:solidFill>
                  <a:srgbClr val="F1F2F2"/>
                </a:solidFill>
                <a:latin typeface="Tahoma"/>
                <a:cs typeface="Tahoma"/>
              </a:rPr>
              <a:t>rides</a:t>
            </a:r>
            <a:r>
              <a:rPr sz="3600" spc="-140" dirty="0">
                <a:solidFill>
                  <a:srgbClr val="F1F2F2"/>
                </a:solidFill>
                <a:latin typeface="Tahoma"/>
                <a:cs typeface="Tahoma"/>
              </a:rPr>
              <a:t> </a:t>
            </a:r>
            <a:r>
              <a:rPr sz="3600" spc="165" dirty="0">
                <a:solidFill>
                  <a:srgbClr val="F1F2F2"/>
                </a:solidFill>
                <a:latin typeface="Tahoma"/>
                <a:cs typeface="Tahoma"/>
              </a:rPr>
              <a:t>Cyclistic</a:t>
            </a:r>
            <a:endParaRPr sz="3600" dirty="0">
              <a:latin typeface="Tahoma"/>
              <a:cs typeface="Tahoma"/>
            </a:endParaRPr>
          </a:p>
        </p:txBody>
      </p:sp>
      <p:sp>
        <p:nvSpPr>
          <p:cNvPr id="4" name="object 4"/>
          <p:cNvSpPr txBox="1">
            <a:spLocks noGrp="1"/>
          </p:cNvSpPr>
          <p:nvPr>
            <p:ph type="title"/>
          </p:nvPr>
        </p:nvSpPr>
        <p:spPr>
          <a:xfrm>
            <a:off x="6445249" y="434975"/>
            <a:ext cx="6820534" cy="451086"/>
          </a:xfrm>
          <a:prstGeom prst="rect">
            <a:avLst/>
          </a:prstGeom>
        </p:spPr>
        <p:txBody>
          <a:bodyPr vert="horz" wrap="square" lIns="0" tIns="107950" rIns="0" bIns="0" rtlCol="0">
            <a:spAutoFit/>
          </a:bodyPr>
          <a:lstStyle/>
          <a:p>
            <a:pPr marL="12700">
              <a:lnSpc>
                <a:spcPts val="2865"/>
              </a:lnSpc>
              <a:spcBef>
                <a:spcPts val="100"/>
              </a:spcBef>
            </a:pPr>
            <a:r>
              <a:rPr lang="en-US" spc="75" dirty="0"/>
              <a:t>Distribution of Members and Casuals</a:t>
            </a:r>
            <a:endParaRPr spc="75" dirty="0"/>
          </a:p>
        </p:txBody>
      </p:sp>
      <p:sp>
        <p:nvSpPr>
          <p:cNvPr id="5" name="object 5"/>
          <p:cNvSpPr/>
          <p:nvPr/>
        </p:nvSpPr>
        <p:spPr>
          <a:xfrm>
            <a:off x="8863010" y="1652587"/>
            <a:ext cx="885825" cy="238125"/>
          </a:xfrm>
          <a:custGeom>
            <a:avLst/>
            <a:gdLst/>
            <a:ahLst/>
            <a:cxnLst/>
            <a:rect l="l" t="t" r="r" b="b"/>
            <a:pathLst>
              <a:path w="885825" h="238125">
                <a:moveTo>
                  <a:pt x="0" y="119062"/>
                </a:moveTo>
                <a:lnTo>
                  <a:pt x="6070" y="80721"/>
                </a:lnTo>
                <a:lnTo>
                  <a:pt x="9062" y="73498"/>
                </a:lnTo>
                <a:lnTo>
                  <a:pt x="12054" y="66276"/>
                </a:lnTo>
                <a:lnTo>
                  <a:pt x="15721" y="59414"/>
                </a:lnTo>
                <a:lnTo>
                  <a:pt x="20065" y="52914"/>
                </a:lnTo>
                <a:lnTo>
                  <a:pt x="24408" y="46414"/>
                </a:lnTo>
                <a:lnTo>
                  <a:pt x="29344" y="40400"/>
                </a:lnTo>
                <a:lnTo>
                  <a:pt x="34872" y="34872"/>
                </a:lnTo>
                <a:lnTo>
                  <a:pt x="40400" y="29344"/>
                </a:lnTo>
                <a:lnTo>
                  <a:pt x="46413" y="24408"/>
                </a:lnTo>
                <a:lnTo>
                  <a:pt x="52914" y="20065"/>
                </a:lnTo>
                <a:lnTo>
                  <a:pt x="59414" y="15722"/>
                </a:lnTo>
                <a:lnTo>
                  <a:pt x="66275" y="12054"/>
                </a:lnTo>
                <a:lnTo>
                  <a:pt x="73498" y="9062"/>
                </a:lnTo>
                <a:lnTo>
                  <a:pt x="80721" y="6071"/>
                </a:lnTo>
                <a:lnTo>
                  <a:pt x="88167" y="3812"/>
                </a:lnTo>
                <a:lnTo>
                  <a:pt x="95834" y="2287"/>
                </a:lnTo>
                <a:lnTo>
                  <a:pt x="103502" y="762"/>
                </a:lnTo>
                <a:lnTo>
                  <a:pt x="111245" y="0"/>
                </a:lnTo>
                <a:lnTo>
                  <a:pt x="119063" y="0"/>
                </a:lnTo>
                <a:lnTo>
                  <a:pt x="766762" y="0"/>
                </a:lnTo>
                <a:lnTo>
                  <a:pt x="774580" y="0"/>
                </a:lnTo>
                <a:lnTo>
                  <a:pt x="782322" y="762"/>
                </a:lnTo>
                <a:lnTo>
                  <a:pt x="819548" y="12054"/>
                </a:lnTo>
                <a:lnTo>
                  <a:pt x="832909" y="20065"/>
                </a:lnTo>
                <a:lnTo>
                  <a:pt x="839409" y="24408"/>
                </a:lnTo>
                <a:lnTo>
                  <a:pt x="865758" y="52914"/>
                </a:lnTo>
                <a:lnTo>
                  <a:pt x="870101" y="59414"/>
                </a:lnTo>
                <a:lnTo>
                  <a:pt x="873769" y="66276"/>
                </a:lnTo>
                <a:lnTo>
                  <a:pt x="876760" y="73498"/>
                </a:lnTo>
                <a:lnTo>
                  <a:pt x="879753" y="80721"/>
                </a:lnTo>
                <a:lnTo>
                  <a:pt x="882011" y="88166"/>
                </a:lnTo>
                <a:lnTo>
                  <a:pt x="883537" y="95834"/>
                </a:lnTo>
                <a:lnTo>
                  <a:pt x="885062" y="103501"/>
                </a:lnTo>
                <a:lnTo>
                  <a:pt x="885825" y="111244"/>
                </a:lnTo>
                <a:lnTo>
                  <a:pt x="885825" y="119062"/>
                </a:lnTo>
                <a:lnTo>
                  <a:pt x="885825" y="126880"/>
                </a:lnTo>
                <a:lnTo>
                  <a:pt x="876760" y="164625"/>
                </a:lnTo>
                <a:lnTo>
                  <a:pt x="873769" y="171848"/>
                </a:lnTo>
                <a:lnTo>
                  <a:pt x="850952" y="203252"/>
                </a:lnTo>
                <a:lnTo>
                  <a:pt x="819548" y="226069"/>
                </a:lnTo>
                <a:lnTo>
                  <a:pt x="782322" y="237362"/>
                </a:lnTo>
                <a:lnTo>
                  <a:pt x="766762" y="238124"/>
                </a:lnTo>
                <a:lnTo>
                  <a:pt x="119063" y="238124"/>
                </a:lnTo>
                <a:lnTo>
                  <a:pt x="80721" y="232053"/>
                </a:lnTo>
                <a:lnTo>
                  <a:pt x="73498" y="229061"/>
                </a:lnTo>
                <a:lnTo>
                  <a:pt x="66275" y="226069"/>
                </a:lnTo>
                <a:lnTo>
                  <a:pt x="59414" y="222402"/>
                </a:lnTo>
                <a:lnTo>
                  <a:pt x="52914" y="218058"/>
                </a:lnTo>
                <a:lnTo>
                  <a:pt x="46413" y="213715"/>
                </a:lnTo>
                <a:lnTo>
                  <a:pt x="40400" y="208780"/>
                </a:lnTo>
                <a:lnTo>
                  <a:pt x="34872" y="203252"/>
                </a:lnTo>
                <a:lnTo>
                  <a:pt x="29344" y="197724"/>
                </a:lnTo>
                <a:lnTo>
                  <a:pt x="24408" y="191710"/>
                </a:lnTo>
                <a:lnTo>
                  <a:pt x="20065" y="185209"/>
                </a:lnTo>
                <a:lnTo>
                  <a:pt x="15721" y="178709"/>
                </a:lnTo>
                <a:lnTo>
                  <a:pt x="12054" y="171848"/>
                </a:lnTo>
                <a:lnTo>
                  <a:pt x="9062" y="164625"/>
                </a:lnTo>
                <a:lnTo>
                  <a:pt x="6070" y="157402"/>
                </a:lnTo>
                <a:lnTo>
                  <a:pt x="3812" y="149957"/>
                </a:lnTo>
                <a:lnTo>
                  <a:pt x="2288"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6" name="object 6"/>
          <p:cNvSpPr txBox="1"/>
          <p:nvPr/>
        </p:nvSpPr>
        <p:spPr>
          <a:xfrm>
            <a:off x="9121179" y="1659370"/>
            <a:ext cx="540385"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Trebuchet MS"/>
                <a:cs typeface="Trebuchet MS"/>
              </a:rPr>
              <a:t>M</a:t>
            </a:r>
            <a:r>
              <a:rPr sz="1000" spc="-10" dirty="0">
                <a:solidFill>
                  <a:srgbClr val="FFFFFF"/>
                </a:solidFill>
                <a:latin typeface="Trebuchet MS"/>
                <a:cs typeface="Trebuchet MS"/>
              </a:rPr>
              <a:t>embe</a:t>
            </a:r>
            <a:r>
              <a:rPr sz="1050" spc="-10" dirty="0">
                <a:solidFill>
                  <a:srgbClr val="FFFFFF"/>
                </a:solidFill>
                <a:latin typeface="Trebuchet MS"/>
                <a:cs typeface="Trebuchet MS"/>
              </a:rPr>
              <a:t>rs</a:t>
            </a:r>
            <a:endParaRPr sz="1050">
              <a:latin typeface="Trebuchet MS"/>
              <a:cs typeface="Trebuchet MS"/>
            </a:endParaRPr>
          </a:p>
        </p:txBody>
      </p:sp>
      <p:sp>
        <p:nvSpPr>
          <p:cNvPr id="7" name="object 7"/>
          <p:cNvSpPr/>
          <p:nvPr/>
        </p:nvSpPr>
        <p:spPr>
          <a:xfrm>
            <a:off x="9853610" y="1652587"/>
            <a:ext cx="1009650" cy="238125"/>
          </a:xfrm>
          <a:custGeom>
            <a:avLst/>
            <a:gdLst/>
            <a:ahLst/>
            <a:cxnLst/>
            <a:rect l="l" t="t" r="r" b="b"/>
            <a:pathLst>
              <a:path w="1009650" h="238125">
                <a:moveTo>
                  <a:pt x="0" y="119062"/>
                </a:moveTo>
                <a:lnTo>
                  <a:pt x="0" y="111244"/>
                </a:lnTo>
                <a:lnTo>
                  <a:pt x="762" y="103501"/>
                </a:lnTo>
                <a:lnTo>
                  <a:pt x="2287" y="95834"/>
                </a:lnTo>
                <a:lnTo>
                  <a:pt x="3811" y="88166"/>
                </a:lnTo>
                <a:lnTo>
                  <a:pt x="6070" y="80721"/>
                </a:lnTo>
                <a:lnTo>
                  <a:pt x="9062" y="73498"/>
                </a:lnTo>
                <a:lnTo>
                  <a:pt x="12053" y="66276"/>
                </a:lnTo>
                <a:lnTo>
                  <a:pt x="34872" y="34872"/>
                </a:lnTo>
                <a:lnTo>
                  <a:pt x="40399" y="29344"/>
                </a:lnTo>
                <a:lnTo>
                  <a:pt x="46413" y="24408"/>
                </a:lnTo>
                <a:lnTo>
                  <a:pt x="52914" y="20065"/>
                </a:lnTo>
                <a:lnTo>
                  <a:pt x="59413" y="15722"/>
                </a:lnTo>
                <a:lnTo>
                  <a:pt x="95833" y="2287"/>
                </a:lnTo>
                <a:lnTo>
                  <a:pt x="111244" y="0"/>
                </a:lnTo>
                <a:lnTo>
                  <a:pt x="119062" y="0"/>
                </a:lnTo>
                <a:lnTo>
                  <a:pt x="890587" y="0"/>
                </a:lnTo>
                <a:lnTo>
                  <a:pt x="898404" y="0"/>
                </a:lnTo>
                <a:lnTo>
                  <a:pt x="906146" y="762"/>
                </a:lnTo>
                <a:lnTo>
                  <a:pt x="943371" y="12054"/>
                </a:lnTo>
                <a:lnTo>
                  <a:pt x="974776" y="34872"/>
                </a:lnTo>
                <a:lnTo>
                  <a:pt x="980305" y="40400"/>
                </a:lnTo>
                <a:lnTo>
                  <a:pt x="985239" y="46414"/>
                </a:lnTo>
                <a:lnTo>
                  <a:pt x="989582" y="52914"/>
                </a:lnTo>
                <a:lnTo>
                  <a:pt x="993926" y="59414"/>
                </a:lnTo>
                <a:lnTo>
                  <a:pt x="1007361" y="95834"/>
                </a:lnTo>
                <a:lnTo>
                  <a:pt x="1009649" y="119062"/>
                </a:lnTo>
                <a:lnTo>
                  <a:pt x="1009648" y="126880"/>
                </a:lnTo>
                <a:lnTo>
                  <a:pt x="1000585" y="164625"/>
                </a:lnTo>
                <a:lnTo>
                  <a:pt x="989582" y="185209"/>
                </a:lnTo>
                <a:lnTo>
                  <a:pt x="985239" y="191710"/>
                </a:lnTo>
                <a:lnTo>
                  <a:pt x="956734" y="218059"/>
                </a:lnTo>
                <a:lnTo>
                  <a:pt x="921482" y="234311"/>
                </a:lnTo>
                <a:lnTo>
                  <a:pt x="890587" y="238124"/>
                </a:lnTo>
                <a:lnTo>
                  <a:pt x="119062" y="238124"/>
                </a:lnTo>
                <a:lnTo>
                  <a:pt x="80720" y="232053"/>
                </a:lnTo>
                <a:lnTo>
                  <a:pt x="52914" y="218058"/>
                </a:lnTo>
                <a:lnTo>
                  <a:pt x="46413" y="213715"/>
                </a:lnTo>
                <a:lnTo>
                  <a:pt x="40399" y="208780"/>
                </a:lnTo>
                <a:lnTo>
                  <a:pt x="34872" y="203252"/>
                </a:lnTo>
                <a:lnTo>
                  <a:pt x="29343" y="197724"/>
                </a:lnTo>
                <a:lnTo>
                  <a:pt x="9062" y="164625"/>
                </a:lnTo>
                <a:lnTo>
                  <a:pt x="6070" y="157402"/>
                </a:lnTo>
                <a:lnTo>
                  <a:pt x="3811" y="149957"/>
                </a:lnTo>
                <a:lnTo>
                  <a:pt x="2285" y="142290"/>
                </a:lnTo>
                <a:lnTo>
                  <a:pt x="761" y="134622"/>
                </a:lnTo>
                <a:lnTo>
                  <a:pt x="0" y="126880"/>
                </a:lnTo>
                <a:lnTo>
                  <a:pt x="0" y="119062"/>
                </a:lnTo>
              </a:path>
            </a:pathLst>
          </a:custGeom>
          <a:ln w="9524">
            <a:solidFill>
              <a:srgbClr val="FAFAFA"/>
            </a:solidFill>
          </a:ln>
        </p:spPr>
        <p:txBody>
          <a:bodyPr wrap="square" lIns="0" tIns="0" rIns="0" bIns="0" rtlCol="0"/>
          <a:lstStyle/>
          <a:p>
            <a:endParaRPr/>
          </a:p>
        </p:txBody>
      </p:sp>
      <p:sp>
        <p:nvSpPr>
          <p:cNvPr id="8" name="object 8"/>
          <p:cNvSpPr txBox="1"/>
          <p:nvPr/>
        </p:nvSpPr>
        <p:spPr>
          <a:xfrm>
            <a:off x="10112076" y="1659370"/>
            <a:ext cx="664845" cy="191135"/>
          </a:xfrm>
          <a:prstGeom prst="rect">
            <a:avLst/>
          </a:prstGeom>
        </p:spPr>
        <p:txBody>
          <a:bodyPr vert="horz" wrap="square" lIns="0" tIns="17145" rIns="0" bIns="0" rtlCol="0">
            <a:spAutoFit/>
          </a:bodyPr>
          <a:lstStyle/>
          <a:p>
            <a:pPr marL="12700">
              <a:lnSpc>
                <a:spcPct val="100000"/>
              </a:lnSpc>
              <a:spcBef>
                <a:spcPts val="135"/>
              </a:spcBef>
            </a:pPr>
            <a:r>
              <a:rPr sz="950" dirty="0">
                <a:solidFill>
                  <a:srgbClr val="FFFFFF"/>
                </a:solidFill>
                <a:latin typeface="Segoe UI Symbol"/>
                <a:cs typeface="Segoe UI Symbol"/>
              </a:rPr>
              <a:t>C</a:t>
            </a:r>
            <a:r>
              <a:rPr sz="950" dirty="0">
                <a:solidFill>
                  <a:srgbClr val="FFFFFF"/>
                </a:solidFill>
                <a:latin typeface="Trebuchet MS"/>
                <a:cs typeface="Trebuchet MS"/>
              </a:rPr>
              <a:t>a</a:t>
            </a:r>
            <a:r>
              <a:rPr sz="1050" dirty="0">
                <a:solidFill>
                  <a:srgbClr val="FFFFFF"/>
                </a:solidFill>
                <a:latin typeface="Trebuchet MS"/>
                <a:cs typeface="Trebuchet MS"/>
              </a:rPr>
              <a:t>su</a:t>
            </a:r>
            <a:r>
              <a:rPr sz="950" dirty="0">
                <a:solidFill>
                  <a:srgbClr val="FFFFFF"/>
                </a:solidFill>
                <a:latin typeface="Trebuchet MS"/>
                <a:cs typeface="Trebuchet MS"/>
              </a:rPr>
              <a:t>a</a:t>
            </a:r>
            <a:r>
              <a:rPr sz="1000" dirty="0">
                <a:solidFill>
                  <a:srgbClr val="FFFFFF"/>
                </a:solidFill>
                <a:latin typeface="Trebuchet MS"/>
                <a:cs typeface="Trebuchet MS"/>
              </a:rPr>
              <a:t>l</a:t>
            </a:r>
            <a:r>
              <a:rPr sz="1000" spc="-30" dirty="0">
                <a:solidFill>
                  <a:srgbClr val="FFFFFF"/>
                </a:solidFill>
                <a:latin typeface="Trebuchet MS"/>
                <a:cs typeface="Trebuchet MS"/>
              </a:rPr>
              <a:t> </a:t>
            </a:r>
            <a:r>
              <a:rPr sz="1050" spc="-35" dirty="0">
                <a:solidFill>
                  <a:srgbClr val="FFFFFF"/>
                </a:solidFill>
                <a:latin typeface="Trebuchet MS"/>
                <a:cs typeface="Trebuchet MS"/>
              </a:rPr>
              <a:t>r</a:t>
            </a:r>
            <a:r>
              <a:rPr sz="1000" spc="-35" dirty="0">
                <a:solidFill>
                  <a:srgbClr val="FFFFFF"/>
                </a:solidFill>
                <a:latin typeface="Trebuchet MS"/>
                <a:cs typeface="Trebuchet MS"/>
              </a:rPr>
              <a:t>id</a:t>
            </a:r>
            <a:r>
              <a:rPr sz="1050" spc="-35" dirty="0">
                <a:solidFill>
                  <a:srgbClr val="FFFFFF"/>
                </a:solidFill>
                <a:latin typeface="Trebuchet MS"/>
                <a:cs typeface="Trebuchet MS"/>
              </a:rPr>
              <a:t>…</a:t>
            </a:r>
            <a:endParaRPr sz="1050">
              <a:latin typeface="Trebuchet MS"/>
              <a:cs typeface="Trebuchet MS"/>
            </a:endParaRPr>
          </a:p>
        </p:txBody>
      </p:sp>
      <p:grpSp>
        <p:nvGrpSpPr>
          <p:cNvPr id="9" name="object 9"/>
          <p:cNvGrpSpPr/>
          <p:nvPr/>
        </p:nvGrpSpPr>
        <p:grpSpPr>
          <a:xfrm>
            <a:off x="7524763" y="2362200"/>
            <a:ext cx="4676775" cy="4676775"/>
            <a:chOff x="7524763" y="2362200"/>
            <a:chExt cx="4676775" cy="4676775"/>
          </a:xfrm>
        </p:grpSpPr>
        <p:sp>
          <p:nvSpPr>
            <p:cNvPr id="10" name="object 10"/>
            <p:cNvSpPr/>
            <p:nvPr/>
          </p:nvSpPr>
          <p:spPr>
            <a:xfrm>
              <a:off x="8013650" y="2362200"/>
              <a:ext cx="4188460" cy="4676775"/>
            </a:xfrm>
            <a:custGeom>
              <a:avLst/>
              <a:gdLst/>
              <a:ahLst/>
              <a:cxnLst/>
              <a:rect l="l" t="t" r="r" b="b"/>
              <a:pathLst>
                <a:path w="4188459" h="4676775">
                  <a:moveTo>
                    <a:pt x="1863858" y="4676730"/>
                  </a:moveTo>
                  <a:lnTo>
                    <a:pt x="1789805" y="4676012"/>
                  </a:lnTo>
                  <a:lnTo>
                    <a:pt x="1715812" y="4672950"/>
                  </a:lnTo>
                  <a:lnTo>
                    <a:pt x="1641953" y="4667546"/>
                  </a:lnTo>
                  <a:lnTo>
                    <a:pt x="1568302" y="4659807"/>
                  </a:lnTo>
                  <a:lnTo>
                    <a:pt x="1494934" y="4649739"/>
                  </a:lnTo>
                  <a:lnTo>
                    <a:pt x="1421920" y="4637352"/>
                  </a:lnTo>
                  <a:lnTo>
                    <a:pt x="1349336" y="4622660"/>
                  </a:lnTo>
                  <a:lnTo>
                    <a:pt x="1277253" y="4605677"/>
                  </a:lnTo>
                  <a:lnTo>
                    <a:pt x="1205745" y="4586419"/>
                  </a:lnTo>
                  <a:lnTo>
                    <a:pt x="1134882" y="4564907"/>
                  </a:lnTo>
                  <a:lnTo>
                    <a:pt x="1064735" y="4541162"/>
                  </a:lnTo>
                  <a:lnTo>
                    <a:pt x="995376" y="4515208"/>
                  </a:lnTo>
                  <a:lnTo>
                    <a:pt x="926873" y="4487070"/>
                  </a:lnTo>
                  <a:lnTo>
                    <a:pt x="859296" y="4456777"/>
                  </a:lnTo>
                  <a:lnTo>
                    <a:pt x="792712" y="4424359"/>
                  </a:lnTo>
                  <a:lnTo>
                    <a:pt x="727188" y="4389849"/>
                  </a:lnTo>
                  <a:lnTo>
                    <a:pt x="662789" y="4353282"/>
                  </a:lnTo>
                  <a:lnTo>
                    <a:pt x="599581" y="4314694"/>
                  </a:lnTo>
                  <a:lnTo>
                    <a:pt x="537626" y="4274123"/>
                  </a:lnTo>
                  <a:lnTo>
                    <a:pt x="476987" y="4231611"/>
                  </a:lnTo>
                  <a:lnTo>
                    <a:pt x="417725" y="4187200"/>
                  </a:lnTo>
                  <a:lnTo>
                    <a:pt x="359899" y="4140935"/>
                  </a:lnTo>
                  <a:lnTo>
                    <a:pt x="303567" y="4092862"/>
                  </a:lnTo>
                  <a:lnTo>
                    <a:pt x="248785" y="4043029"/>
                  </a:lnTo>
                  <a:lnTo>
                    <a:pt x="195609" y="3991486"/>
                  </a:lnTo>
                  <a:lnTo>
                    <a:pt x="144091" y="3938286"/>
                  </a:lnTo>
                  <a:lnTo>
                    <a:pt x="94284" y="3883481"/>
                  </a:lnTo>
                  <a:lnTo>
                    <a:pt x="46237" y="3827126"/>
                  </a:lnTo>
                  <a:lnTo>
                    <a:pt x="0" y="3769278"/>
                  </a:lnTo>
                  <a:lnTo>
                    <a:pt x="1849487" y="2338387"/>
                  </a:lnTo>
                  <a:lnTo>
                    <a:pt x="1849487" y="0"/>
                  </a:lnTo>
                  <a:lnTo>
                    <a:pt x="1923534" y="1172"/>
                  </a:lnTo>
                  <a:lnTo>
                    <a:pt x="1997507" y="4689"/>
                  </a:lnTo>
                  <a:lnTo>
                    <a:pt x="2071332" y="10546"/>
                  </a:lnTo>
                  <a:lnTo>
                    <a:pt x="2144934" y="18739"/>
                  </a:lnTo>
                  <a:lnTo>
                    <a:pt x="2218239" y="29258"/>
                  </a:lnTo>
                  <a:lnTo>
                    <a:pt x="2291175" y="42093"/>
                  </a:lnTo>
                  <a:lnTo>
                    <a:pt x="2363668" y="57230"/>
                  </a:lnTo>
                  <a:lnTo>
                    <a:pt x="2435644" y="74657"/>
                  </a:lnTo>
                  <a:lnTo>
                    <a:pt x="2507034" y="94353"/>
                  </a:lnTo>
                  <a:lnTo>
                    <a:pt x="2577763" y="116300"/>
                  </a:lnTo>
                  <a:lnTo>
                    <a:pt x="2647762" y="140476"/>
                  </a:lnTo>
                  <a:lnTo>
                    <a:pt x="2716961" y="166857"/>
                  </a:lnTo>
                  <a:lnTo>
                    <a:pt x="2785289" y="195415"/>
                  </a:lnTo>
                  <a:lnTo>
                    <a:pt x="2852679" y="226122"/>
                  </a:lnTo>
                  <a:lnTo>
                    <a:pt x="2919063" y="258948"/>
                  </a:lnTo>
                  <a:lnTo>
                    <a:pt x="2984374" y="293860"/>
                  </a:lnTo>
                  <a:lnTo>
                    <a:pt x="3048546" y="330823"/>
                  </a:lnTo>
                  <a:lnTo>
                    <a:pt x="3111516" y="369799"/>
                  </a:lnTo>
                  <a:lnTo>
                    <a:pt x="3173220" y="410749"/>
                  </a:lnTo>
                  <a:lnTo>
                    <a:pt x="3233597" y="453634"/>
                  </a:lnTo>
                  <a:lnTo>
                    <a:pt x="3292585" y="498407"/>
                  </a:lnTo>
                  <a:lnTo>
                    <a:pt x="3350126" y="545027"/>
                  </a:lnTo>
                  <a:lnTo>
                    <a:pt x="3406162" y="593445"/>
                  </a:lnTo>
                  <a:lnTo>
                    <a:pt x="3460636" y="643614"/>
                  </a:lnTo>
                  <a:lnTo>
                    <a:pt x="3513495" y="695482"/>
                  </a:lnTo>
                  <a:lnTo>
                    <a:pt x="3564684" y="748999"/>
                  </a:lnTo>
                  <a:lnTo>
                    <a:pt x="3614154" y="804109"/>
                  </a:lnTo>
                  <a:lnTo>
                    <a:pt x="3661853" y="860758"/>
                  </a:lnTo>
                  <a:lnTo>
                    <a:pt x="3707735" y="918889"/>
                  </a:lnTo>
                  <a:lnTo>
                    <a:pt x="3751752" y="978444"/>
                  </a:lnTo>
                  <a:lnTo>
                    <a:pt x="3793862" y="1039363"/>
                  </a:lnTo>
                  <a:lnTo>
                    <a:pt x="3834022" y="1101585"/>
                  </a:lnTo>
                  <a:lnTo>
                    <a:pt x="3872191" y="1165047"/>
                  </a:lnTo>
                  <a:lnTo>
                    <a:pt x="3908331" y="1229686"/>
                  </a:lnTo>
                  <a:lnTo>
                    <a:pt x="3942407" y="1295437"/>
                  </a:lnTo>
                  <a:lnTo>
                    <a:pt x="3974383" y="1362235"/>
                  </a:lnTo>
                  <a:lnTo>
                    <a:pt x="4004228" y="1430011"/>
                  </a:lnTo>
                  <a:lnTo>
                    <a:pt x="4031912" y="1498698"/>
                  </a:lnTo>
                  <a:lnTo>
                    <a:pt x="4057407" y="1568228"/>
                  </a:lnTo>
                  <a:lnTo>
                    <a:pt x="4080688" y="1638530"/>
                  </a:lnTo>
                  <a:lnTo>
                    <a:pt x="4101730" y="1709533"/>
                  </a:lnTo>
                  <a:lnTo>
                    <a:pt x="4120514" y="1781168"/>
                  </a:lnTo>
                  <a:lnTo>
                    <a:pt x="4137020" y="1853362"/>
                  </a:lnTo>
                  <a:lnTo>
                    <a:pt x="4151231" y="1926042"/>
                  </a:lnTo>
                  <a:lnTo>
                    <a:pt x="4163135" y="1999135"/>
                  </a:lnTo>
                  <a:lnTo>
                    <a:pt x="4172717" y="2072569"/>
                  </a:lnTo>
                  <a:lnTo>
                    <a:pt x="4179969" y="2146269"/>
                  </a:lnTo>
                  <a:lnTo>
                    <a:pt x="4184884" y="2220163"/>
                  </a:lnTo>
                  <a:lnTo>
                    <a:pt x="4187457" y="2294174"/>
                  </a:lnTo>
                  <a:lnTo>
                    <a:pt x="4187864" y="2331197"/>
                  </a:lnTo>
                  <a:lnTo>
                    <a:pt x="4187684" y="2368230"/>
                  </a:lnTo>
                  <a:lnTo>
                    <a:pt x="4185567" y="2442256"/>
                  </a:lnTo>
                  <a:lnTo>
                    <a:pt x="4181106" y="2516178"/>
                  </a:lnTo>
                  <a:lnTo>
                    <a:pt x="4174307" y="2589922"/>
                  </a:lnTo>
                  <a:lnTo>
                    <a:pt x="4165175" y="2663413"/>
                  </a:lnTo>
                  <a:lnTo>
                    <a:pt x="4153722" y="2736579"/>
                  </a:lnTo>
                  <a:lnTo>
                    <a:pt x="4139957" y="2809345"/>
                  </a:lnTo>
                  <a:lnTo>
                    <a:pt x="4123896" y="2881638"/>
                  </a:lnTo>
                  <a:lnTo>
                    <a:pt x="4105552" y="2953387"/>
                  </a:lnTo>
                  <a:lnTo>
                    <a:pt x="4084946" y="3024519"/>
                  </a:lnTo>
                  <a:lnTo>
                    <a:pt x="4062098" y="3094962"/>
                  </a:lnTo>
                  <a:lnTo>
                    <a:pt x="4037031" y="3164647"/>
                  </a:lnTo>
                  <a:lnTo>
                    <a:pt x="4009770" y="3233503"/>
                  </a:lnTo>
                  <a:lnTo>
                    <a:pt x="3980342" y="3301462"/>
                  </a:lnTo>
                  <a:lnTo>
                    <a:pt x="3948777" y="3368454"/>
                  </a:lnTo>
                  <a:lnTo>
                    <a:pt x="3915106" y="3434414"/>
                  </a:lnTo>
                  <a:lnTo>
                    <a:pt x="3879363" y="3499273"/>
                  </a:lnTo>
                  <a:lnTo>
                    <a:pt x="3841585" y="3562969"/>
                  </a:lnTo>
                  <a:lnTo>
                    <a:pt x="3801808" y="3625436"/>
                  </a:lnTo>
                  <a:lnTo>
                    <a:pt x="3760074" y="3686613"/>
                  </a:lnTo>
                  <a:lnTo>
                    <a:pt x="3716423" y="3746437"/>
                  </a:lnTo>
                  <a:lnTo>
                    <a:pt x="3670899" y="3804850"/>
                  </a:lnTo>
                  <a:lnTo>
                    <a:pt x="3623549" y="3861791"/>
                  </a:lnTo>
                  <a:lnTo>
                    <a:pt x="3574420" y="3917204"/>
                  </a:lnTo>
                  <a:lnTo>
                    <a:pt x="3523560" y="3971033"/>
                  </a:lnTo>
                  <a:lnTo>
                    <a:pt x="3471021" y="4023226"/>
                  </a:lnTo>
                  <a:lnTo>
                    <a:pt x="3416856" y="4073728"/>
                  </a:lnTo>
                  <a:lnTo>
                    <a:pt x="3361119" y="4122490"/>
                  </a:lnTo>
                  <a:lnTo>
                    <a:pt x="3303866" y="4169463"/>
                  </a:lnTo>
                  <a:lnTo>
                    <a:pt x="3245154" y="4214599"/>
                  </a:lnTo>
                  <a:lnTo>
                    <a:pt x="3185042" y="4257853"/>
                  </a:lnTo>
                  <a:lnTo>
                    <a:pt x="3123590" y="4299182"/>
                  </a:lnTo>
                  <a:lnTo>
                    <a:pt x="3060861" y="4338544"/>
                  </a:lnTo>
                  <a:lnTo>
                    <a:pt x="2996917" y="4375900"/>
                  </a:lnTo>
                  <a:lnTo>
                    <a:pt x="2931822" y="4411212"/>
                  </a:lnTo>
                  <a:lnTo>
                    <a:pt x="2865641" y="4444446"/>
                  </a:lnTo>
                  <a:lnTo>
                    <a:pt x="2798441" y="4475567"/>
                  </a:lnTo>
                  <a:lnTo>
                    <a:pt x="2730290" y="4504545"/>
                  </a:lnTo>
                  <a:lnTo>
                    <a:pt x="2661255" y="4531350"/>
                  </a:lnTo>
                  <a:lnTo>
                    <a:pt x="2591405" y="4555956"/>
                  </a:lnTo>
                  <a:lnTo>
                    <a:pt x="2520812" y="4578337"/>
                  </a:lnTo>
                  <a:lnTo>
                    <a:pt x="2449545" y="4598472"/>
                  </a:lnTo>
                  <a:lnTo>
                    <a:pt x="2377677" y="4616340"/>
                  </a:lnTo>
                  <a:lnTo>
                    <a:pt x="2305279" y="4631923"/>
                  </a:lnTo>
                  <a:lnTo>
                    <a:pt x="2232423" y="4645206"/>
                  </a:lnTo>
                  <a:lnTo>
                    <a:pt x="2159184" y="4656176"/>
                  </a:lnTo>
                  <a:lnTo>
                    <a:pt x="2085634" y="4664820"/>
                  </a:lnTo>
                  <a:lnTo>
                    <a:pt x="2011847" y="4671131"/>
                  </a:lnTo>
                  <a:lnTo>
                    <a:pt x="1937897" y="4675102"/>
                  </a:lnTo>
                  <a:lnTo>
                    <a:pt x="1900879" y="4676209"/>
                  </a:lnTo>
                  <a:lnTo>
                    <a:pt x="1863858" y="4676730"/>
                  </a:lnTo>
                  <a:close/>
                </a:path>
              </a:pathLst>
            </a:custGeom>
            <a:solidFill>
              <a:srgbClr val="5C5EEF"/>
            </a:solidFill>
          </p:spPr>
          <p:txBody>
            <a:bodyPr wrap="square" lIns="0" tIns="0" rIns="0" bIns="0" rtlCol="0"/>
            <a:lstStyle/>
            <a:p>
              <a:endParaRPr/>
            </a:p>
          </p:txBody>
        </p:sp>
        <p:sp>
          <p:nvSpPr>
            <p:cNvPr id="11" name="object 11"/>
            <p:cNvSpPr/>
            <p:nvPr/>
          </p:nvSpPr>
          <p:spPr>
            <a:xfrm>
              <a:off x="7524763" y="2362200"/>
              <a:ext cx="2338705" cy="3769360"/>
            </a:xfrm>
            <a:custGeom>
              <a:avLst/>
              <a:gdLst/>
              <a:ahLst/>
              <a:cxnLst/>
              <a:rect l="l" t="t" r="r" b="b"/>
              <a:pathLst>
                <a:path w="2338704" h="3769360">
                  <a:moveTo>
                    <a:pt x="488886" y="3769278"/>
                  </a:moveTo>
                  <a:lnTo>
                    <a:pt x="464243" y="3736846"/>
                  </a:lnTo>
                  <a:lnTo>
                    <a:pt x="440176" y="3704001"/>
                  </a:lnTo>
                  <a:lnTo>
                    <a:pt x="416685" y="3670741"/>
                  </a:lnTo>
                  <a:lnTo>
                    <a:pt x="393770" y="3637067"/>
                  </a:lnTo>
                  <a:lnTo>
                    <a:pt x="371444" y="3602999"/>
                  </a:lnTo>
                  <a:lnTo>
                    <a:pt x="349722" y="3568558"/>
                  </a:lnTo>
                  <a:lnTo>
                    <a:pt x="328603" y="3533743"/>
                  </a:lnTo>
                  <a:lnTo>
                    <a:pt x="308088" y="3498556"/>
                  </a:lnTo>
                  <a:lnTo>
                    <a:pt x="288188" y="3463016"/>
                  </a:lnTo>
                  <a:lnTo>
                    <a:pt x="268915" y="3427147"/>
                  </a:lnTo>
                  <a:lnTo>
                    <a:pt x="250271" y="3390947"/>
                  </a:lnTo>
                  <a:lnTo>
                    <a:pt x="232255" y="3354417"/>
                  </a:lnTo>
                  <a:lnTo>
                    <a:pt x="214877" y="3317578"/>
                  </a:lnTo>
                  <a:lnTo>
                    <a:pt x="198148" y="3280454"/>
                  </a:lnTo>
                  <a:lnTo>
                    <a:pt x="182069" y="3243044"/>
                  </a:lnTo>
                  <a:lnTo>
                    <a:pt x="166639" y="3205348"/>
                  </a:lnTo>
                  <a:lnTo>
                    <a:pt x="151867" y="3167390"/>
                  </a:lnTo>
                  <a:lnTo>
                    <a:pt x="137764" y="3129191"/>
                  </a:lnTo>
                  <a:lnTo>
                    <a:pt x="124327" y="3090753"/>
                  </a:lnTo>
                  <a:lnTo>
                    <a:pt x="111559" y="3052074"/>
                  </a:lnTo>
                  <a:lnTo>
                    <a:pt x="99465" y="3013179"/>
                  </a:lnTo>
                  <a:lnTo>
                    <a:pt x="88055" y="2974092"/>
                  </a:lnTo>
                  <a:lnTo>
                    <a:pt x="77327" y="2934811"/>
                  </a:lnTo>
                  <a:lnTo>
                    <a:pt x="67282" y="2895338"/>
                  </a:lnTo>
                  <a:lnTo>
                    <a:pt x="57925" y="2855695"/>
                  </a:lnTo>
                  <a:lnTo>
                    <a:pt x="49263" y="2815908"/>
                  </a:lnTo>
                  <a:lnTo>
                    <a:pt x="41295" y="2775976"/>
                  </a:lnTo>
                  <a:lnTo>
                    <a:pt x="34022" y="2735899"/>
                  </a:lnTo>
                  <a:lnTo>
                    <a:pt x="27447" y="2695702"/>
                  </a:lnTo>
                  <a:lnTo>
                    <a:pt x="21576" y="2655408"/>
                  </a:lnTo>
                  <a:lnTo>
                    <a:pt x="16407" y="2615019"/>
                  </a:lnTo>
                  <a:lnTo>
                    <a:pt x="11941" y="2574533"/>
                  </a:lnTo>
                  <a:lnTo>
                    <a:pt x="8181" y="2533975"/>
                  </a:lnTo>
                  <a:lnTo>
                    <a:pt x="5128" y="2493371"/>
                  </a:lnTo>
                  <a:lnTo>
                    <a:pt x="2783" y="2452719"/>
                  </a:lnTo>
                  <a:lnTo>
                    <a:pt x="1147" y="2412020"/>
                  </a:lnTo>
                  <a:lnTo>
                    <a:pt x="218" y="2371299"/>
                  </a:lnTo>
                  <a:lnTo>
                    <a:pt x="0" y="2330581"/>
                  </a:lnTo>
                  <a:lnTo>
                    <a:pt x="490" y="2289865"/>
                  </a:lnTo>
                  <a:lnTo>
                    <a:pt x="1690" y="2249151"/>
                  </a:lnTo>
                  <a:lnTo>
                    <a:pt x="3599" y="2208464"/>
                  </a:lnTo>
                  <a:lnTo>
                    <a:pt x="6215" y="2167829"/>
                  </a:lnTo>
                  <a:lnTo>
                    <a:pt x="9538" y="2127246"/>
                  </a:lnTo>
                  <a:lnTo>
                    <a:pt x="13570" y="2086714"/>
                  </a:lnTo>
                  <a:lnTo>
                    <a:pt x="18306" y="2046259"/>
                  </a:lnTo>
                  <a:lnTo>
                    <a:pt x="23744" y="2005905"/>
                  </a:lnTo>
                  <a:lnTo>
                    <a:pt x="29884" y="1965651"/>
                  </a:lnTo>
                  <a:lnTo>
                    <a:pt x="36727" y="1925499"/>
                  </a:lnTo>
                  <a:lnTo>
                    <a:pt x="44268" y="1885471"/>
                  </a:lnTo>
                  <a:lnTo>
                    <a:pt x="52502" y="1845593"/>
                  </a:lnTo>
                  <a:lnTo>
                    <a:pt x="61429" y="1805865"/>
                  </a:lnTo>
                  <a:lnTo>
                    <a:pt x="71050" y="1766286"/>
                  </a:lnTo>
                  <a:lnTo>
                    <a:pt x="81359" y="1726881"/>
                  </a:lnTo>
                  <a:lnTo>
                    <a:pt x="92349" y="1687673"/>
                  </a:lnTo>
                  <a:lnTo>
                    <a:pt x="104020" y="1648662"/>
                  </a:lnTo>
                  <a:lnTo>
                    <a:pt x="116373" y="1609849"/>
                  </a:lnTo>
                  <a:lnTo>
                    <a:pt x="129400" y="1571256"/>
                  </a:lnTo>
                  <a:lnTo>
                    <a:pt x="143092" y="1532909"/>
                  </a:lnTo>
                  <a:lnTo>
                    <a:pt x="157451" y="1494805"/>
                  </a:lnTo>
                  <a:lnTo>
                    <a:pt x="172475" y="1456946"/>
                  </a:lnTo>
                  <a:lnTo>
                    <a:pt x="188157" y="1419354"/>
                  </a:lnTo>
                  <a:lnTo>
                    <a:pt x="204485" y="1382052"/>
                  </a:lnTo>
                  <a:lnTo>
                    <a:pt x="221461" y="1345040"/>
                  </a:lnTo>
                  <a:lnTo>
                    <a:pt x="239085" y="1308319"/>
                  </a:lnTo>
                  <a:lnTo>
                    <a:pt x="257345" y="1271910"/>
                  </a:lnTo>
                  <a:lnTo>
                    <a:pt x="276230" y="1235835"/>
                  </a:lnTo>
                  <a:lnTo>
                    <a:pt x="295742" y="1200095"/>
                  </a:lnTo>
                  <a:lnTo>
                    <a:pt x="315878" y="1164689"/>
                  </a:lnTo>
                  <a:lnTo>
                    <a:pt x="336628" y="1129639"/>
                  </a:lnTo>
                  <a:lnTo>
                    <a:pt x="357979" y="1094967"/>
                  </a:lnTo>
                  <a:lnTo>
                    <a:pt x="379931" y="1060671"/>
                  </a:lnTo>
                  <a:lnTo>
                    <a:pt x="402483" y="1026753"/>
                  </a:lnTo>
                  <a:lnTo>
                    <a:pt x="425623" y="993233"/>
                  </a:lnTo>
                  <a:lnTo>
                    <a:pt x="449335" y="960131"/>
                  </a:lnTo>
                  <a:lnTo>
                    <a:pt x="473621" y="927446"/>
                  </a:lnTo>
                  <a:lnTo>
                    <a:pt x="498480" y="895180"/>
                  </a:lnTo>
                  <a:lnTo>
                    <a:pt x="523897" y="863352"/>
                  </a:lnTo>
                  <a:lnTo>
                    <a:pt x="549856" y="831981"/>
                  </a:lnTo>
                  <a:lnTo>
                    <a:pt x="576358" y="801066"/>
                  </a:lnTo>
                  <a:lnTo>
                    <a:pt x="603402" y="770609"/>
                  </a:lnTo>
                  <a:lnTo>
                    <a:pt x="630973" y="740627"/>
                  </a:lnTo>
                  <a:lnTo>
                    <a:pt x="659053" y="711139"/>
                  </a:lnTo>
                  <a:lnTo>
                    <a:pt x="687642" y="682144"/>
                  </a:lnTo>
                  <a:lnTo>
                    <a:pt x="716741" y="653643"/>
                  </a:lnTo>
                  <a:lnTo>
                    <a:pt x="746332" y="625653"/>
                  </a:lnTo>
                  <a:lnTo>
                    <a:pt x="776396" y="598191"/>
                  </a:lnTo>
                  <a:lnTo>
                    <a:pt x="806934" y="571256"/>
                  </a:lnTo>
                  <a:lnTo>
                    <a:pt x="837947" y="544850"/>
                  </a:lnTo>
                  <a:lnTo>
                    <a:pt x="869414" y="518988"/>
                  </a:lnTo>
                  <a:lnTo>
                    <a:pt x="901317" y="493685"/>
                  </a:lnTo>
                  <a:lnTo>
                    <a:pt x="933656" y="468942"/>
                  </a:lnTo>
                  <a:lnTo>
                    <a:pt x="966432" y="444758"/>
                  </a:lnTo>
                  <a:lnTo>
                    <a:pt x="999623" y="421149"/>
                  </a:lnTo>
                  <a:lnTo>
                    <a:pt x="1033210" y="398128"/>
                  </a:lnTo>
                  <a:lnTo>
                    <a:pt x="1067193" y="375696"/>
                  </a:lnTo>
                  <a:lnTo>
                    <a:pt x="1101572" y="353853"/>
                  </a:lnTo>
                  <a:lnTo>
                    <a:pt x="1136326" y="332611"/>
                  </a:lnTo>
                  <a:lnTo>
                    <a:pt x="1171434" y="311984"/>
                  </a:lnTo>
                  <a:lnTo>
                    <a:pt x="1206896" y="291972"/>
                  </a:lnTo>
                  <a:lnTo>
                    <a:pt x="1242712" y="272575"/>
                  </a:lnTo>
                  <a:lnTo>
                    <a:pt x="1278861" y="253804"/>
                  </a:lnTo>
                  <a:lnTo>
                    <a:pt x="1315319" y="235670"/>
                  </a:lnTo>
                  <a:lnTo>
                    <a:pt x="1352089" y="218175"/>
                  </a:lnTo>
                  <a:lnTo>
                    <a:pt x="1389168" y="201318"/>
                  </a:lnTo>
                  <a:lnTo>
                    <a:pt x="1426535" y="185109"/>
                  </a:lnTo>
                  <a:lnTo>
                    <a:pt x="1464168" y="169557"/>
                  </a:lnTo>
                  <a:lnTo>
                    <a:pt x="1502066" y="154664"/>
                  </a:lnTo>
                  <a:lnTo>
                    <a:pt x="1540228" y="140429"/>
                  </a:lnTo>
                  <a:lnTo>
                    <a:pt x="1578633" y="126860"/>
                  </a:lnTo>
                  <a:lnTo>
                    <a:pt x="1617257" y="113966"/>
                  </a:lnTo>
                  <a:lnTo>
                    <a:pt x="1656100" y="101747"/>
                  </a:lnTo>
                  <a:lnTo>
                    <a:pt x="1695161" y="90203"/>
                  </a:lnTo>
                  <a:lnTo>
                    <a:pt x="1734417" y="79340"/>
                  </a:lnTo>
                  <a:lnTo>
                    <a:pt x="1773845" y="69166"/>
                  </a:lnTo>
                  <a:lnTo>
                    <a:pt x="1813444" y="59680"/>
                  </a:lnTo>
                  <a:lnTo>
                    <a:pt x="1853214" y="50883"/>
                  </a:lnTo>
                  <a:lnTo>
                    <a:pt x="1893131" y="42779"/>
                  </a:lnTo>
                  <a:lnTo>
                    <a:pt x="1933171" y="35374"/>
                  </a:lnTo>
                  <a:lnTo>
                    <a:pt x="1973334" y="28668"/>
                  </a:lnTo>
                  <a:lnTo>
                    <a:pt x="2013620" y="22660"/>
                  </a:lnTo>
                  <a:lnTo>
                    <a:pt x="2054005" y="17355"/>
                  </a:lnTo>
                  <a:lnTo>
                    <a:pt x="2094463" y="12755"/>
                  </a:lnTo>
                  <a:lnTo>
                    <a:pt x="2134996" y="8860"/>
                  </a:lnTo>
                  <a:lnTo>
                    <a:pt x="2175602" y="5672"/>
                  </a:lnTo>
                  <a:lnTo>
                    <a:pt x="2216258" y="3190"/>
                  </a:lnTo>
                  <a:lnTo>
                    <a:pt x="2256939" y="1418"/>
                  </a:lnTo>
                  <a:lnTo>
                    <a:pt x="2297644" y="354"/>
                  </a:lnTo>
                  <a:lnTo>
                    <a:pt x="2338374" y="0"/>
                  </a:lnTo>
                  <a:lnTo>
                    <a:pt x="2338374" y="2338387"/>
                  </a:lnTo>
                  <a:lnTo>
                    <a:pt x="488886" y="3769278"/>
                  </a:lnTo>
                  <a:close/>
                </a:path>
              </a:pathLst>
            </a:custGeom>
            <a:solidFill>
              <a:srgbClr val="3233EB"/>
            </a:solidFill>
          </p:spPr>
          <p:txBody>
            <a:bodyPr wrap="square" lIns="0" tIns="0" rIns="0" bIns="0" rtlCol="0"/>
            <a:lstStyle/>
            <a:p>
              <a:endParaRPr/>
            </a:p>
          </p:txBody>
        </p:sp>
        <p:sp>
          <p:nvSpPr>
            <p:cNvPr id="12" name="object 12"/>
            <p:cNvSpPr/>
            <p:nvPr/>
          </p:nvSpPr>
          <p:spPr>
            <a:xfrm>
              <a:off x="8013650" y="2362200"/>
              <a:ext cx="4188460" cy="4676775"/>
            </a:xfrm>
            <a:custGeom>
              <a:avLst/>
              <a:gdLst/>
              <a:ahLst/>
              <a:cxnLst/>
              <a:rect l="l" t="t" r="r" b="b"/>
              <a:pathLst>
                <a:path w="4188459" h="4676775">
                  <a:moveTo>
                    <a:pt x="1863858" y="4676730"/>
                  </a:moveTo>
                  <a:lnTo>
                    <a:pt x="1789805" y="4676012"/>
                  </a:lnTo>
                  <a:lnTo>
                    <a:pt x="1715812" y="4672950"/>
                  </a:lnTo>
                  <a:lnTo>
                    <a:pt x="1641953" y="4667546"/>
                  </a:lnTo>
                  <a:lnTo>
                    <a:pt x="1568302" y="4659807"/>
                  </a:lnTo>
                  <a:lnTo>
                    <a:pt x="1494934" y="4649739"/>
                  </a:lnTo>
                  <a:lnTo>
                    <a:pt x="1421920" y="4637352"/>
                  </a:lnTo>
                  <a:lnTo>
                    <a:pt x="1349336" y="4622660"/>
                  </a:lnTo>
                  <a:lnTo>
                    <a:pt x="1277253" y="4605677"/>
                  </a:lnTo>
                  <a:lnTo>
                    <a:pt x="1205745" y="4586419"/>
                  </a:lnTo>
                  <a:lnTo>
                    <a:pt x="1134882" y="4564907"/>
                  </a:lnTo>
                  <a:lnTo>
                    <a:pt x="1064735" y="4541162"/>
                  </a:lnTo>
                  <a:lnTo>
                    <a:pt x="995376" y="4515208"/>
                  </a:lnTo>
                  <a:lnTo>
                    <a:pt x="926873" y="4487070"/>
                  </a:lnTo>
                  <a:lnTo>
                    <a:pt x="859296" y="4456777"/>
                  </a:lnTo>
                  <a:lnTo>
                    <a:pt x="792712" y="4424359"/>
                  </a:lnTo>
                  <a:lnTo>
                    <a:pt x="727188" y="4389849"/>
                  </a:lnTo>
                  <a:lnTo>
                    <a:pt x="662789" y="4353282"/>
                  </a:lnTo>
                  <a:lnTo>
                    <a:pt x="599581" y="4314694"/>
                  </a:lnTo>
                  <a:lnTo>
                    <a:pt x="537626" y="4274123"/>
                  </a:lnTo>
                  <a:lnTo>
                    <a:pt x="476987" y="4231611"/>
                  </a:lnTo>
                  <a:lnTo>
                    <a:pt x="417725" y="4187200"/>
                  </a:lnTo>
                  <a:lnTo>
                    <a:pt x="359899" y="4140935"/>
                  </a:lnTo>
                  <a:lnTo>
                    <a:pt x="303567" y="4092862"/>
                  </a:lnTo>
                  <a:lnTo>
                    <a:pt x="248785" y="4043029"/>
                  </a:lnTo>
                  <a:lnTo>
                    <a:pt x="195609" y="3991486"/>
                  </a:lnTo>
                  <a:lnTo>
                    <a:pt x="144091" y="3938286"/>
                  </a:lnTo>
                  <a:lnTo>
                    <a:pt x="94284" y="3883481"/>
                  </a:lnTo>
                  <a:lnTo>
                    <a:pt x="46237" y="3827126"/>
                  </a:lnTo>
                  <a:lnTo>
                    <a:pt x="0" y="3769278"/>
                  </a:lnTo>
                  <a:lnTo>
                    <a:pt x="1849487" y="2338387"/>
                  </a:lnTo>
                  <a:lnTo>
                    <a:pt x="1849487" y="0"/>
                  </a:lnTo>
                  <a:lnTo>
                    <a:pt x="1923534" y="1172"/>
                  </a:lnTo>
                  <a:lnTo>
                    <a:pt x="1997507" y="4689"/>
                  </a:lnTo>
                  <a:lnTo>
                    <a:pt x="2071332" y="10546"/>
                  </a:lnTo>
                  <a:lnTo>
                    <a:pt x="2144934" y="18739"/>
                  </a:lnTo>
                  <a:lnTo>
                    <a:pt x="2218239" y="29258"/>
                  </a:lnTo>
                  <a:lnTo>
                    <a:pt x="2291175" y="42093"/>
                  </a:lnTo>
                  <a:lnTo>
                    <a:pt x="2363668" y="57230"/>
                  </a:lnTo>
                  <a:lnTo>
                    <a:pt x="2435644" y="74657"/>
                  </a:lnTo>
                  <a:lnTo>
                    <a:pt x="2507034" y="94353"/>
                  </a:lnTo>
                  <a:lnTo>
                    <a:pt x="2577763" y="116300"/>
                  </a:lnTo>
                  <a:lnTo>
                    <a:pt x="2647762" y="140476"/>
                  </a:lnTo>
                  <a:lnTo>
                    <a:pt x="2716961" y="166857"/>
                  </a:lnTo>
                  <a:lnTo>
                    <a:pt x="2785289" y="195415"/>
                  </a:lnTo>
                  <a:lnTo>
                    <a:pt x="2852679" y="226122"/>
                  </a:lnTo>
                  <a:lnTo>
                    <a:pt x="2919063" y="258948"/>
                  </a:lnTo>
                  <a:lnTo>
                    <a:pt x="2984374" y="293860"/>
                  </a:lnTo>
                  <a:lnTo>
                    <a:pt x="3048546" y="330823"/>
                  </a:lnTo>
                  <a:lnTo>
                    <a:pt x="3111516" y="369799"/>
                  </a:lnTo>
                  <a:lnTo>
                    <a:pt x="3173220" y="410749"/>
                  </a:lnTo>
                  <a:lnTo>
                    <a:pt x="3233597" y="453634"/>
                  </a:lnTo>
                  <a:lnTo>
                    <a:pt x="3292585" y="498407"/>
                  </a:lnTo>
                  <a:lnTo>
                    <a:pt x="3350126" y="545027"/>
                  </a:lnTo>
                  <a:lnTo>
                    <a:pt x="3406162" y="593445"/>
                  </a:lnTo>
                  <a:lnTo>
                    <a:pt x="3460636" y="643614"/>
                  </a:lnTo>
                  <a:lnTo>
                    <a:pt x="3513495" y="695482"/>
                  </a:lnTo>
                  <a:lnTo>
                    <a:pt x="3564684" y="748999"/>
                  </a:lnTo>
                  <a:lnTo>
                    <a:pt x="3614154" y="804109"/>
                  </a:lnTo>
                  <a:lnTo>
                    <a:pt x="3661853" y="860758"/>
                  </a:lnTo>
                  <a:lnTo>
                    <a:pt x="3707735" y="918889"/>
                  </a:lnTo>
                  <a:lnTo>
                    <a:pt x="3751752" y="978444"/>
                  </a:lnTo>
                  <a:lnTo>
                    <a:pt x="3793862" y="1039363"/>
                  </a:lnTo>
                  <a:lnTo>
                    <a:pt x="3834022" y="1101585"/>
                  </a:lnTo>
                  <a:lnTo>
                    <a:pt x="3872191" y="1165047"/>
                  </a:lnTo>
                  <a:lnTo>
                    <a:pt x="3908331" y="1229686"/>
                  </a:lnTo>
                  <a:lnTo>
                    <a:pt x="3942407" y="1295437"/>
                  </a:lnTo>
                  <a:lnTo>
                    <a:pt x="3974383" y="1362235"/>
                  </a:lnTo>
                  <a:lnTo>
                    <a:pt x="4004228" y="1430011"/>
                  </a:lnTo>
                  <a:lnTo>
                    <a:pt x="4031912" y="1498698"/>
                  </a:lnTo>
                  <a:lnTo>
                    <a:pt x="4057407" y="1568228"/>
                  </a:lnTo>
                  <a:lnTo>
                    <a:pt x="4080688" y="1638530"/>
                  </a:lnTo>
                  <a:lnTo>
                    <a:pt x="4101730" y="1709533"/>
                  </a:lnTo>
                  <a:lnTo>
                    <a:pt x="4120514" y="1781168"/>
                  </a:lnTo>
                  <a:lnTo>
                    <a:pt x="4137020" y="1853362"/>
                  </a:lnTo>
                  <a:lnTo>
                    <a:pt x="4151231" y="1926042"/>
                  </a:lnTo>
                  <a:lnTo>
                    <a:pt x="4163135" y="1999135"/>
                  </a:lnTo>
                  <a:lnTo>
                    <a:pt x="4172717" y="2072569"/>
                  </a:lnTo>
                  <a:lnTo>
                    <a:pt x="4179969" y="2146269"/>
                  </a:lnTo>
                  <a:lnTo>
                    <a:pt x="4184884" y="2220163"/>
                  </a:lnTo>
                  <a:lnTo>
                    <a:pt x="4187457" y="2294174"/>
                  </a:lnTo>
                  <a:lnTo>
                    <a:pt x="4187864" y="2331197"/>
                  </a:lnTo>
                  <a:lnTo>
                    <a:pt x="4187684" y="2368230"/>
                  </a:lnTo>
                  <a:lnTo>
                    <a:pt x="4185567" y="2442256"/>
                  </a:lnTo>
                  <a:lnTo>
                    <a:pt x="4181106" y="2516178"/>
                  </a:lnTo>
                  <a:lnTo>
                    <a:pt x="4174307" y="2589922"/>
                  </a:lnTo>
                  <a:lnTo>
                    <a:pt x="4165175" y="2663413"/>
                  </a:lnTo>
                  <a:lnTo>
                    <a:pt x="4153722" y="2736579"/>
                  </a:lnTo>
                  <a:lnTo>
                    <a:pt x="4139957" y="2809345"/>
                  </a:lnTo>
                  <a:lnTo>
                    <a:pt x="4123896" y="2881638"/>
                  </a:lnTo>
                  <a:lnTo>
                    <a:pt x="4105552" y="2953387"/>
                  </a:lnTo>
                  <a:lnTo>
                    <a:pt x="4084946" y="3024519"/>
                  </a:lnTo>
                  <a:lnTo>
                    <a:pt x="4062098" y="3094962"/>
                  </a:lnTo>
                  <a:lnTo>
                    <a:pt x="4037031" y="3164647"/>
                  </a:lnTo>
                  <a:lnTo>
                    <a:pt x="4009770" y="3233503"/>
                  </a:lnTo>
                  <a:lnTo>
                    <a:pt x="3980342" y="3301462"/>
                  </a:lnTo>
                  <a:lnTo>
                    <a:pt x="3948777" y="3368454"/>
                  </a:lnTo>
                  <a:lnTo>
                    <a:pt x="3915106" y="3434414"/>
                  </a:lnTo>
                  <a:lnTo>
                    <a:pt x="3879363" y="3499273"/>
                  </a:lnTo>
                  <a:lnTo>
                    <a:pt x="3841585" y="3562969"/>
                  </a:lnTo>
                  <a:lnTo>
                    <a:pt x="3801808" y="3625436"/>
                  </a:lnTo>
                  <a:lnTo>
                    <a:pt x="3760074" y="3686613"/>
                  </a:lnTo>
                  <a:lnTo>
                    <a:pt x="3716423" y="3746437"/>
                  </a:lnTo>
                  <a:lnTo>
                    <a:pt x="3670899" y="3804850"/>
                  </a:lnTo>
                  <a:lnTo>
                    <a:pt x="3623549" y="3861791"/>
                  </a:lnTo>
                  <a:lnTo>
                    <a:pt x="3574420" y="3917204"/>
                  </a:lnTo>
                  <a:lnTo>
                    <a:pt x="3523560" y="3971033"/>
                  </a:lnTo>
                  <a:lnTo>
                    <a:pt x="3471021" y="4023226"/>
                  </a:lnTo>
                  <a:lnTo>
                    <a:pt x="3416856" y="4073728"/>
                  </a:lnTo>
                  <a:lnTo>
                    <a:pt x="3361119" y="4122490"/>
                  </a:lnTo>
                  <a:lnTo>
                    <a:pt x="3303866" y="4169463"/>
                  </a:lnTo>
                  <a:lnTo>
                    <a:pt x="3245154" y="4214599"/>
                  </a:lnTo>
                  <a:lnTo>
                    <a:pt x="3185042" y="4257853"/>
                  </a:lnTo>
                  <a:lnTo>
                    <a:pt x="3123590" y="4299182"/>
                  </a:lnTo>
                  <a:lnTo>
                    <a:pt x="3060861" y="4338544"/>
                  </a:lnTo>
                  <a:lnTo>
                    <a:pt x="2996917" y="4375900"/>
                  </a:lnTo>
                  <a:lnTo>
                    <a:pt x="2931822" y="4411212"/>
                  </a:lnTo>
                  <a:lnTo>
                    <a:pt x="2865641" y="4444446"/>
                  </a:lnTo>
                  <a:lnTo>
                    <a:pt x="2798441" y="4475567"/>
                  </a:lnTo>
                  <a:lnTo>
                    <a:pt x="2730290" y="4504545"/>
                  </a:lnTo>
                  <a:lnTo>
                    <a:pt x="2661255" y="4531350"/>
                  </a:lnTo>
                  <a:lnTo>
                    <a:pt x="2591405" y="4555956"/>
                  </a:lnTo>
                  <a:lnTo>
                    <a:pt x="2520812" y="4578337"/>
                  </a:lnTo>
                  <a:lnTo>
                    <a:pt x="2449545" y="4598472"/>
                  </a:lnTo>
                  <a:lnTo>
                    <a:pt x="2377677" y="4616340"/>
                  </a:lnTo>
                  <a:lnTo>
                    <a:pt x="2305279" y="4631923"/>
                  </a:lnTo>
                  <a:lnTo>
                    <a:pt x="2232423" y="4645206"/>
                  </a:lnTo>
                  <a:lnTo>
                    <a:pt x="2159184" y="4656176"/>
                  </a:lnTo>
                  <a:lnTo>
                    <a:pt x="2085634" y="4664820"/>
                  </a:lnTo>
                  <a:lnTo>
                    <a:pt x="2011847" y="4671131"/>
                  </a:lnTo>
                  <a:lnTo>
                    <a:pt x="1937897" y="4675102"/>
                  </a:lnTo>
                  <a:lnTo>
                    <a:pt x="1900879" y="4676209"/>
                  </a:lnTo>
                  <a:lnTo>
                    <a:pt x="1863858" y="4676730"/>
                  </a:lnTo>
                  <a:close/>
                </a:path>
              </a:pathLst>
            </a:custGeom>
            <a:solidFill>
              <a:srgbClr val="5C5EEF"/>
            </a:solidFill>
          </p:spPr>
          <p:txBody>
            <a:bodyPr wrap="square" lIns="0" tIns="0" rIns="0" bIns="0" rtlCol="0"/>
            <a:lstStyle/>
            <a:p>
              <a:endParaRPr dirty="0"/>
            </a:p>
          </p:txBody>
        </p:sp>
        <p:sp>
          <p:nvSpPr>
            <p:cNvPr id="13" name="object 13"/>
            <p:cNvSpPr/>
            <p:nvPr/>
          </p:nvSpPr>
          <p:spPr>
            <a:xfrm>
              <a:off x="7524763" y="2362200"/>
              <a:ext cx="2338705" cy="3769360"/>
            </a:xfrm>
            <a:custGeom>
              <a:avLst/>
              <a:gdLst/>
              <a:ahLst/>
              <a:cxnLst/>
              <a:rect l="l" t="t" r="r" b="b"/>
              <a:pathLst>
                <a:path w="2338704" h="3769360">
                  <a:moveTo>
                    <a:pt x="488886" y="3769278"/>
                  </a:moveTo>
                  <a:lnTo>
                    <a:pt x="464243" y="3736846"/>
                  </a:lnTo>
                  <a:lnTo>
                    <a:pt x="440176" y="3704001"/>
                  </a:lnTo>
                  <a:lnTo>
                    <a:pt x="416685" y="3670741"/>
                  </a:lnTo>
                  <a:lnTo>
                    <a:pt x="393770" y="3637067"/>
                  </a:lnTo>
                  <a:lnTo>
                    <a:pt x="371444" y="3602999"/>
                  </a:lnTo>
                  <a:lnTo>
                    <a:pt x="349722" y="3568558"/>
                  </a:lnTo>
                  <a:lnTo>
                    <a:pt x="328603" y="3533743"/>
                  </a:lnTo>
                  <a:lnTo>
                    <a:pt x="308088" y="3498556"/>
                  </a:lnTo>
                  <a:lnTo>
                    <a:pt x="288188" y="3463016"/>
                  </a:lnTo>
                  <a:lnTo>
                    <a:pt x="268915" y="3427147"/>
                  </a:lnTo>
                  <a:lnTo>
                    <a:pt x="250271" y="3390947"/>
                  </a:lnTo>
                  <a:lnTo>
                    <a:pt x="232255" y="3354417"/>
                  </a:lnTo>
                  <a:lnTo>
                    <a:pt x="214877" y="3317578"/>
                  </a:lnTo>
                  <a:lnTo>
                    <a:pt x="198148" y="3280454"/>
                  </a:lnTo>
                  <a:lnTo>
                    <a:pt x="182069" y="3243044"/>
                  </a:lnTo>
                  <a:lnTo>
                    <a:pt x="166639" y="3205348"/>
                  </a:lnTo>
                  <a:lnTo>
                    <a:pt x="151867" y="3167390"/>
                  </a:lnTo>
                  <a:lnTo>
                    <a:pt x="137764" y="3129191"/>
                  </a:lnTo>
                  <a:lnTo>
                    <a:pt x="124327" y="3090753"/>
                  </a:lnTo>
                  <a:lnTo>
                    <a:pt x="111559" y="3052074"/>
                  </a:lnTo>
                  <a:lnTo>
                    <a:pt x="99465" y="3013179"/>
                  </a:lnTo>
                  <a:lnTo>
                    <a:pt x="88055" y="2974092"/>
                  </a:lnTo>
                  <a:lnTo>
                    <a:pt x="77327" y="2934811"/>
                  </a:lnTo>
                  <a:lnTo>
                    <a:pt x="67282" y="2895338"/>
                  </a:lnTo>
                  <a:lnTo>
                    <a:pt x="57925" y="2855695"/>
                  </a:lnTo>
                  <a:lnTo>
                    <a:pt x="49263" y="2815908"/>
                  </a:lnTo>
                  <a:lnTo>
                    <a:pt x="41295" y="2775976"/>
                  </a:lnTo>
                  <a:lnTo>
                    <a:pt x="34022" y="2735899"/>
                  </a:lnTo>
                  <a:lnTo>
                    <a:pt x="27447" y="2695702"/>
                  </a:lnTo>
                  <a:lnTo>
                    <a:pt x="21576" y="2655408"/>
                  </a:lnTo>
                  <a:lnTo>
                    <a:pt x="16407" y="2615019"/>
                  </a:lnTo>
                  <a:lnTo>
                    <a:pt x="11941" y="2574533"/>
                  </a:lnTo>
                  <a:lnTo>
                    <a:pt x="8181" y="2533975"/>
                  </a:lnTo>
                  <a:lnTo>
                    <a:pt x="5128" y="2493371"/>
                  </a:lnTo>
                  <a:lnTo>
                    <a:pt x="2783" y="2452719"/>
                  </a:lnTo>
                  <a:lnTo>
                    <a:pt x="1147" y="2412020"/>
                  </a:lnTo>
                  <a:lnTo>
                    <a:pt x="218" y="2371299"/>
                  </a:lnTo>
                  <a:lnTo>
                    <a:pt x="0" y="2330581"/>
                  </a:lnTo>
                  <a:lnTo>
                    <a:pt x="490" y="2289865"/>
                  </a:lnTo>
                  <a:lnTo>
                    <a:pt x="1690" y="2249151"/>
                  </a:lnTo>
                  <a:lnTo>
                    <a:pt x="3599" y="2208464"/>
                  </a:lnTo>
                  <a:lnTo>
                    <a:pt x="6215" y="2167829"/>
                  </a:lnTo>
                  <a:lnTo>
                    <a:pt x="9538" y="2127246"/>
                  </a:lnTo>
                  <a:lnTo>
                    <a:pt x="13570" y="2086714"/>
                  </a:lnTo>
                  <a:lnTo>
                    <a:pt x="18306" y="2046259"/>
                  </a:lnTo>
                  <a:lnTo>
                    <a:pt x="23744" y="2005905"/>
                  </a:lnTo>
                  <a:lnTo>
                    <a:pt x="29884" y="1965651"/>
                  </a:lnTo>
                  <a:lnTo>
                    <a:pt x="36727" y="1925499"/>
                  </a:lnTo>
                  <a:lnTo>
                    <a:pt x="44268" y="1885471"/>
                  </a:lnTo>
                  <a:lnTo>
                    <a:pt x="52502" y="1845593"/>
                  </a:lnTo>
                  <a:lnTo>
                    <a:pt x="61429" y="1805865"/>
                  </a:lnTo>
                  <a:lnTo>
                    <a:pt x="71050" y="1766286"/>
                  </a:lnTo>
                  <a:lnTo>
                    <a:pt x="81359" y="1726881"/>
                  </a:lnTo>
                  <a:lnTo>
                    <a:pt x="92349" y="1687673"/>
                  </a:lnTo>
                  <a:lnTo>
                    <a:pt x="104020" y="1648662"/>
                  </a:lnTo>
                  <a:lnTo>
                    <a:pt x="116373" y="1609849"/>
                  </a:lnTo>
                  <a:lnTo>
                    <a:pt x="129400" y="1571256"/>
                  </a:lnTo>
                  <a:lnTo>
                    <a:pt x="143092" y="1532909"/>
                  </a:lnTo>
                  <a:lnTo>
                    <a:pt x="157451" y="1494805"/>
                  </a:lnTo>
                  <a:lnTo>
                    <a:pt x="172475" y="1456946"/>
                  </a:lnTo>
                  <a:lnTo>
                    <a:pt x="188157" y="1419354"/>
                  </a:lnTo>
                  <a:lnTo>
                    <a:pt x="204485" y="1382052"/>
                  </a:lnTo>
                  <a:lnTo>
                    <a:pt x="221461" y="1345040"/>
                  </a:lnTo>
                  <a:lnTo>
                    <a:pt x="239085" y="1308319"/>
                  </a:lnTo>
                  <a:lnTo>
                    <a:pt x="257345" y="1271910"/>
                  </a:lnTo>
                  <a:lnTo>
                    <a:pt x="276230" y="1235835"/>
                  </a:lnTo>
                  <a:lnTo>
                    <a:pt x="295742" y="1200095"/>
                  </a:lnTo>
                  <a:lnTo>
                    <a:pt x="315878" y="1164689"/>
                  </a:lnTo>
                  <a:lnTo>
                    <a:pt x="336628" y="1129639"/>
                  </a:lnTo>
                  <a:lnTo>
                    <a:pt x="357979" y="1094967"/>
                  </a:lnTo>
                  <a:lnTo>
                    <a:pt x="379931" y="1060671"/>
                  </a:lnTo>
                  <a:lnTo>
                    <a:pt x="402483" y="1026753"/>
                  </a:lnTo>
                  <a:lnTo>
                    <a:pt x="425623" y="993233"/>
                  </a:lnTo>
                  <a:lnTo>
                    <a:pt x="449335" y="960131"/>
                  </a:lnTo>
                  <a:lnTo>
                    <a:pt x="473621" y="927446"/>
                  </a:lnTo>
                  <a:lnTo>
                    <a:pt x="498480" y="895180"/>
                  </a:lnTo>
                  <a:lnTo>
                    <a:pt x="523897" y="863352"/>
                  </a:lnTo>
                  <a:lnTo>
                    <a:pt x="549856" y="831981"/>
                  </a:lnTo>
                  <a:lnTo>
                    <a:pt x="576358" y="801066"/>
                  </a:lnTo>
                  <a:lnTo>
                    <a:pt x="603402" y="770609"/>
                  </a:lnTo>
                  <a:lnTo>
                    <a:pt x="630973" y="740627"/>
                  </a:lnTo>
                  <a:lnTo>
                    <a:pt x="659053" y="711139"/>
                  </a:lnTo>
                  <a:lnTo>
                    <a:pt x="687642" y="682144"/>
                  </a:lnTo>
                  <a:lnTo>
                    <a:pt x="716741" y="653643"/>
                  </a:lnTo>
                  <a:lnTo>
                    <a:pt x="746332" y="625653"/>
                  </a:lnTo>
                  <a:lnTo>
                    <a:pt x="776396" y="598191"/>
                  </a:lnTo>
                  <a:lnTo>
                    <a:pt x="806934" y="571256"/>
                  </a:lnTo>
                  <a:lnTo>
                    <a:pt x="837947" y="544850"/>
                  </a:lnTo>
                  <a:lnTo>
                    <a:pt x="869414" y="518988"/>
                  </a:lnTo>
                  <a:lnTo>
                    <a:pt x="901317" y="493685"/>
                  </a:lnTo>
                  <a:lnTo>
                    <a:pt x="933656" y="468942"/>
                  </a:lnTo>
                  <a:lnTo>
                    <a:pt x="966432" y="444758"/>
                  </a:lnTo>
                  <a:lnTo>
                    <a:pt x="999623" y="421149"/>
                  </a:lnTo>
                  <a:lnTo>
                    <a:pt x="1033210" y="398128"/>
                  </a:lnTo>
                  <a:lnTo>
                    <a:pt x="1067193" y="375696"/>
                  </a:lnTo>
                  <a:lnTo>
                    <a:pt x="1101572" y="353853"/>
                  </a:lnTo>
                  <a:lnTo>
                    <a:pt x="1136326" y="332611"/>
                  </a:lnTo>
                  <a:lnTo>
                    <a:pt x="1171434" y="311984"/>
                  </a:lnTo>
                  <a:lnTo>
                    <a:pt x="1206896" y="291972"/>
                  </a:lnTo>
                  <a:lnTo>
                    <a:pt x="1242712" y="272575"/>
                  </a:lnTo>
                  <a:lnTo>
                    <a:pt x="1278861" y="253804"/>
                  </a:lnTo>
                  <a:lnTo>
                    <a:pt x="1315319" y="235670"/>
                  </a:lnTo>
                  <a:lnTo>
                    <a:pt x="1352089" y="218175"/>
                  </a:lnTo>
                  <a:lnTo>
                    <a:pt x="1389168" y="201318"/>
                  </a:lnTo>
                  <a:lnTo>
                    <a:pt x="1426535" y="185109"/>
                  </a:lnTo>
                  <a:lnTo>
                    <a:pt x="1464168" y="169557"/>
                  </a:lnTo>
                  <a:lnTo>
                    <a:pt x="1502066" y="154664"/>
                  </a:lnTo>
                  <a:lnTo>
                    <a:pt x="1540228" y="140429"/>
                  </a:lnTo>
                  <a:lnTo>
                    <a:pt x="1578633" y="126860"/>
                  </a:lnTo>
                  <a:lnTo>
                    <a:pt x="1617257" y="113966"/>
                  </a:lnTo>
                  <a:lnTo>
                    <a:pt x="1656100" y="101747"/>
                  </a:lnTo>
                  <a:lnTo>
                    <a:pt x="1695161" y="90203"/>
                  </a:lnTo>
                  <a:lnTo>
                    <a:pt x="1734417" y="79340"/>
                  </a:lnTo>
                  <a:lnTo>
                    <a:pt x="1773845" y="69166"/>
                  </a:lnTo>
                  <a:lnTo>
                    <a:pt x="1813444" y="59680"/>
                  </a:lnTo>
                  <a:lnTo>
                    <a:pt x="1853214" y="50883"/>
                  </a:lnTo>
                  <a:lnTo>
                    <a:pt x="1893131" y="42779"/>
                  </a:lnTo>
                  <a:lnTo>
                    <a:pt x="1933171" y="35374"/>
                  </a:lnTo>
                  <a:lnTo>
                    <a:pt x="1973334" y="28668"/>
                  </a:lnTo>
                  <a:lnTo>
                    <a:pt x="2013620" y="22660"/>
                  </a:lnTo>
                  <a:lnTo>
                    <a:pt x="2054005" y="17355"/>
                  </a:lnTo>
                  <a:lnTo>
                    <a:pt x="2094463" y="12755"/>
                  </a:lnTo>
                  <a:lnTo>
                    <a:pt x="2134996" y="8860"/>
                  </a:lnTo>
                  <a:lnTo>
                    <a:pt x="2175602" y="5672"/>
                  </a:lnTo>
                  <a:lnTo>
                    <a:pt x="2216258" y="3190"/>
                  </a:lnTo>
                  <a:lnTo>
                    <a:pt x="2256939" y="1418"/>
                  </a:lnTo>
                  <a:lnTo>
                    <a:pt x="2297644" y="354"/>
                  </a:lnTo>
                  <a:lnTo>
                    <a:pt x="2338374" y="0"/>
                  </a:lnTo>
                  <a:lnTo>
                    <a:pt x="2338374" y="2338387"/>
                  </a:lnTo>
                  <a:lnTo>
                    <a:pt x="488886" y="3769278"/>
                  </a:lnTo>
                  <a:close/>
                </a:path>
              </a:pathLst>
            </a:custGeom>
            <a:solidFill>
              <a:srgbClr val="090956"/>
            </a:solidFill>
          </p:spPr>
          <p:txBody>
            <a:bodyPr wrap="square" lIns="0" tIns="0" rIns="0" bIns="0" rtlCol="0"/>
            <a:lstStyle/>
            <a:p>
              <a:endParaRPr dirty="0"/>
            </a:p>
          </p:txBody>
        </p:sp>
      </p:grpSp>
      <p:sp>
        <p:nvSpPr>
          <p:cNvPr id="14" name="object 14"/>
          <p:cNvSpPr txBox="1"/>
          <p:nvPr/>
        </p:nvSpPr>
        <p:spPr>
          <a:xfrm>
            <a:off x="12049074" y="5754389"/>
            <a:ext cx="305435" cy="185420"/>
          </a:xfrm>
          <a:prstGeom prst="rect">
            <a:avLst/>
          </a:prstGeom>
        </p:spPr>
        <p:txBody>
          <a:bodyPr vert="horz" wrap="square" lIns="0" tIns="12700" rIns="0" bIns="0" rtlCol="0">
            <a:spAutoFit/>
          </a:bodyPr>
          <a:lstStyle/>
          <a:p>
            <a:pPr marL="12700">
              <a:lnSpc>
                <a:spcPct val="100000"/>
              </a:lnSpc>
              <a:spcBef>
                <a:spcPts val="100"/>
              </a:spcBef>
            </a:pPr>
            <a:r>
              <a:rPr sz="1050" spc="-20" dirty="0">
                <a:solidFill>
                  <a:srgbClr val="FFFFFF"/>
                </a:solidFill>
                <a:latin typeface="Tahoma"/>
                <a:cs typeface="Tahoma"/>
              </a:rPr>
              <a:t>64.5</a:t>
            </a:r>
            <a:endParaRPr sz="1050">
              <a:latin typeface="Tahoma"/>
              <a:cs typeface="Tahoma"/>
            </a:endParaRPr>
          </a:p>
        </p:txBody>
      </p:sp>
      <p:sp>
        <p:nvSpPr>
          <p:cNvPr id="15" name="object 15"/>
          <p:cNvSpPr txBox="1"/>
          <p:nvPr/>
        </p:nvSpPr>
        <p:spPr>
          <a:xfrm>
            <a:off x="7374979" y="3459460"/>
            <a:ext cx="299085" cy="185420"/>
          </a:xfrm>
          <a:prstGeom prst="rect">
            <a:avLst/>
          </a:prstGeom>
        </p:spPr>
        <p:txBody>
          <a:bodyPr vert="horz" wrap="square" lIns="0" tIns="12700" rIns="0" bIns="0" rtlCol="0">
            <a:spAutoFit/>
          </a:bodyPr>
          <a:lstStyle/>
          <a:p>
            <a:pPr marL="12700">
              <a:lnSpc>
                <a:spcPct val="100000"/>
              </a:lnSpc>
              <a:spcBef>
                <a:spcPts val="100"/>
              </a:spcBef>
            </a:pPr>
            <a:r>
              <a:rPr sz="1050" spc="-20" dirty="0">
                <a:solidFill>
                  <a:srgbClr val="FFFFFF"/>
                </a:solidFill>
                <a:latin typeface="Tahoma"/>
                <a:cs typeface="Tahoma"/>
              </a:rPr>
              <a:t>35.5</a:t>
            </a:r>
            <a:endParaRPr sz="1050">
              <a:latin typeface="Tahoma"/>
              <a:cs typeface="Tahoma"/>
            </a:endParaRPr>
          </a:p>
        </p:txBody>
      </p:sp>
      <p:pic>
        <p:nvPicPr>
          <p:cNvPr id="16" name="object 16"/>
          <p:cNvPicPr/>
          <p:nvPr/>
        </p:nvPicPr>
        <p:blipFill>
          <a:blip r:embed="rId2" cstate="print"/>
          <a:stretch>
            <a:fillRect/>
          </a:stretch>
        </p:blipFill>
        <p:spPr>
          <a:xfrm>
            <a:off x="8982074" y="1733549"/>
            <a:ext cx="76200" cy="76200"/>
          </a:xfrm>
          <a:prstGeom prst="rect">
            <a:avLst/>
          </a:prstGeom>
        </p:spPr>
      </p:pic>
      <p:pic>
        <p:nvPicPr>
          <p:cNvPr id="17" name="object 17"/>
          <p:cNvPicPr/>
          <p:nvPr/>
        </p:nvPicPr>
        <p:blipFill>
          <a:blip r:embed="rId3" cstate="print"/>
          <a:stretch>
            <a:fillRect/>
          </a:stretch>
        </p:blipFill>
        <p:spPr>
          <a:xfrm>
            <a:off x="9972674" y="1733549"/>
            <a:ext cx="76200" cy="76200"/>
          </a:xfrm>
          <a:prstGeom prst="rect">
            <a:avLst/>
          </a:prstGeom>
        </p:spPr>
      </p:pic>
      <p:pic>
        <p:nvPicPr>
          <p:cNvPr id="21" name="Picture 20">
            <a:extLst>
              <a:ext uri="{FF2B5EF4-FFF2-40B4-BE49-F238E27FC236}">
                <a16:creationId xmlns:a16="http://schemas.microsoft.com/office/drawing/2014/main" id="{E13AAB29-EDFF-7D62-2990-22F5AF579387}"/>
              </a:ext>
            </a:extLst>
          </p:cNvPr>
          <p:cNvPicPr>
            <a:picLocks noChangeAspect="1"/>
          </p:cNvPicPr>
          <p:nvPr/>
        </p:nvPicPr>
        <p:blipFill>
          <a:blip r:embed="rId4"/>
          <a:stretch>
            <a:fillRect/>
          </a:stretch>
        </p:blipFill>
        <p:spPr>
          <a:xfrm>
            <a:off x="5589546" y="1508984"/>
            <a:ext cx="8144035" cy="5918807"/>
          </a:xfrm>
          <a:prstGeom prst="rect">
            <a:avLst/>
          </a:prstGeom>
        </p:spPr>
      </p:pic>
      <p:sp>
        <p:nvSpPr>
          <p:cNvPr id="22" name="object 5">
            <a:extLst>
              <a:ext uri="{FF2B5EF4-FFF2-40B4-BE49-F238E27FC236}">
                <a16:creationId xmlns:a16="http://schemas.microsoft.com/office/drawing/2014/main" id="{D13E06FC-7910-7E2B-D171-8AE9F1815253}"/>
              </a:ext>
            </a:extLst>
          </p:cNvPr>
          <p:cNvSpPr txBox="1"/>
          <p:nvPr/>
        </p:nvSpPr>
        <p:spPr>
          <a:xfrm>
            <a:off x="492125" y="5788025"/>
            <a:ext cx="4017010" cy="751488"/>
          </a:xfrm>
          <a:prstGeom prst="rect">
            <a:avLst/>
          </a:prstGeom>
        </p:spPr>
        <p:txBody>
          <a:bodyPr vert="horz" wrap="square" lIns="0" tIns="12700" rIns="0" bIns="0" rtlCol="0">
            <a:spAutoFit/>
          </a:bodyPr>
          <a:lstStyle/>
          <a:p>
            <a:r>
              <a:rPr lang="en-US" sz="1600" dirty="0">
                <a:solidFill>
                  <a:schemeClr val="bg1">
                    <a:lumMod val="75000"/>
                  </a:schemeClr>
                </a:solidFill>
                <a:latin typeface="Tahoma" panose="020B0604030504040204" pitchFamily="34" charset="0"/>
                <a:ea typeface="Tahoma" panose="020B0604030504040204" pitchFamily="34" charset="0"/>
                <a:cs typeface="Tahoma" panose="020B0604030504040204" pitchFamily="34" charset="0"/>
              </a:rPr>
              <a:t>Casual riders constitute a 3</a:t>
            </a:r>
            <a:r>
              <a:rPr lang="en-US" sz="1600" baseline="30000" dirty="0">
                <a:solidFill>
                  <a:schemeClr val="bg1">
                    <a:lumMod val="75000"/>
                  </a:schemeClr>
                </a:solidFill>
                <a:latin typeface="Tahoma" panose="020B0604030504040204" pitchFamily="34" charset="0"/>
                <a:ea typeface="Tahoma" panose="020B0604030504040204" pitchFamily="34" charset="0"/>
                <a:cs typeface="Tahoma" panose="020B0604030504040204" pitchFamily="34" charset="0"/>
              </a:rPr>
              <a:t>rd</a:t>
            </a:r>
            <a:r>
              <a:rPr lang="en-US" sz="1600" dirty="0">
                <a:solidFill>
                  <a:schemeClr val="bg1">
                    <a:lumMod val="75000"/>
                  </a:schemeClr>
                </a:solidFill>
                <a:latin typeface="Tahoma" panose="020B0604030504040204" pitchFamily="34" charset="0"/>
                <a:ea typeface="Tahoma" panose="020B0604030504040204" pitchFamily="34" charset="0"/>
                <a:cs typeface="Tahoma" panose="020B0604030504040204" pitchFamily="34" charset="0"/>
              </a:rPr>
              <a:t> of the total riders, hence have a great conversion potential</a:t>
            </a:r>
            <a:endParaRPr lang="en-US" sz="1400" dirty="0">
              <a:solidFill>
                <a:schemeClr val="bg1">
                  <a:lumMod val="75000"/>
                </a:schemeClr>
              </a:solidFill>
              <a:effectLst/>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5181600" cy="8096250"/>
          </a:xfrm>
          <a:custGeom>
            <a:avLst/>
            <a:gdLst/>
            <a:ahLst/>
            <a:cxnLst/>
            <a:rect l="l" t="t" r="r" b="b"/>
            <a:pathLst>
              <a:path w="5181600" h="8096250">
                <a:moveTo>
                  <a:pt x="5181599" y="8096249"/>
                </a:moveTo>
                <a:lnTo>
                  <a:pt x="0" y="8096249"/>
                </a:lnTo>
                <a:lnTo>
                  <a:pt x="0" y="0"/>
                </a:lnTo>
                <a:lnTo>
                  <a:pt x="5181599" y="0"/>
                </a:lnTo>
                <a:lnTo>
                  <a:pt x="5181599" y="8096249"/>
                </a:lnTo>
                <a:close/>
              </a:path>
            </a:pathLst>
          </a:custGeom>
          <a:solidFill>
            <a:srgbClr val="0F1117"/>
          </a:solidFill>
        </p:spPr>
        <p:txBody>
          <a:bodyPr wrap="square" lIns="0" tIns="0" rIns="0" bIns="0" rtlCol="0"/>
          <a:lstStyle/>
          <a:p>
            <a:endParaRPr/>
          </a:p>
        </p:txBody>
      </p:sp>
      <p:sp>
        <p:nvSpPr>
          <p:cNvPr id="3" name="object 3"/>
          <p:cNvSpPr txBox="1"/>
          <p:nvPr/>
        </p:nvSpPr>
        <p:spPr>
          <a:xfrm>
            <a:off x="492125" y="657225"/>
            <a:ext cx="3586479" cy="2228215"/>
          </a:xfrm>
          <a:prstGeom prst="rect">
            <a:avLst/>
          </a:prstGeom>
        </p:spPr>
        <p:txBody>
          <a:bodyPr vert="horz" wrap="square" lIns="0" tIns="28575" rIns="0" bIns="0" rtlCol="0">
            <a:spAutoFit/>
          </a:bodyPr>
          <a:lstStyle/>
          <a:p>
            <a:pPr marL="21590">
              <a:lnSpc>
                <a:spcPct val="100000"/>
              </a:lnSpc>
              <a:spcBef>
                <a:spcPts val="225"/>
              </a:spcBef>
            </a:pPr>
            <a:r>
              <a:rPr sz="1500" spc="65" dirty="0">
                <a:solidFill>
                  <a:srgbClr val="6D6A78"/>
                </a:solidFill>
                <a:latin typeface="Tahoma"/>
                <a:cs typeface="Tahoma"/>
              </a:rPr>
              <a:t>Weekly</a:t>
            </a:r>
            <a:r>
              <a:rPr sz="1500" spc="-40" dirty="0">
                <a:solidFill>
                  <a:srgbClr val="6D6A78"/>
                </a:solidFill>
                <a:latin typeface="Tahoma"/>
                <a:cs typeface="Tahoma"/>
              </a:rPr>
              <a:t> </a:t>
            </a:r>
            <a:r>
              <a:rPr sz="1500" spc="-10" dirty="0">
                <a:solidFill>
                  <a:srgbClr val="6D6A78"/>
                </a:solidFill>
                <a:latin typeface="Tahoma"/>
                <a:cs typeface="Tahoma"/>
              </a:rPr>
              <a:t>patterns</a:t>
            </a:r>
            <a:endParaRPr sz="1500">
              <a:latin typeface="Tahoma"/>
              <a:cs typeface="Tahoma"/>
            </a:endParaRPr>
          </a:p>
          <a:p>
            <a:pPr marL="12700" marR="5080">
              <a:lnSpc>
                <a:spcPts val="3600"/>
              </a:lnSpc>
              <a:spcBef>
                <a:spcPts val="1019"/>
              </a:spcBef>
            </a:pPr>
            <a:r>
              <a:rPr sz="3600" spc="180" dirty="0">
                <a:solidFill>
                  <a:srgbClr val="F1F2F2"/>
                </a:solidFill>
                <a:latin typeface="Tahoma"/>
                <a:cs typeface="Tahoma"/>
              </a:rPr>
              <a:t>Casuals</a:t>
            </a:r>
            <a:r>
              <a:rPr sz="3600" spc="-130" dirty="0">
                <a:solidFill>
                  <a:srgbClr val="F1F2F2"/>
                </a:solidFill>
                <a:latin typeface="Tahoma"/>
                <a:cs typeface="Tahoma"/>
              </a:rPr>
              <a:t> </a:t>
            </a:r>
            <a:r>
              <a:rPr sz="3600" spc="110" dirty="0">
                <a:solidFill>
                  <a:srgbClr val="F1F2F2"/>
                </a:solidFill>
                <a:latin typeface="Tahoma"/>
                <a:cs typeface="Tahoma"/>
              </a:rPr>
              <a:t>ride</a:t>
            </a:r>
            <a:r>
              <a:rPr sz="3600" spc="-125" dirty="0">
                <a:solidFill>
                  <a:srgbClr val="F1F2F2"/>
                </a:solidFill>
                <a:latin typeface="Tahoma"/>
                <a:cs typeface="Tahoma"/>
              </a:rPr>
              <a:t> </a:t>
            </a:r>
            <a:r>
              <a:rPr sz="3600" spc="110" dirty="0">
                <a:solidFill>
                  <a:srgbClr val="F1F2F2"/>
                </a:solidFill>
                <a:latin typeface="Tahoma"/>
                <a:cs typeface="Tahoma"/>
              </a:rPr>
              <a:t>on </a:t>
            </a:r>
            <a:r>
              <a:rPr sz="3600" spc="125" dirty="0">
                <a:solidFill>
                  <a:srgbClr val="F1F2F2"/>
                </a:solidFill>
                <a:latin typeface="Tahoma"/>
                <a:cs typeface="Tahoma"/>
              </a:rPr>
              <a:t>weekends, </a:t>
            </a:r>
            <a:r>
              <a:rPr sz="3600" spc="145" dirty="0">
                <a:solidFill>
                  <a:srgbClr val="F1F2F2"/>
                </a:solidFill>
                <a:latin typeface="Tahoma"/>
                <a:cs typeface="Tahoma"/>
              </a:rPr>
              <a:t>members</a:t>
            </a:r>
            <a:r>
              <a:rPr sz="3600" spc="-140" dirty="0">
                <a:solidFill>
                  <a:srgbClr val="F1F2F2"/>
                </a:solidFill>
                <a:latin typeface="Tahoma"/>
                <a:cs typeface="Tahoma"/>
              </a:rPr>
              <a:t> </a:t>
            </a:r>
            <a:r>
              <a:rPr sz="3600" spc="110" dirty="0">
                <a:solidFill>
                  <a:srgbClr val="F1F2F2"/>
                </a:solidFill>
                <a:latin typeface="Tahoma"/>
                <a:cs typeface="Tahoma"/>
              </a:rPr>
              <a:t>ride</a:t>
            </a:r>
            <a:r>
              <a:rPr sz="3600" spc="-135" dirty="0">
                <a:solidFill>
                  <a:srgbClr val="F1F2F2"/>
                </a:solidFill>
                <a:latin typeface="Tahoma"/>
                <a:cs typeface="Tahoma"/>
              </a:rPr>
              <a:t> </a:t>
            </a:r>
            <a:r>
              <a:rPr sz="3600" spc="30" dirty="0">
                <a:solidFill>
                  <a:srgbClr val="F1F2F2"/>
                </a:solidFill>
                <a:latin typeface="Tahoma"/>
                <a:cs typeface="Tahoma"/>
              </a:rPr>
              <a:t>all </a:t>
            </a:r>
            <a:r>
              <a:rPr sz="3600" spc="155" dirty="0">
                <a:solidFill>
                  <a:srgbClr val="F1F2F2"/>
                </a:solidFill>
                <a:latin typeface="Tahoma"/>
                <a:cs typeface="Tahoma"/>
              </a:rPr>
              <a:t>week</a:t>
            </a:r>
            <a:endParaRPr sz="3600">
              <a:latin typeface="Tahoma"/>
              <a:cs typeface="Tahoma"/>
            </a:endParaRPr>
          </a:p>
        </p:txBody>
      </p:sp>
      <p:sp>
        <p:nvSpPr>
          <p:cNvPr id="4" name="object 4"/>
          <p:cNvSpPr txBox="1">
            <a:spLocks noGrp="1"/>
          </p:cNvSpPr>
          <p:nvPr>
            <p:ph type="title"/>
          </p:nvPr>
        </p:nvSpPr>
        <p:spPr>
          <a:prstGeom prst="rect">
            <a:avLst/>
          </a:prstGeom>
        </p:spPr>
        <p:txBody>
          <a:bodyPr vert="horz" wrap="square" lIns="0" tIns="107950" rIns="0" bIns="0" rtlCol="0">
            <a:spAutoFit/>
          </a:bodyPr>
          <a:lstStyle/>
          <a:p>
            <a:pPr marL="12700">
              <a:lnSpc>
                <a:spcPct val="100000"/>
              </a:lnSpc>
              <a:spcBef>
                <a:spcPts val="100"/>
              </a:spcBef>
            </a:pPr>
            <a:r>
              <a:rPr dirty="0"/>
              <a:t>%</a:t>
            </a:r>
            <a:r>
              <a:rPr spc="-100" dirty="0"/>
              <a:t> </a:t>
            </a:r>
            <a:r>
              <a:rPr spc="114" dirty="0"/>
              <a:t>of</a:t>
            </a:r>
            <a:r>
              <a:rPr spc="-95" dirty="0"/>
              <a:t> </a:t>
            </a:r>
            <a:r>
              <a:rPr dirty="0"/>
              <a:t>total</a:t>
            </a:r>
            <a:r>
              <a:rPr spc="-95" dirty="0"/>
              <a:t> </a:t>
            </a:r>
            <a:r>
              <a:rPr spc="85" dirty="0"/>
              <a:t>rides</a:t>
            </a:r>
            <a:r>
              <a:rPr spc="-100" dirty="0"/>
              <a:t> </a:t>
            </a:r>
            <a:r>
              <a:rPr spc="100" dirty="0"/>
              <a:t>by</a:t>
            </a:r>
            <a:r>
              <a:rPr spc="-95" dirty="0"/>
              <a:t> </a:t>
            </a:r>
            <a:r>
              <a:rPr spc="90" dirty="0"/>
              <a:t>day</a:t>
            </a:r>
            <a:r>
              <a:rPr spc="-95" dirty="0"/>
              <a:t> </a:t>
            </a:r>
            <a:r>
              <a:rPr spc="195" dirty="0"/>
              <a:t>—</a:t>
            </a:r>
            <a:r>
              <a:rPr spc="-100" dirty="0"/>
              <a:t> </a:t>
            </a:r>
            <a:r>
              <a:rPr spc="105" dirty="0"/>
              <a:t>Casual</a:t>
            </a:r>
            <a:r>
              <a:rPr spc="-95" dirty="0"/>
              <a:t> </a:t>
            </a:r>
            <a:r>
              <a:rPr spc="80" dirty="0"/>
              <a:t>vs.</a:t>
            </a:r>
            <a:r>
              <a:rPr spc="-95" dirty="0"/>
              <a:t> </a:t>
            </a:r>
            <a:r>
              <a:rPr spc="105" dirty="0"/>
              <a:t>Member</a:t>
            </a:r>
          </a:p>
        </p:txBody>
      </p:sp>
      <p:sp>
        <p:nvSpPr>
          <p:cNvPr id="5" name="object 5"/>
          <p:cNvSpPr txBox="1"/>
          <p:nvPr/>
        </p:nvSpPr>
        <p:spPr>
          <a:xfrm>
            <a:off x="492125" y="5788025"/>
            <a:ext cx="4017010" cy="939800"/>
          </a:xfrm>
          <a:prstGeom prst="rect">
            <a:avLst/>
          </a:prstGeom>
        </p:spPr>
        <p:txBody>
          <a:bodyPr vert="horz" wrap="square" lIns="0" tIns="12700" rIns="0" bIns="0" rtlCol="0">
            <a:spAutoFit/>
          </a:bodyPr>
          <a:lstStyle/>
          <a:p>
            <a:pPr marL="12700" marR="5080">
              <a:lnSpc>
                <a:spcPct val="100000"/>
              </a:lnSpc>
              <a:spcBef>
                <a:spcPts val="100"/>
              </a:spcBef>
            </a:pPr>
            <a:r>
              <a:rPr sz="1500" spc="90" dirty="0">
                <a:solidFill>
                  <a:srgbClr val="B7B7B7"/>
                </a:solidFill>
                <a:latin typeface="Tahoma"/>
                <a:cs typeface="Tahoma"/>
              </a:rPr>
              <a:t>Members</a:t>
            </a:r>
            <a:r>
              <a:rPr sz="1500" spc="55" dirty="0">
                <a:solidFill>
                  <a:srgbClr val="B7B7B7"/>
                </a:solidFill>
                <a:latin typeface="Tahoma"/>
                <a:cs typeface="Tahoma"/>
              </a:rPr>
              <a:t> </a:t>
            </a:r>
            <a:r>
              <a:rPr sz="1500" spc="60" dirty="0">
                <a:solidFill>
                  <a:srgbClr val="B7B7B7"/>
                </a:solidFill>
                <a:latin typeface="Tahoma"/>
                <a:cs typeface="Tahoma"/>
              </a:rPr>
              <a:t>commute </a:t>
            </a:r>
            <a:r>
              <a:rPr sz="1500" spc="55" dirty="0">
                <a:solidFill>
                  <a:srgbClr val="B7B7B7"/>
                </a:solidFill>
                <a:latin typeface="Tahoma"/>
                <a:cs typeface="Tahoma"/>
              </a:rPr>
              <a:t>steadily</a:t>
            </a:r>
            <a:r>
              <a:rPr sz="1500" spc="60" dirty="0">
                <a:solidFill>
                  <a:srgbClr val="B7B7B7"/>
                </a:solidFill>
                <a:latin typeface="Tahoma"/>
                <a:cs typeface="Tahoma"/>
              </a:rPr>
              <a:t> </a:t>
            </a:r>
            <a:r>
              <a:rPr sz="1500" dirty="0">
                <a:solidFill>
                  <a:srgbClr val="B7B7B7"/>
                </a:solidFill>
                <a:latin typeface="Tahoma"/>
                <a:cs typeface="Tahoma"/>
              </a:rPr>
              <a:t>Mon–Fri.</a:t>
            </a:r>
            <a:r>
              <a:rPr sz="1500" spc="60" dirty="0">
                <a:solidFill>
                  <a:srgbClr val="B7B7B7"/>
                </a:solidFill>
                <a:latin typeface="Tahoma"/>
                <a:cs typeface="Tahoma"/>
              </a:rPr>
              <a:t> </a:t>
            </a:r>
            <a:r>
              <a:rPr sz="1500" spc="65" dirty="0">
                <a:solidFill>
                  <a:srgbClr val="B7B7B7"/>
                </a:solidFill>
                <a:latin typeface="Tahoma"/>
                <a:cs typeface="Tahoma"/>
              </a:rPr>
              <a:t>Casual </a:t>
            </a:r>
            <a:r>
              <a:rPr sz="1500" spc="60" dirty="0">
                <a:solidFill>
                  <a:srgbClr val="B7B7B7"/>
                </a:solidFill>
                <a:latin typeface="Tahoma"/>
                <a:cs typeface="Tahoma"/>
              </a:rPr>
              <a:t>riders</a:t>
            </a:r>
            <a:r>
              <a:rPr sz="1500" spc="-40" dirty="0">
                <a:solidFill>
                  <a:srgbClr val="B7B7B7"/>
                </a:solidFill>
                <a:latin typeface="Tahoma"/>
                <a:cs typeface="Tahoma"/>
              </a:rPr>
              <a:t> </a:t>
            </a:r>
            <a:r>
              <a:rPr sz="1500" spc="75" dirty="0">
                <a:solidFill>
                  <a:srgbClr val="B7B7B7"/>
                </a:solidFill>
                <a:latin typeface="Tahoma"/>
                <a:cs typeface="Tahoma"/>
              </a:rPr>
              <a:t>peak</a:t>
            </a:r>
            <a:r>
              <a:rPr sz="1500" spc="-35" dirty="0">
                <a:solidFill>
                  <a:srgbClr val="B7B7B7"/>
                </a:solidFill>
                <a:latin typeface="Tahoma"/>
                <a:cs typeface="Tahoma"/>
              </a:rPr>
              <a:t> </a:t>
            </a:r>
            <a:r>
              <a:rPr sz="1500" spc="65" dirty="0">
                <a:solidFill>
                  <a:srgbClr val="B7B7B7"/>
                </a:solidFill>
                <a:latin typeface="Tahoma"/>
                <a:cs typeface="Tahoma"/>
              </a:rPr>
              <a:t>on</a:t>
            </a:r>
            <a:r>
              <a:rPr sz="1500" spc="-40" dirty="0">
                <a:solidFill>
                  <a:srgbClr val="B7B7B7"/>
                </a:solidFill>
                <a:latin typeface="Tahoma"/>
                <a:cs typeface="Tahoma"/>
              </a:rPr>
              <a:t> </a:t>
            </a:r>
            <a:r>
              <a:rPr sz="1500" spc="65" dirty="0">
                <a:solidFill>
                  <a:srgbClr val="B7B7B7"/>
                </a:solidFill>
                <a:latin typeface="Tahoma"/>
                <a:cs typeface="Tahoma"/>
              </a:rPr>
              <a:t>weekends.</a:t>
            </a:r>
            <a:r>
              <a:rPr sz="1500" spc="-35" dirty="0">
                <a:solidFill>
                  <a:srgbClr val="B7B7B7"/>
                </a:solidFill>
                <a:latin typeface="Tahoma"/>
                <a:cs typeface="Tahoma"/>
              </a:rPr>
              <a:t> </a:t>
            </a:r>
            <a:r>
              <a:rPr sz="1500" spc="55" dirty="0">
                <a:solidFill>
                  <a:srgbClr val="B7B7B7"/>
                </a:solidFill>
                <a:latin typeface="Tahoma"/>
                <a:cs typeface="Tahoma"/>
              </a:rPr>
              <a:t>Weekend</a:t>
            </a:r>
            <a:endParaRPr sz="1500" dirty="0">
              <a:latin typeface="Tahoma"/>
              <a:cs typeface="Tahoma"/>
            </a:endParaRPr>
          </a:p>
          <a:p>
            <a:pPr marL="12700" marR="60960">
              <a:lnSpc>
                <a:spcPct val="100000"/>
              </a:lnSpc>
            </a:pPr>
            <a:r>
              <a:rPr sz="1500" spc="70" dirty="0">
                <a:solidFill>
                  <a:srgbClr val="B7B7B7"/>
                </a:solidFill>
                <a:latin typeface="Tahoma"/>
                <a:cs typeface="Tahoma"/>
              </a:rPr>
              <a:t>campaigns</a:t>
            </a:r>
            <a:r>
              <a:rPr sz="1500" spc="-40" dirty="0">
                <a:solidFill>
                  <a:srgbClr val="B7B7B7"/>
                </a:solidFill>
                <a:latin typeface="Tahoma"/>
                <a:cs typeface="Tahoma"/>
              </a:rPr>
              <a:t> </a:t>
            </a:r>
            <a:r>
              <a:rPr sz="1500" spc="90" dirty="0">
                <a:solidFill>
                  <a:srgbClr val="B7B7B7"/>
                </a:solidFill>
                <a:latin typeface="Tahoma"/>
                <a:cs typeface="Tahoma"/>
              </a:rPr>
              <a:t>can</a:t>
            </a:r>
            <a:r>
              <a:rPr sz="1500" spc="-40" dirty="0">
                <a:solidFill>
                  <a:srgbClr val="B7B7B7"/>
                </a:solidFill>
                <a:latin typeface="Tahoma"/>
                <a:cs typeface="Tahoma"/>
              </a:rPr>
              <a:t> </a:t>
            </a:r>
            <a:r>
              <a:rPr sz="1500" spc="55" dirty="0">
                <a:solidFill>
                  <a:srgbClr val="B7B7B7"/>
                </a:solidFill>
                <a:latin typeface="Tahoma"/>
                <a:cs typeface="Tahoma"/>
              </a:rPr>
              <a:t>convert </a:t>
            </a:r>
            <a:r>
              <a:rPr lang="en-US" sz="1500" spc="50" dirty="0">
                <a:solidFill>
                  <a:srgbClr val="B7B7B7"/>
                </a:solidFill>
                <a:latin typeface="Tahoma"/>
                <a:cs typeface="Tahoma"/>
              </a:rPr>
              <a:t>these casuals </a:t>
            </a:r>
            <a:r>
              <a:rPr sz="1500" dirty="0">
                <a:solidFill>
                  <a:srgbClr val="B7B7B7"/>
                </a:solidFill>
                <a:latin typeface="Tahoma"/>
                <a:cs typeface="Tahoma"/>
              </a:rPr>
              <a:t>into</a:t>
            </a:r>
            <a:r>
              <a:rPr sz="1500" spc="5" dirty="0">
                <a:solidFill>
                  <a:srgbClr val="B7B7B7"/>
                </a:solidFill>
                <a:latin typeface="Tahoma"/>
                <a:cs typeface="Tahoma"/>
              </a:rPr>
              <a:t> </a:t>
            </a:r>
            <a:r>
              <a:rPr sz="1500" spc="45" dirty="0">
                <a:solidFill>
                  <a:srgbClr val="B7B7B7"/>
                </a:solidFill>
                <a:latin typeface="Tahoma"/>
                <a:cs typeface="Tahoma"/>
              </a:rPr>
              <a:t>members.</a:t>
            </a:r>
            <a:endParaRPr sz="1500" dirty="0">
              <a:latin typeface="Tahoma"/>
              <a:cs typeface="Tahoma"/>
            </a:endParaRPr>
          </a:p>
        </p:txBody>
      </p:sp>
      <p:sp>
        <p:nvSpPr>
          <p:cNvPr id="6" name="object 6"/>
          <p:cNvSpPr/>
          <p:nvPr/>
        </p:nvSpPr>
        <p:spPr>
          <a:xfrm>
            <a:off x="6015036" y="1652587"/>
            <a:ext cx="742950" cy="238125"/>
          </a:xfrm>
          <a:custGeom>
            <a:avLst/>
            <a:gdLst/>
            <a:ahLst/>
            <a:cxnLst/>
            <a:rect l="l" t="t" r="r" b="b"/>
            <a:pathLst>
              <a:path w="742950" h="238125">
                <a:moveTo>
                  <a:pt x="0" y="119062"/>
                </a:moveTo>
                <a:lnTo>
                  <a:pt x="6071" y="80721"/>
                </a:lnTo>
                <a:lnTo>
                  <a:pt x="9062" y="73498"/>
                </a:lnTo>
                <a:lnTo>
                  <a:pt x="12054" y="66276"/>
                </a:lnTo>
                <a:lnTo>
                  <a:pt x="15722" y="59414"/>
                </a:lnTo>
                <a:lnTo>
                  <a:pt x="20065" y="52914"/>
                </a:lnTo>
                <a:lnTo>
                  <a:pt x="24408" y="46414"/>
                </a:lnTo>
                <a:lnTo>
                  <a:pt x="29344" y="40400"/>
                </a:lnTo>
                <a:lnTo>
                  <a:pt x="34872" y="34872"/>
                </a:lnTo>
                <a:lnTo>
                  <a:pt x="40400" y="29344"/>
                </a:lnTo>
                <a:lnTo>
                  <a:pt x="46414" y="24408"/>
                </a:lnTo>
                <a:lnTo>
                  <a:pt x="52914" y="20065"/>
                </a:lnTo>
                <a:lnTo>
                  <a:pt x="59414" y="15722"/>
                </a:lnTo>
                <a:lnTo>
                  <a:pt x="66276" y="12054"/>
                </a:lnTo>
                <a:lnTo>
                  <a:pt x="73498" y="9062"/>
                </a:lnTo>
                <a:lnTo>
                  <a:pt x="80721" y="6071"/>
                </a:lnTo>
                <a:lnTo>
                  <a:pt x="88166" y="3812"/>
                </a:lnTo>
                <a:lnTo>
                  <a:pt x="95834" y="2287"/>
                </a:lnTo>
                <a:lnTo>
                  <a:pt x="103501" y="762"/>
                </a:lnTo>
                <a:lnTo>
                  <a:pt x="111244" y="0"/>
                </a:lnTo>
                <a:lnTo>
                  <a:pt x="119063" y="0"/>
                </a:lnTo>
                <a:lnTo>
                  <a:pt x="623887" y="0"/>
                </a:lnTo>
                <a:lnTo>
                  <a:pt x="631705" y="0"/>
                </a:lnTo>
                <a:lnTo>
                  <a:pt x="639447" y="762"/>
                </a:lnTo>
                <a:lnTo>
                  <a:pt x="676673" y="12054"/>
                </a:lnTo>
                <a:lnTo>
                  <a:pt x="690035" y="20065"/>
                </a:lnTo>
                <a:lnTo>
                  <a:pt x="696535" y="24408"/>
                </a:lnTo>
                <a:lnTo>
                  <a:pt x="702549" y="29344"/>
                </a:lnTo>
                <a:lnTo>
                  <a:pt x="708077" y="34872"/>
                </a:lnTo>
                <a:lnTo>
                  <a:pt x="713605" y="40400"/>
                </a:lnTo>
                <a:lnTo>
                  <a:pt x="718540" y="46414"/>
                </a:lnTo>
                <a:lnTo>
                  <a:pt x="722883" y="52914"/>
                </a:lnTo>
                <a:lnTo>
                  <a:pt x="727226" y="59414"/>
                </a:lnTo>
                <a:lnTo>
                  <a:pt x="740661" y="95834"/>
                </a:lnTo>
                <a:lnTo>
                  <a:pt x="742187" y="103501"/>
                </a:lnTo>
                <a:lnTo>
                  <a:pt x="742949" y="111244"/>
                </a:lnTo>
                <a:lnTo>
                  <a:pt x="742950" y="119062"/>
                </a:lnTo>
                <a:lnTo>
                  <a:pt x="742949" y="126880"/>
                </a:lnTo>
                <a:lnTo>
                  <a:pt x="742187" y="134622"/>
                </a:lnTo>
                <a:lnTo>
                  <a:pt x="740661" y="142290"/>
                </a:lnTo>
                <a:lnTo>
                  <a:pt x="739136" y="149957"/>
                </a:lnTo>
                <a:lnTo>
                  <a:pt x="722884" y="185209"/>
                </a:lnTo>
                <a:lnTo>
                  <a:pt x="718540" y="191710"/>
                </a:lnTo>
                <a:lnTo>
                  <a:pt x="690035" y="218059"/>
                </a:lnTo>
                <a:lnTo>
                  <a:pt x="654782" y="234311"/>
                </a:lnTo>
                <a:lnTo>
                  <a:pt x="623887" y="238124"/>
                </a:lnTo>
                <a:lnTo>
                  <a:pt x="119063" y="238124"/>
                </a:lnTo>
                <a:lnTo>
                  <a:pt x="80721" y="232053"/>
                </a:lnTo>
                <a:lnTo>
                  <a:pt x="73498" y="229061"/>
                </a:lnTo>
                <a:lnTo>
                  <a:pt x="66276" y="226069"/>
                </a:lnTo>
                <a:lnTo>
                  <a:pt x="59414" y="222402"/>
                </a:lnTo>
                <a:lnTo>
                  <a:pt x="52914" y="218058"/>
                </a:lnTo>
                <a:lnTo>
                  <a:pt x="46414" y="213715"/>
                </a:lnTo>
                <a:lnTo>
                  <a:pt x="40400" y="208780"/>
                </a:lnTo>
                <a:lnTo>
                  <a:pt x="34872" y="203252"/>
                </a:lnTo>
                <a:lnTo>
                  <a:pt x="29344" y="197724"/>
                </a:lnTo>
                <a:lnTo>
                  <a:pt x="24408" y="191710"/>
                </a:lnTo>
                <a:lnTo>
                  <a:pt x="20065" y="185209"/>
                </a:lnTo>
                <a:lnTo>
                  <a:pt x="15722" y="178709"/>
                </a:lnTo>
                <a:lnTo>
                  <a:pt x="12054" y="171848"/>
                </a:lnTo>
                <a:lnTo>
                  <a:pt x="9062" y="164625"/>
                </a:lnTo>
                <a:lnTo>
                  <a:pt x="6071" y="157402"/>
                </a:lnTo>
                <a:lnTo>
                  <a:pt x="3812" y="149957"/>
                </a:lnTo>
                <a:lnTo>
                  <a:pt x="2287"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7" name="object 7"/>
          <p:cNvSpPr txBox="1"/>
          <p:nvPr/>
        </p:nvSpPr>
        <p:spPr>
          <a:xfrm>
            <a:off x="6273799" y="1659370"/>
            <a:ext cx="39751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Segoe UI Symbol"/>
                <a:cs typeface="Segoe UI Symbol"/>
              </a:rPr>
              <a:t>C</a:t>
            </a:r>
            <a:r>
              <a:rPr sz="950" spc="-10" dirty="0">
                <a:solidFill>
                  <a:srgbClr val="FFFFFF"/>
                </a:solidFill>
                <a:latin typeface="Trebuchet MS"/>
                <a:cs typeface="Trebuchet MS"/>
              </a:rPr>
              <a:t>a</a:t>
            </a:r>
            <a:r>
              <a:rPr sz="1050" spc="-10" dirty="0">
                <a:solidFill>
                  <a:srgbClr val="FFFFFF"/>
                </a:solidFill>
                <a:latin typeface="Trebuchet MS"/>
                <a:cs typeface="Trebuchet MS"/>
              </a:rPr>
              <a:t>su</a:t>
            </a:r>
            <a:r>
              <a:rPr sz="950" spc="-10" dirty="0">
                <a:solidFill>
                  <a:srgbClr val="FFFFFF"/>
                </a:solidFill>
                <a:latin typeface="Trebuchet MS"/>
                <a:cs typeface="Trebuchet MS"/>
              </a:rPr>
              <a:t>al</a:t>
            </a:r>
            <a:endParaRPr sz="950">
              <a:latin typeface="Trebuchet MS"/>
              <a:cs typeface="Trebuchet MS"/>
            </a:endParaRPr>
          </a:p>
        </p:txBody>
      </p:sp>
      <p:sp>
        <p:nvSpPr>
          <p:cNvPr id="8" name="object 8"/>
          <p:cNvSpPr/>
          <p:nvPr/>
        </p:nvSpPr>
        <p:spPr>
          <a:xfrm>
            <a:off x="6862760" y="1652587"/>
            <a:ext cx="828675" cy="238125"/>
          </a:xfrm>
          <a:custGeom>
            <a:avLst/>
            <a:gdLst/>
            <a:ahLst/>
            <a:cxnLst/>
            <a:rect l="l" t="t" r="r" b="b"/>
            <a:pathLst>
              <a:path w="828675" h="238125">
                <a:moveTo>
                  <a:pt x="0" y="119062"/>
                </a:moveTo>
                <a:lnTo>
                  <a:pt x="6071" y="80721"/>
                </a:lnTo>
                <a:lnTo>
                  <a:pt x="9063" y="73498"/>
                </a:lnTo>
                <a:lnTo>
                  <a:pt x="12054" y="66276"/>
                </a:lnTo>
                <a:lnTo>
                  <a:pt x="15722" y="59414"/>
                </a:lnTo>
                <a:lnTo>
                  <a:pt x="20065" y="52914"/>
                </a:lnTo>
                <a:lnTo>
                  <a:pt x="24408" y="46414"/>
                </a:lnTo>
                <a:lnTo>
                  <a:pt x="29344" y="40400"/>
                </a:lnTo>
                <a:lnTo>
                  <a:pt x="34872" y="34872"/>
                </a:lnTo>
                <a:lnTo>
                  <a:pt x="40401" y="29344"/>
                </a:lnTo>
                <a:lnTo>
                  <a:pt x="46414" y="24408"/>
                </a:lnTo>
                <a:lnTo>
                  <a:pt x="52914" y="20065"/>
                </a:lnTo>
                <a:lnTo>
                  <a:pt x="59414" y="15722"/>
                </a:lnTo>
                <a:lnTo>
                  <a:pt x="95834" y="2287"/>
                </a:lnTo>
                <a:lnTo>
                  <a:pt x="111244" y="0"/>
                </a:lnTo>
                <a:lnTo>
                  <a:pt x="119063" y="0"/>
                </a:lnTo>
                <a:lnTo>
                  <a:pt x="709612" y="0"/>
                </a:lnTo>
                <a:lnTo>
                  <a:pt x="717430" y="0"/>
                </a:lnTo>
                <a:lnTo>
                  <a:pt x="725173" y="762"/>
                </a:lnTo>
                <a:lnTo>
                  <a:pt x="762398" y="12054"/>
                </a:lnTo>
                <a:lnTo>
                  <a:pt x="775760" y="20065"/>
                </a:lnTo>
                <a:lnTo>
                  <a:pt x="782260" y="24408"/>
                </a:lnTo>
                <a:lnTo>
                  <a:pt x="788274" y="29344"/>
                </a:lnTo>
                <a:lnTo>
                  <a:pt x="793802" y="34872"/>
                </a:lnTo>
                <a:lnTo>
                  <a:pt x="799330" y="40400"/>
                </a:lnTo>
                <a:lnTo>
                  <a:pt x="804265" y="46414"/>
                </a:lnTo>
                <a:lnTo>
                  <a:pt x="808608" y="52914"/>
                </a:lnTo>
                <a:lnTo>
                  <a:pt x="812951" y="59414"/>
                </a:lnTo>
                <a:lnTo>
                  <a:pt x="826387" y="95834"/>
                </a:lnTo>
                <a:lnTo>
                  <a:pt x="828675" y="111244"/>
                </a:lnTo>
                <a:lnTo>
                  <a:pt x="828675" y="119062"/>
                </a:lnTo>
                <a:lnTo>
                  <a:pt x="828675" y="126880"/>
                </a:lnTo>
                <a:lnTo>
                  <a:pt x="819611" y="164625"/>
                </a:lnTo>
                <a:lnTo>
                  <a:pt x="799330" y="197724"/>
                </a:lnTo>
                <a:lnTo>
                  <a:pt x="775759" y="218059"/>
                </a:lnTo>
                <a:lnTo>
                  <a:pt x="769259" y="222402"/>
                </a:lnTo>
                <a:lnTo>
                  <a:pt x="732840" y="235837"/>
                </a:lnTo>
                <a:lnTo>
                  <a:pt x="709612" y="238124"/>
                </a:lnTo>
                <a:lnTo>
                  <a:pt x="119063" y="238124"/>
                </a:lnTo>
                <a:lnTo>
                  <a:pt x="80721" y="232053"/>
                </a:lnTo>
                <a:lnTo>
                  <a:pt x="52914" y="218058"/>
                </a:lnTo>
                <a:lnTo>
                  <a:pt x="46414" y="213715"/>
                </a:lnTo>
                <a:lnTo>
                  <a:pt x="20065" y="185209"/>
                </a:lnTo>
                <a:lnTo>
                  <a:pt x="15722" y="178709"/>
                </a:lnTo>
                <a:lnTo>
                  <a:pt x="12054" y="171848"/>
                </a:lnTo>
                <a:lnTo>
                  <a:pt x="9063" y="164625"/>
                </a:lnTo>
                <a:lnTo>
                  <a:pt x="6071" y="157402"/>
                </a:lnTo>
                <a:lnTo>
                  <a:pt x="3813" y="149957"/>
                </a:lnTo>
                <a:lnTo>
                  <a:pt x="2288"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9" name="object 9"/>
          <p:cNvSpPr txBox="1"/>
          <p:nvPr/>
        </p:nvSpPr>
        <p:spPr>
          <a:xfrm>
            <a:off x="7121971" y="1659370"/>
            <a:ext cx="47879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Trebuchet MS"/>
                <a:cs typeface="Trebuchet MS"/>
              </a:rPr>
              <a:t>Membe</a:t>
            </a:r>
            <a:r>
              <a:rPr sz="1050" spc="-10" dirty="0">
                <a:solidFill>
                  <a:srgbClr val="FFFFFF"/>
                </a:solidFill>
                <a:latin typeface="Trebuchet MS"/>
                <a:cs typeface="Trebuchet MS"/>
              </a:rPr>
              <a:t>r</a:t>
            </a:r>
            <a:endParaRPr sz="1050">
              <a:latin typeface="Trebuchet MS"/>
              <a:cs typeface="Trebuchet MS"/>
            </a:endParaRPr>
          </a:p>
        </p:txBody>
      </p:sp>
      <p:grpSp>
        <p:nvGrpSpPr>
          <p:cNvPr id="10" name="object 10"/>
          <p:cNvGrpSpPr/>
          <p:nvPr/>
        </p:nvGrpSpPr>
        <p:grpSpPr>
          <a:xfrm>
            <a:off x="6115049" y="1762124"/>
            <a:ext cx="114300" cy="19050"/>
            <a:chOff x="6115049" y="1762124"/>
            <a:chExt cx="114300" cy="19050"/>
          </a:xfrm>
        </p:grpSpPr>
        <p:sp>
          <p:nvSpPr>
            <p:cNvPr id="11" name="object 11"/>
            <p:cNvSpPr/>
            <p:nvPr/>
          </p:nvSpPr>
          <p:spPr>
            <a:xfrm>
              <a:off x="6115049" y="1762124"/>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5C5EEF"/>
            </a:solidFill>
          </p:spPr>
          <p:txBody>
            <a:bodyPr wrap="square" lIns="0" tIns="0" rIns="0" bIns="0" rtlCol="0"/>
            <a:lstStyle/>
            <a:p>
              <a:endParaRPr/>
            </a:p>
          </p:txBody>
        </p:sp>
        <p:sp>
          <p:nvSpPr>
            <p:cNvPr id="12" name="object 12"/>
            <p:cNvSpPr/>
            <p:nvPr/>
          </p:nvSpPr>
          <p:spPr>
            <a:xfrm>
              <a:off x="6115049" y="1762125"/>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FAFAFA">
                <a:alpha val="12159"/>
              </a:srgbClr>
            </a:solidFill>
          </p:spPr>
          <p:txBody>
            <a:bodyPr wrap="square" lIns="0" tIns="0" rIns="0" bIns="0" rtlCol="0"/>
            <a:lstStyle/>
            <a:p>
              <a:endParaRPr/>
            </a:p>
          </p:txBody>
        </p:sp>
      </p:grpSp>
      <p:grpSp>
        <p:nvGrpSpPr>
          <p:cNvPr id="13" name="object 13"/>
          <p:cNvGrpSpPr/>
          <p:nvPr/>
        </p:nvGrpSpPr>
        <p:grpSpPr>
          <a:xfrm>
            <a:off x="6962774" y="1762124"/>
            <a:ext cx="114300" cy="19050"/>
            <a:chOff x="6962774" y="1762124"/>
            <a:chExt cx="114300" cy="19050"/>
          </a:xfrm>
        </p:grpSpPr>
        <p:sp>
          <p:nvSpPr>
            <p:cNvPr id="14" name="object 14"/>
            <p:cNvSpPr/>
            <p:nvPr/>
          </p:nvSpPr>
          <p:spPr>
            <a:xfrm>
              <a:off x="6962774" y="1762124"/>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090956"/>
            </a:solidFill>
          </p:spPr>
          <p:txBody>
            <a:bodyPr wrap="square" lIns="0" tIns="0" rIns="0" bIns="0" rtlCol="0"/>
            <a:lstStyle/>
            <a:p>
              <a:endParaRPr/>
            </a:p>
          </p:txBody>
        </p:sp>
        <p:sp>
          <p:nvSpPr>
            <p:cNvPr id="15" name="object 15"/>
            <p:cNvSpPr/>
            <p:nvPr/>
          </p:nvSpPr>
          <p:spPr>
            <a:xfrm>
              <a:off x="6962774" y="1762125"/>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FAFAFA">
                <a:alpha val="12159"/>
              </a:srgbClr>
            </a:solidFill>
          </p:spPr>
          <p:txBody>
            <a:bodyPr wrap="square" lIns="0" tIns="0" rIns="0" bIns="0" rtlCol="0"/>
            <a:lstStyle/>
            <a:p>
              <a:endParaRPr/>
            </a:p>
          </p:txBody>
        </p:sp>
      </p:grpSp>
      <p:grpSp>
        <p:nvGrpSpPr>
          <p:cNvPr id="16" name="object 16"/>
          <p:cNvGrpSpPr/>
          <p:nvPr/>
        </p:nvGrpSpPr>
        <p:grpSpPr>
          <a:xfrm>
            <a:off x="6455568" y="2243137"/>
            <a:ext cx="7120255" cy="4514850"/>
            <a:chOff x="6455568" y="2243137"/>
            <a:chExt cx="7120255" cy="4514850"/>
          </a:xfrm>
        </p:grpSpPr>
        <p:sp>
          <p:nvSpPr>
            <p:cNvPr id="17" name="object 17"/>
            <p:cNvSpPr/>
            <p:nvPr/>
          </p:nvSpPr>
          <p:spPr>
            <a:xfrm>
              <a:off x="6467474" y="2247899"/>
              <a:ext cx="7096125" cy="346710"/>
            </a:xfrm>
            <a:custGeom>
              <a:avLst/>
              <a:gdLst/>
              <a:ahLst/>
              <a:cxnLst/>
              <a:rect l="l" t="t" r="r" b="b"/>
              <a:pathLst>
                <a:path w="7096125" h="346710">
                  <a:moveTo>
                    <a:pt x="0" y="346563"/>
                  </a:moveTo>
                  <a:lnTo>
                    <a:pt x="7096124" y="346563"/>
                  </a:lnTo>
                </a:path>
                <a:path w="7096125" h="346710">
                  <a:moveTo>
                    <a:pt x="0" y="0"/>
                  </a:moveTo>
                  <a:lnTo>
                    <a:pt x="7096124" y="0"/>
                  </a:lnTo>
                </a:path>
              </a:pathLst>
            </a:custGeom>
            <a:ln w="9524">
              <a:solidFill>
                <a:srgbClr val="FFFFFF"/>
              </a:solidFill>
            </a:ln>
          </p:spPr>
          <p:txBody>
            <a:bodyPr wrap="square" lIns="0" tIns="0" rIns="0" bIns="0" rtlCol="0"/>
            <a:lstStyle/>
            <a:p>
              <a:endParaRPr/>
            </a:p>
          </p:txBody>
        </p:sp>
        <p:pic>
          <p:nvPicPr>
            <p:cNvPr id="18" name="object 18"/>
            <p:cNvPicPr/>
            <p:nvPr/>
          </p:nvPicPr>
          <p:blipFill>
            <a:blip r:embed="rId2" cstate="print"/>
            <a:stretch>
              <a:fillRect/>
            </a:stretch>
          </p:blipFill>
          <p:spPr>
            <a:xfrm>
              <a:off x="6467474" y="2767745"/>
              <a:ext cx="7096124" cy="3990241"/>
            </a:xfrm>
            <a:prstGeom prst="rect">
              <a:avLst/>
            </a:prstGeom>
          </p:spPr>
        </p:pic>
        <p:pic>
          <p:nvPicPr>
            <p:cNvPr id="19" name="object 19"/>
            <p:cNvPicPr/>
            <p:nvPr/>
          </p:nvPicPr>
          <p:blipFill>
            <a:blip r:embed="rId3" cstate="print"/>
            <a:stretch>
              <a:fillRect/>
            </a:stretch>
          </p:blipFill>
          <p:spPr>
            <a:xfrm>
              <a:off x="6467474" y="3807435"/>
              <a:ext cx="7096124" cy="2945789"/>
            </a:xfrm>
            <a:prstGeom prst="rect">
              <a:avLst/>
            </a:prstGeom>
          </p:spPr>
        </p:pic>
        <p:pic>
          <p:nvPicPr>
            <p:cNvPr id="20" name="object 20"/>
            <p:cNvPicPr/>
            <p:nvPr/>
          </p:nvPicPr>
          <p:blipFill>
            <a:blip r:embed="rId4" cstate="print"/>
            <a:stretch>
              <a:fillRect/>
            </a:stretch>
          </p:blipFill>
          <p:spPr>
            <a:xfrm>
              <a:off x="6455568" y="2724882"/>
              <a:ext cx="7119936" cy="2511669"/>
            </a:xfrm>
            <a:prstGeom prst="rect">
              <a:avLst/>
            </a:prstGeom>
          </p:spPr>
        </p:pic>
        <p:sp>
          <p:nvSpPr>
            <p:cNvPr id="21" name="object 21"/>
            <p:cNvSpPr/>
            <p:nvPr/>
          </p:nvSpPr>
          <p:spPr>
            <a:xfrm>
              <a:off x="6472237" y="6753225"/>
              <a:ext cx="7096125" cy="0"/>
            </a:xfrm>
            <a:custGeom>
              <a:avLst/>
              <a:gdLst/>
              <a:ahLst/>
              <a:cxnLst/>
              <a:rect l="l" t="t" r="r" b="b"/>
              <a:pathLst>
                <a:path w="7096125">
                  <a:moveTo>
                    <a:pt x="0" y="0"/>
                  </a:moveTo>
                  <a:lnTo>
                    <a:pt x="7096124" y="0"/>
                  </a:lnTo>
                </a:path>
              </a:pathLst>
            </a:custGeom>
            <a:ln w="9524">
              <a:solidFill>
                <a:srgbClr val="FFFFFF"/>
              </a:solidFill>
            </a:ln>
          </p:spPr>
          <p:txBody>
            <a:bodyPr wrap="square" lIns="0" tIns="0" rIns="0" bIns="0" rtlCol="0"/>
            <a:lstStyle/>
            <a:p>
              <a:endParaRPr/>
            </a:p>
          </p:txBody>
        </p:sp>
        <p:sp>
          <p:nvSpPr>
            <p:cNvPr id="22" name="object 22"/>
            <p:cNvSpPr/>
            <p:nvPr/>
          </p:nvSpPr>
          <p:spPr>
            <a:xfrm>
              <a:off x="6467474" y="2252662"/>
              <a:ext cx="0" cy="4505325"/>
            </a:xfrm>
            <a:custGeom>
              <a:avLst/>
              <a:gdLst/>
              <a:ahLst/>
              <a:cxnLst/>
              <a:rect l="l" t="t" r="r" b="b"/>
              <a:pathLst>
                <a:path h="4505325">
                  <a:moveTo>
                    <a:pt x="0" y="4505324"/>
                  </a:moveTo>
                  <a:lnTo>
                    <a:pt x="0" y="0"/>
                  </a:lnTo>
                </a:path>
              </a:pathLst>
            </a:custGeom>
            <a:ln w="9524">
              <a:solidFill>
                <a:srgbClr val="FFFFFF"/>
              </a:solidFill>
            </a:ln>
          </p:spPr>
          <p:txBody>
            <a:bodyPr wrap="square" lIns="0" tIns="0" rIns="0" bIns="0" rtlCol="0"/>
            <a:lstStyle/>
            <a:p>
              <a:endParaRPr/>
            </a:p>
          </p:txBody>
        </p:sp>
      </p:grpSp>
      <p:sp>
        <p:nvSpPr>
          <p:cNvPr id="23" name="object 23"/>
          <p:cNvSpPr txBox="1"/>
          <p:nvPr/>
        </p:nvSpPr>
        <p:spPr>
          <a:xfrm>
            <a:off x="6335116" y="6845300"/>
            <a:ext cx="264795"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FFFFFF"/>
                </a:solidFill>
                <a:latin typeface="Tahoma"/>
                <a:cs typeface="Tahoma"/>
              </a:rPr>
              <a:t>Mon</a:t>
            </a:r>
            <a:endParaRPr sz="900">
              <a:latin typeface="Tahoma"/>
              <a:cs typeface="Tahoma"/>
            </a:endParaRPr>
          </a:p>
        </p:txBody>
      </p:sp>
      <p:sp>
        <p:nvSpPr>
          <p:cNvPr id="24" name="object 24"/>
          <p:cNvSpPr txBox="1"/>
          <p:nvPr/>
        </p:nvSpPr>
        <p:spPr>
          <a:xfrm>
            <a:off x="7537648" y="6845300"/>
            <a:ext cx="22542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Tue</a:t>
            </a:r>
            <a:endParaRPr sz="900">
              <a:latin typeface="Tahoma"/>
              <a:cs typeface="Tahoma"/>
            </a:endParaRPr>
          </a:p>
        </p:txBody>
      </p:sp>
      <p:sp>
        <p:nvSpPr>
          <p:cNvPr id="25" name="object 25"/>
          <p:cNvSpPr txBox="1"/>
          <p:nvPr/>
        </p:nvSpPr>
        <p:spPr>
          <a:xfrm>
            <a:off x="8698358" y="6845300"/>
            <a:ext cx="26924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Wed</a:t>
            </a:r>
            <a:endParaRPr sz="900">
              <a:latin typeface="Tahoma"/>
              <a:cs typeface="Tahoma"/>
            </a:endParaRPr>
          </a:p>
        </p:txBody>
      </p:sp>
      <p:sp>
        <p:nvSpPr>
          <p:cNvPr id="26" name="object 26"/>
          <p:cNvSpPr txBox="1"/>
          <p:nvPr/>
        </p:nvSpPr>
        <p:spPr>
          <a:xfrm>
            <a:off x="9898359" y="6845300"/>
            <a:ext cx="23495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Thu</a:t>
            </a:r>
            <a:endParaRPr sz="900">
              <a:latin typeface="Tahoma"/>
              <a:cs typeface="Tahoma"/>
            </a:endParaRPr>
          </a:p>
        </p:txBody>
      </p:sp>
      <p:sp>
        <p:nvSpPr>
          <p:cNvPr id="27" name="object 27"/>
          <p:cNvSpPr txBox="1"/>
          <p:nvPr/>
        </p:nvSpPr>
        <p:spPr>
          <a:xfrm>
            <a:off x="11117410" y="6845300"/>
            <a:ext cx="16192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Fri</a:t>
            </a:r>
            <a:endParaRPr sz="900">
              <a:latin typeface="Tahoma"/>
              <a:cs typeface="Tahoma"/>
            </a:endParaRPr>
          </a:p>
        </p:txBody>
      </p:sp>
      <p:sp>
        <p:nvSpPr>
          <p:cNvPr id="28" name="object 28"/>
          <p:cNvSpPr txBox="1"/>
          <p:nvPr/>
        </p:nvSpPr>
        <p:spPr>
          <a:xfrm>
            <a:off x="12280651" y="6845300"/>
            <a:ext cx="20066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Sat</a:t>
            </a:r>
            <a:endParaRPr sz="900">
              <a:latin typeface="Tahoma"/>
              <a:cs typeface="Tahoma"/>
            </a:endParaRPr>
          </a:p>
        </p:txBody>
      </p:sp>
      <p:sp>
        <p:nvSpPr>
          <p:cNvPr id="29" name="object 29"/>
          <p:cNvSpPr txBox="1"/>
          <p:nvPr/>
        </p:nvSpPr>
        <p:spPr>
          <a:xfrm>
            <a:off x="13446571" y="6845300"/>
            <a:ext cx="23431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Sun</a:t>
            </a:r>
            <a:endParaRPr sz="900">
              <a:latin typeface="Tahoma"/>
              <a:cs typeface="Tahoma"/>
            </a:endParaRPr>
          </a:p>
        </p:txBody>
      </p:sp>
      <p:sp>
        <p:nvSpPr>
          <p:cNvPr id="30" name="object 30"/>
          <p:cNvSpPr txBox="1"/>
          <p:nvPr/>
        </p:nvSpPr>
        <p:spPr>
          <a:xfrm>
            <a:off x="6268292" y="6654800"/>
            <a:ext cx="9779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0</a:t>
            </a:r>
            <a:endParaRPr sz="900">
              <a:latin typeface="Tahoma"/>
              <a:cs typeface="Tahoma"/>
            </a:endParaRPr>
          </a:p>
        </p:txBody>
      </p:sp>
      <p:sp>
        <p:nvSpPr>
          <p:cNvPr id="31" name="object 31"/>
          <p:cNvSpPr txBox="1"/>
          <p:nvPr/>
        </p:nvSpPr>
        <p:spPr>
          <a:xfrm>
            <a:off x="6272608" y="5788322"/>
            <a:ext cx="93345"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FFFFFF"/>
                </a:solidFill>
                <a:latin typeface="Tahoma"/>
                <a:cs typeface="Tahoma"/>
              </a:rPr>
              <a:t>5</a:t>
            </a:r>
            <a:endParaRPr sz="900">
              <a:latin typeface="Tahoma"/>
              <a:cs typeface="Tahoma"/>
            </a:endParaRPr>
          </a:p>
        </p:txBody>
      </p:sp>
      <p:sp>
        <p:nvSpPr>
          <p:cNvPr id="32" name="object 32"/>
          <p:cNvSpPr txBox="1"/>
          <p:nvPr/>
        </p:nvSpPr>
        <p:spPr>
          <a:xfrm>
            <a:off x="6221858" y="4921845"/>
            <a:ext cx="14414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10</a:t>
            </a:r>
            <a:endParaRPr sz="900">
              <a:latin typeface="Tahoma"/>
              <a:cs typeface="Tahoma"/>
            </a:endParaRPr>
          </a:p>
        </p:txBody>
      </p:sp>
      <p:sp>
        <p:nvSpPr>
          <p:cNvPr id="33" name="object 33"/>
          <p:cNvSpPr txBox="1"/>
          <p:nvPr/>
        </p:nvSpPr>
        <p:spPr>
          <a:xfrm>
            <a:off x="6226174" y="4055516"/>
            <a:ext cx="1397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15</a:t>
            </a:r>
            <a:endParaRPr sz="900">
              <a:latin typeface="Tahoma"/>
              <a:cs typeface="Tahoma"/>
            </a:endParaRPr>
          </a:p>
        </p:txBody>
      </p:sp>
      <p:sp>
        <p:nvSpPr>
          <p:cNvPr id="34" name="object 34"/>
          <p:cNvSpPr txBox="1"/>
          <p:nvPr/>
        </p:nvSpPr>
        <p:spPr>
          <a:xfrm>
            <a:off x="6198641" y="3189039"/>
            <a:ext cx="167640"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FFFFFF"/>
                </a:solidFill>
                <a:latin typeface="Tahoma"/>
                <a:cs typeface="Tahoma"/>
              </a:rPr>
              <a:t>20</a:t>
            </a:r>
            <a:endParaRPr sz="900">
              <a:latin typeface="Tahoma"/>
              <a:cs typeface="Tahoma"/>
            </a:endParaRPr>
          </a:p>
        </p:txBody>
      </p:sp>
      <p:sp>
        <p:nvSpPr>
          <p:cNvPr id="35" name="object 35"/>
          <p:cNvSpPr txBox="1"/>
          <p:nvPr/>
        </p:nvSpPr>
        <p:spPr>
          <a:xfrm>
            <a:off x="6202957" y="2322710"/>
            <a:ext cx="16319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25</a:t>
            </a:r>
            <a:endParaRPr sz="900">
              <a:latin typeface="Tahoma"/>
              <a:cs typeface="Tahoma"/>
            </a:endParaRPr>
          </a:p>
        </p:txBody>
      </p:sp>
      <p:sp>
        <p:nvSpPr>
          <p:cNvPr id="36" name="object 36"/>
          <p:cNvSpPr/>
          <p:nvPr/>
        </p:nvSpPr>
        <p:spPr>
          <a:xfrm>
            <a:off x="9648824" y="7134224"/>
            <a:ext cx="428625" cy="266700"/>
          </a:xfrm>
          <a:custGeom>
            <a:avLst/>
            <a:gdLst/>
            <a:ahLst/>
            <a:cxnLst/>
            <a:rect l="l" t="t" r="r" b="b"/>
            <a:pathLst>
              <a:path w="428625" h="266700">
                <a:moveTo>
                  <a:pt x="295274" y="266699"/>
                </a:moveTo>
                <a:lnTo>
                  <a:pt x="133349" y="266699"/>
                </a:lnTo>
                <a:lnTo>
                  <a:pt x="126798" y="266539"/>
                </a:lnTo>
                <a:lnTo>
                  <a:pt x="88430" y="258906"/>
                </a:lnTo>
                <a:lnTo>
                  <a:pt x="53904" y="240452"/>
                </a:lnTo>
                <a:lnTo>
                  <a:pt x="26244" y="212792"/>
                </a:lnTo>
                <a:lnTo>
                  <a:pt x="7789" y="178265"/>
                </a:lnTo>
                <a:lnTo>
                  <a:pt x="159" y="139900"/>
                </a:lnTo>
                <a:lnTo>
                  <a:pt x="0" y="133349"/>
                </a:lnTo>
                <a:lnTo>
                  <a:pt x="159" y="126798"/>
                </a:lnTo>
                <a:lnTo>
                  <a:pt x="7789" y="88432"/>
                </a:lnTo>
                <a:lnTo>
                  <a:pt x="26244" y="53906"/>
                </a:lnTo>
                <a:lnTo>
                  <a:pt x="53905" y="26246"/>
                </a:lnTo>
                <a:lnTo>
                  <a:pt x="88431" y="7791"/>
                </a:lnTo>
                <a:lnTo>
                  <a:pt x="126798" y="160"/>
                </a:lnTo>
                <a:lnTo>
                  <a:pt x="133349" y="0"/>
                </a:lnTo>
                <a:lnTo>
                  <a:pt x="295274" y="0"/>
                </a:lnTo>
                <a:lnTo>
                  <a:pt x="333983" y="5740"/>
                </a:lnTo>
                <a:lnTo>
                  <a:pt x="369358" y="22473"/>
                </a:lnTo>
                <a:lnTo>
                  <a:pt x="398355" y="48752"/>
                </a:lnTo>
                <a:lnTo>
                  <a:pt x="418473" y="82318"/>
                </a:lnTo>
                <a:lnTo>
                  <a:pt x="427984" y="120279"/>
                </a:lnTo>
                <a:lnTo>
                  <a:pt x="428624" y="133349"/>
                </a:lnTo>
                <a:lnTo>
                  <a:pt x="428464" y="139900"/>
                </a:lnTo>
                <a:lnTo>
                  <a:pt x="420832" y="178265"/>
                </a:lnTo>
                <a:lnTo>
                  <a:pt x="402376" y="212792"/>
                </a:lnTo>
                <a:lnTo>
                  <a:pt x="374717" y="240452"/>
                </a:lnTo>
                <a:lnTo>
                  <a:pt x="340190" y="258906"/>
                </a:lnTo>
                <a:lnTo>
                  <a:pt x="301825" y="266539"/>
                </a:lnTo>
                <a:lnTo>
                  <a:pt x="295274" y="266699"/>
                </a:lnTo>
                <a:close/>
              </a:path>
            </a:pathLst>
          </a:custGeom>
          <a:solidFill>
            <a:srgbClr val="FFFFFF">
              <a:alpha val="5879"/>
            </a:srgbClr>
          </a:solidFill>
        </p:spPr>
        <p:txBody>
          <a:bodyPr wrap="square" lIns="0" tIns="0" rIns="0" bIns="0" rtlCol="0"/>
          <a:lstStyle/>
          <a:p>
            <a:endParaRPr/>
          </a:p>
        </p:txBody>
      </p:sp>
      <p:sp>
        <p:nvSpPr>
          <p:cNvPr id="37" name="object 37"/>
          <p:cNvSpPr txBox="1"/>
          <p:nvPr/>
        </p:nvSpPr>
        <p:spPr>
          <a:xfrm>
            <a:off x="9745811" y="7178675"/>
            <a:ext cx="23495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Day</a:t>
            </a:r>
            <a:endParaRPr sz="900">
              <a:latin typeface="Tahoma"/>
              <a:cs typeface="Tahoma"/>
            </a:endParaRPr>
          </a:p>
        </p:txBody>
      </p:sp>
      <p:pic>
        <p:nvPicPr>
          <p:cNvPr id="39" name="Picture 38">
            <a:extLst>
              <a:ext uri="{FF2B5EF4-FFF2-40B4-BE49-F238E27FC236}">
                <a16:creationId xmlns:a16="http://schemas.microsoft.com/office/drawing/2014/main" id="{C99DE37C-9544-C963-EFEE-FC5A553F78E5}"/>
              </a:ext>
            </a:extLst>
          </p:cNvPr>
          <p:cNvPicPr>
            <a:picLocks noChangeAspect="1"/>
          </p:cNvPicPr>
          <p:nvPr/>
        </p:nvPicPr>
        <p:blipFill>
          <a:blip r:embed="rId5"/>
          <a:stretch>
            <a:fillRect/>
          </a:stretch>
        </p:blipFill>
        <p:spPr>
          <a:xfrm>
            <a:off x="5562985" y="1717791"/>
            <a:ext cx="8585062" cy="53905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5181600" cy="8096250"/>
          </a:xfrm>
          <a:custGeom>
            <a:avLst/>
            <a:gdLst/>
            <a:ahLst/>
            <a:cxnLst/>
            <a:rect l="l" t="t" r="r" b="b"/>
            <a:pathLst>
              <a:path w="5181600" h="8096250">
                <a:moveTo>
                  <a:pt x="5181599" y="8096249"/>
                </a:moveTo>
                <a:lnTo>
                  <a:pt x="0" y="8096249"/>
                </a:lnTo>
                <a:lnTo>
                  <a:pt x="0" y="0"/>
                </a:lnTo>
                <a:lnTo>
                  <a:pt x="5181599" y="0"/>
                </a:lnTo>
                <a:lnTo>
                  <a:pt x="5181599" y="8096249"/>
                </a:lnTo>
                <a:close/>
              </a:path>
            </a:pathLst>
          </a:custGeom>
          <a:solidFill>
            <a:srgbClr val="0F1117"/>
          </a:solidFill>
        </p:spPr>
        <p:txBody>
          <a:bodyPr wrap="square" lIns="0" tIns="0" rIns="0" bIns="0" rtlCol="0"/>
          <a:lstStyle/>
          <a:p>
            <a:endParaRPr/>
          </a:p>
        </p:txBody>
      </p:sp>
      <p:sp>
        <p:nvSpPr>
          <p:cNvPr id="3" name="object 3"/>
          <p:cNvSpPr txBox="1"/>
          <p:nvPr/>
        </p:nvSpPr>
        <p:spPr>
          <a:xfrm>
            <a:off x="492125" y="657225"/>
            <a:ext cx="3681095" cy="1771014"/>
          </a:xfrm>
          <a:prstGeom prst="rect">
            <a:avLst/>
          </a:prstGeom>
        </p:spPr>
        <p:txBody>
          <a:bodyPr vert="horz" wrap="square" lIns="0" tIns="28575" rIns="0" bIns="0" rtlCol="0">
            <a:spAutoFit/>
          </a:bodyPr>
          <a:lstStyle/>
          <a:p>
            <a:pPr marL="21590">
              <a:lnSpc>
                <a:spcPct val="100000"/>
              </a:lnSpc>
              <a:spcBef>
                <a:spcPts val="225"/>
              </a:spcBef>
            </a:pPr>
            <a:r>
              <a:rPr sz="1500" spc="55" dirty="0">
                <a:solidFill>
                  <a:srgbClr val="6D6A78"/>
                </a:solidFill>
                <a:latin typeface="Tahoma"/>
                <a:cs typeface="Tahoma"/>
              </a:rPr>
              <a:t>Time</a:t>
            </a:r>
            <a:r>
              <a:rPr sz="1500" spc="-45" dirty="0">
                <a:solidFill>
                  <a:srgbClr val="6D6A78"/>
                </a:solidFill>
                <a:latin typeface="Tahoma"/>
                <a:cs typeface="Tahoma"/>
              </a:rPr>
              <a:t> </a:t>
            </a:r>
            <a:r>
              <a:rPr sz="1500" spc="75" dirty="0">
                <a:solidFill>
                  <a:srgbClr val="6D6A78"/>
                </a:solidFill>
                <a:latin typeface="Tahoma"/>
                <a:cs typeface="Tahoma"/>
              </a:rPr>
              <a:t>of</a:t>
            </a:r>
            <a:r>
              <a:rPr sz="1500" spc="-45" dirty="0">
                <a:solidFill>
                  <a:srgbClr val="6D6A78"/>
                </a:solidFill>
                <a:latin typeface="Tahoma"/>
                <a:cs typeface="Tahoma"/>
              </a:rPr>
              <a:t> </a:t>
            </a:r>
            <a:r>
              <a:rPr sz="1500" spc="45" dirty="0">
                <a:solidFill>
                  <a:srgbClr val="6D6A78"/>
                </a:solidFill>
                <a:latin typeface="Tahoma"/>
                <a:cs typeface="Tahoma"/>
              </a:rPr>
              <a:t>day</a:t>
            </a:r>
            <a:endParaRPr sz="1500">
              <a:latin typeface="Tahoma"/>
              <a:cs typeface="Tahoma"/>
            </a:endParaRPr>
          </a:p>
          <a:p>
            <a:pPr marL="12700" marR="5080">
              <a:lnSpc>
                <a:spcPts val="3600"/>
              </a:lnSpc>
              <a:spcBef>
                <a:spcPts val="1019"/>
              </a:spcBef>
            </a:pPr>
            <a:r>
              <a:rPr sz="3600" spc="180" dirty="0">
                <a:solidFill>
                  <a:srgbClr val="F1F2F2"/>
                </a:solidFill>
                <a:latin typeface="Tahoma"/>
                <a:cs typeface="Tahoma"/>
              </a:rPr>
              <a:t>Casuals</a:t>
            </a:r>
            <a:r>
              <a:rPr sz="3600" spc="-130" dirty="0">
                <a:solidFill>
                  <a:srgbClr val="F1F2F2"/>
                </a:solidFill>
                <a:latin typeface="Tahoma"/>
                <a:cs typeface="Tahoma"/>
              </a:rPr>
              <a:t> </a:t>
            </a:r>
            <a:r>
              <a:rPr sz="3600" spc="95" dirty="0">
                <a:solidFill>
                  <a:srgbClr val="F1F2F2"/>
                </a:solidFill>
                <a:latin typeface="Tahoma"/>
                <a:cs typeface="Tahoma"/>
              </a:rPr>
              <a:t>prefer</a:t>
            </a:r>
            <a:r>
              <a:rPr sz="3600" spc="-125" dirty="0">
                <a:solidFill>
                  <a:srgbClr val="F1F2F2"/>
                </a:solidFill>
                <a:latin typeface="Tahoma"/>
                <a:cs typeface="Tahoma"/>
              </a:rPr>
              <a:t> </a:t>
            </a:r>
            <a:r>
              <a:rPr sz="3600" spc="30" dirty="0">
                <a:solidFill>
                  <a:srgbClr val="F1F2F2"/>
                </a:solidFill>
                <a:latin typeface="Tahoma"/>
                <a:cs typeface="Tahoma"/>
              </a:rPr>
              <a:t>to </a:t>
            </a:r>
            <a:r>
              <a:rPr sz="3600" spc="110" dirty="0">
                <a:solidFill>
                  <a:srgbClr val="F1F2F2"/>
                </a:solidFill>
                <a:latin typeface="Tahoma"/>
                <a:cs typeface="Tahoma"/>
              </a:rPr>
              <a:t>ride</a:t>
            </a:r>
            <a:r>
              <a:rPr sz="3600" spc="-145" dirty="0">
                <a:solidFill>
                  <a:srgbClr val="F1F2F2"/>
                </a:solidFill>
                <a:latin typeface="Tahoma"/>
                <a:cs typeface="Tahoma"/>
              </a:rPr>
              <a:t> </a:t>
            </a:r>
            <a:r>
              <a:rPr sz="3600" spc="60" dirty="0">
                <a:solidFill>
                  <a:srgbClr val="F1F2F2"/>
                </a:solidFill>
                <a:latin typeface="Tahoma"/>
                <a:cs typeface="Tahoma"/>
              </a:rPr>
              <a:t>in</a:t>
            </a:r>
            <a:r>
              <a:rPr sz="3600" spc="-140" dirty="0">
                <a:solidFill>
                  <a:srgbClr val="F1F2F2"/>
                </a:solidFill>
                <a:latin typeface="Tahoma"/>
                <a:cs typeface="Tahoma"/>
              </a:rPr>
              <a:t> </a:t>
            </a:r>
            <a:r>
              <a:rPr sz="3600" spc="50" dirty="0">
                <a:solidFill>
                  <a:srgbClr val="F1F2F2"/>
                </a:solidFill>
                <a:latin typeface="Tahoma"/>
                <a:cs typeface="Tahoma"/>
              </a:rPr>
              <a:t>the </a:t>
            </a:r>
            <a:r>
              <a:rPr sz="3600" spc="80" dirty="0">
                <a:solidFill>
                  <a:srgbClr val="F1F2F2"/>
                </a:solidFill>
                <a:latin typeface="Tahoma"/>
                <a:cs typeface="Tahoma"/>
              </a:rPr>
              <a:t>afternoon</a:t>
            </a:r>
            <a:endParaRPr sz="3600">
              <a:latin typeface="Tahoma"/>
              <a:cs typeface="Tahoma"/>
            </a:endParaRPr>
          </a:p>
        </p:txBody>
      </p:sp>
      <p:sp>
        <p:nvSpPr>
          <p:cNvPr id="4" name="object 4"/>
          <p:cNvSpPr txBox="1"/>
          <p:nvPr/>
        </p:nvSpPr>
        <p:spPr>
          <a:xfrm>
            <a:off x="487362" y="5796825"/>
            <a:ext cx="4212590" cy="711200"/>
          </a:xfrm>
          <a:prstGeom prst="rect">
            <a:avLst/>
          </a:prstGeom>
        </p:spPr>
        <p:txBody>
          <a:bodyPr vert="horz" wrap="square" lIns="0" tIns="12700" rIns="0" bIns="0" rtlCol="0">
            <a:spAutoFit/>
          </a:bodyPr>
          <a:lstStyle/>
          <a:p>
            <a:pPr marL="12700" marR="5080">
              <a:lnSpc>
                <a:spcPct val="100000"/>
              </a:lnSpc>
              <a:spcBef>
                <a:spcPts val="100"/>
              </a:spcBef>
            </a:pPr>
            <a:r>
              <a:rPr sz="1500" spc="55" dirty="0">
                <a:solidFill>
                  <a:srgbClr val="B7B7B7"/>
                </a:solidFill>
                <a:latin typeface="Tahoma"/>
                <a:cs typeface="Tahoma"/>
              </a:rPr>
              <a:t>Afternoon</a:t>
            </a:r>
            <a:r>
              <a:rPr sz="1500" spc="-35" dirty="0">
                <a:solidFill>
                  <a:srgbClr val="B7B7B7"/>
                </a:solidFill>
                <a:latin typeface="Tahoma"/>
                <a:cs typeface="Tahoma"/>
              </a:rPr>
              <a:t> </a:t>
            </a:r>
            <a:r>
              <a:rPr sz="1500" spc="85" dirty="0">
                <a:solidFill>
                  <a:srgbClr val="B7B7B7"/>
                </a:solidFill>
                <a:latin typeface="Tahoma"/>
                <a:cs typeface="Tahoma"/>
              </a:rPr>
              <a:t>peaks</a:t>
            </a:r>
            <a:r>
              <a:rPr sz="1500" spc="-35" dirty="0">
                <a:solidFill>
                  <a:srgbClr val="B7B7B7"/>
                </a:solidFill>
                <a:latin typeface="Tahoma"/>
                <a:cs typeface="Tahoma"/>
              </a:rPr>
              <a:t> </a:t>
            </a:r>
            <a:r>
              <a:rPr sz="1500" spc="55" dirty="0">
                <a:solidFill>
                  <a:srgbClr val="B7B7B7"/>
                </a:solidFill>
                <a:latin typeface="Tahoma"/>
                <a:cs typeface="Tahoma"/>
              </a:rPr>
              <a:t>signal</a:t>
            </a:r>
            <a:r>
              <a:rPr sz="1500" spc="-30" dirty="0">
                <a:solidFill>
                  <a:srgbClr val="B7B7B7"/>
                </a:solidFill>
                <a:latin typeface="Tahoma"/>
                <a:cs typeface="Tahoma"/>
              </a:rPr>
              <a:t> </a:t>
            </a:r>
            <a:r>
              <a:rPr sz="1500" spc="50" dirty="0">
                <a:solidFill>
                  <a:srgbClr val="B7B7B7"/>
                </a:solidFill>
                <a:latin typeface="Tahoma"/>
                <a:cs typeface="Tahoma"/>
              </a:rPr>
              <a:t>leisure</a:t>
            </a:r>
            <a:r>
              <a:rPr sz="1500" spc="-35" dirty="0">
                <a:solidFill>
                  <a:srgbClr val="B7B7B7"/>
                </a:solidFill>
                <a:latin typeface="Tahoma"/>
                <a:cs typeface="Tahoma"/>
              </a:rPr>
              <a:t> </a:t>
            </a:r>
            <a:r>
              <a:rPr sz="1500" spc="55" dirty="0">
                <a:solidFill>
                  <a:srgbClr val="B7B7B7"/>
                </a:solidFill>
                <a:latin typeface="Tahoma"/>
                <a:cs typeface="Tahoma"/>
              </a:rPr>
              <a:t>usage.</a:t>
            </a:r>
            <a:r>
              <a:rPr sz="1500" spc="-30" dirty="0">
                <a:solidFill>
                  <a:srgbClr val="B7B7B7"/>
                </a:solidFill>
                <a:latin typeface="Tahoma"/>
                <a:cs typeface="Tahoma"/>
              </a:rPr>
              <a:t> </a:t>
            </a:r>
            <a:r>
              <a:rPr sz="1500" spc="-10" dirty="0">
                <a:solidFill>
                  <a:srgbClr val="B7B7B7"/>
                </a:solidFill>
                <a:latin typeface="Tahoma"/>
                <a:cs typeface="Tahoma"/>
              </a:rPr>
              <a:t>Target </a:t>
            </a:r>
            <a:r>
              <a:rPr sz="1500" spc="80" dirty="0">
                <a:solidFill>
                  <a:srgbClr val="B7B7B7"/>
                </a:solidFill>
                <a:latin typeface="Tahoma"/>
                <a:cs typeface="Tahoma"/>
              </a:rPr>
              <a:t>casuals</a:t>
            </a:r>
            <a:r>
              <a:rPr sz="1500" spc="35" dirty="0">
                <a:solidFill>
                  <a:srgbClr val="B7B7B7"/>
                </a:solidFill>
                <a:latin typeface="Tahoma"/>
                <a:cs typeface="Tahoma"/>
              </a:rPr>
              <a:t> </a:t>
            </a:r>
            <a:r>
              <a:rPr sz="1500" dirty="0">
                <a:solidFill>
                  <a:srgbClr val="B7B7B7"/>
                </a:solidFill>
                <a:latin typeface="Tahoma"/>
                <a:cs typeface="Tahoma"/>
              </a:rPr>
              <a:t>with</a:t>
            </a:r>
            <a:r>
              <a:rPr sz="1500" spc="35" dirty="0">
                <a:solidFill>
                  <a:srgbClr val="B7B7B7"/>
                </a:solidFill>
                <a:latin typeface="Tahoma"/>
                <a:cs typeface="Tahoma"/>
              </a:rPr>
              <a:t> </a:t>
            </a:r>
            <a:r>
              <a:rPr sz="1500" dirty="0">
                <a:solidFill>
                  <a:srgbClr val="B7B7B7"/>
                </a:solidFill>
                <a:latin typeface="Tahoma"/>
                <a:cs typeface="Tahoma"/>
              </a:rPr>
              <a:t>digital</a:t>
            </a:r>
            <a:r>
              <a:rPr sz="1500" spc="40" dirty="0">
                <a:solidFill>
                  <a:srgbClr val="B7B7B7"/>
                </a:solidFill>
                <a:latin typeface="Tahoma"/>
                <a:cs typeface="Tahoma"/>
              </a:rPr>
              <a:t> </a:t>
            </a:r>
            <a:r>
              <a:rPr sz="1500" spc="80" dirty="0">
                <a:solidFill>
                  <a:srgbClr val="B7B7B7"/>
                </a:solidFill>
                <a:latin typeface="Tahoma"/>
                <a:cs typeface="Tahoma"/>
              </a:rPr>
              <a:t>ads</a:t>
            </a:r>
            <a:r>
              <a:rPr sz="1500" spc="35" dirty="0">
                <a:solidFill>
                  <a:srgbClr val="B7B7B7"/>
                </a:solidFill>
                <a:latin typeface="Tahoma"/>
                <a:cs typeface="Tahoma"/>
              </a:rPr>
              <a:t> </a:t>
            </a:r>
            <a:r>
              <a:rPr sz="1500" spc="65" dirty="0">
                <a:solidFill>
                  <a:srgbClr val="B7B7B7"/>
                </a:solidFill>
                <a:latin typeface="Tahoma"/>
                <a:cs typeface="Tahoma"/>
              </a:rPr>
              <a:t>and</a:t>
            </a:r>
            <a:r>
              <a:rPr sz="1500" spc="35" dirty="0">
                <a:solidFill>
                  <a:srgbClr val="B7B7B7"/>
                </a:solidFill>
                <a:latin typeface="Tahoma"/>
                <a:cs typeface="Tahoma"/>
              </a:rPr>
              <a:t> </a:t>
            </a:r>
            <a:r>
              <a:rPr sz="1500" spc="70" dirty="0">
                <a:solidFill>
                  <a:srgbClr val="B7B7B7"/>
                </a:solidFill>
                <a:latin typeface="Tahoma"/>
                <a:cs typeface="Tahoma"/>
              </a:rPr>
              <a:t>push</a:t>
            </a:r>
            <a:r>
              <a:rPr sz="1500" spc="40" dirty="0">
                <a:solidFill>
                  <a:srgbClr val="B7B7B7"/>
                </a:solidFill>
                <a:latin typeface="Tahoma"/>
                <a:cs typeface="Tahoma"/>
              </a:rPr>
              <a:t> </a:t>
            </a:r>
            <a:r>
              <a:rPr sz="1500" spc="45" dirty="0">
                <a:solidFill>
                  <a:srgbClr val="B7B7B7"/>
                </a:solidFill>
                <a:latin typeface="Tahoma"/>
                <a:cs typeface="Tahoma"/>
              </a:rPr>
              <a:t>notifications </a:t>
            </a:r>
            <a:r>
              <a:rPr sz="1500" spc="50" dirty="0">
                <a:solidFill>
                  <a:srgbClr val="B7B7B7"/>
                </a:solidFill>
                <a:latin typeface="Tahoma"/>
                <a:cs typeface="Tahoma"/>
              </a:rPr>
              <a:t>during</a:t>
            </a:r>
            <a:r>
              <a:rPr sz="1500" spc="-30" dirty="0">
                <a:solidFill>
                  <a:srgbClr val="B7B7B7"/>
                </a:solidFill>
                <a:latin typeface="Tahoma"/>
                <a:cs typeface="Tahoma"/>
              </a:rPr>
              <a:t> </a:t>
            </a:r>
            <a:r>
              <a:rPr sz="1500" spc="55" dirty="0">
                <a:solidFill>
                  <a:srgbClr val="B7B7B7"/>
                </a:solidFill>
                <a:latin typeface="Tahoma"/>
                <a:cs typeface="Tahoma"/>
              </a:rPr>
              <a:t>midday</a:t>
            </a:r>
            <a:r>
              <a:rPr sz="1500" spc="-25" dirty="0">
                <a:solidFill>
                  <a:srgbClr val="B7B7B7"/>
                </a:solidFill>
                <a:latin typeface="Tahoma"/>
                <a:cs typeface="Tahoma"/>
              </a:rPr>
              <a:t> </a:t>
            </a:r>
            <a:r>
              <a:rPr sz="1500" spc="55" dirty="0">
                <a:solidFill>
                  <a:srgbClr val="B7B7B7"/>
                </a:solidFill>
                <a:latin typeface="Tahoma"/>
                <a:cs typeface="Tahoma"/>
              </a:rPr>
              <a:t>hours</a:t>
            </a:r>
            <a:r>
              <a:rPr sz="1500" spc="-25" dirty="0">
                <a:solidFill>
                  <a:srgbClr val="B7B7B7"/>
                </a:solidFill>
                <a:latin typeface="Tahoma"/>
                <a:cs typeface="Tahoma"/>
              </a:rPr>
              <a:t> </a:t>
            </a:r>
            <a:r>
              <a:rPr sz="1500" spc="50" dirty="0">
                <a:solidFill>
                  <a:srgbClr val="B7B7B7"/>
                </a:solidFill>
                <a:latin typeface="Tahoma"/>
                <a:cs typeface="Tahoma"/>
              </a:rPr>
              <a:t>near</a:t>
            </a:r>
            <a:r>
              <a:rPr sz="1500" spc="-25" dirty="0">
                <a:solidFill>
                  <a:srgbClr val="B7B7B7"/>
                </a:solidFill>
                <a:latin typeface="Tahoma"/>
                <a:cs typeface="Tahoma"/>
              </a:rPr>
              <a:t> </a:t>
            </a:r>
            <a:r>
              <a:rPr sz="1500" spc="60" dirty="0">
                <a:solidFill>
                  <a:srgbClr val="B7B7B7"/>
                </a:solidFill>
                <a:latin typeface="Tahoma"/>
                <a:cs typeface="Tahoma"/>
              </a:rPr>
              <a:t>high-</a:t>
            </a:r>
            <a:r>
              <a:rPr sz="1500" spc="55" dirty="0">
                <a:solidFill>
                  <a:srgbClr val="B7B7B7"/>
                </a:solidFill>
                <a:latin typeface="Tahoma"/>
                <a:cs typeface="Tahoma"/>
              </a:rPr>
              <a:t>traffic</a:t>
            </a:r>
            <a:r>
              <a:rPr sz="1500" spc="-30" dirty="0">
                <a:solidFill>
                  <a:srgbClr val="B7B7B7"/>
                </a:solidFill>
                <a:latin typeface="Tahoma"/>
                <a:cs typeface="Tahoma"/>
              </a:rPr>
              <a:t> </a:t>
            </a:r>
            <a:r>
              <a:rPr sz="1500" spc="-10" dirty="0">
                <a:solidFill>
                  <a:srgbClr val="B7B7B7"/>
                </a:solidFill>
                <a:latin typeface="Tahoma"/>
                <a:cs typeface="Tahoma"/>
              </a:rPr>
              <a:t>stations.</a:t>
            </a:r>
            <a:endParaRPr sz="1500" dirty="0">
              <a:latin typeface="Tahoma"/>
              <a:cs typeface="Tahoma"/>
            </a:endParaRPr>
          </a:p>
        </p:txBody>
      </p:sp>
      <p:sp>
        <p:nvSpPr>
          <p:cNvPr id="5" name="object 5"/>
          <p:cNvSpPr txBox="1">
            <a:spLocks noGrp="1"/>
          </p:cNvSpPr>
          <p:nvPr>
            <p:ph type="title"/>
          </p:nvPr>
        </p:nvSpPr>
        <p:spPr>
          <a:prstGeom prst="rect">
            <a:avLst/>
          </a:prstGeom>
        </p:spPr>
        <p:txBody>
          <a:bodyPr vert="horz" wrap="square" lIns="0" tIns="107950" rIns="0" bIns="0" rtlCol="0">
            <a:spAutoFit/>
          </a:bodyPr>
          <a:lstStyle/>
          <a:p>
            <a:pPr marL="12700">
              <a:lnSpc>
                <a:spcPct val="100000"/>
              </a:lnSpc>
              <a:spcBef>
                <a:spcPts val="100"/>
              </a:spcBef>
            </a:pPr>
            <a:r>
              <a:rPr spc="65" dirty="0"/>
              <a:t>Ride</a:t>
            </a:r>
            <a:r>
              <a:rPr spc="-95" dirty="0"/>
              <a:t> </a:t>
            </a:r>
            <a:r>
              <a:rPr spc="75" dirty="0"/>
              <a:t>share</a:t>
            </a:r>
            <a:r>
              <a:rPr spc="-90" dirty="0"/>
              <a:t> </a:t>
            </a:r>
            <a:r>
              <a:rPr spc="100" dirty="0"/>
              <a:t>by</a:t>
            </a:r>
            <a:r>
              <a:rPr spc="-90" dirty="0"/>
              <a:t> </a:t>
            </a:r>
            <a:r>
              <a:rPr dirty="0"/>
              <a:t>time</a:t>
            </a:r>
            <a:r>
              <a:rPr spc="-90" dirty="0"/>
              <a:t> </a:t>
            </a:r>
            <a:r>
              <a:rPr spc="114" dirty="0"/>
              <a:t>of</a:t>
            </a:r>
            <a:r>
              <a:rPr spc="-95" dirty="0"/>
              <a:t> </a:t>
            </a:r>
            <a:r>
              <a:rPr spc="90" dirty="0"/>
              <a:t>day</a:t>
            </a:r>
            <a:r>
              <a:rPr spc="-90" dirty="0"/>
              <a:t> </a:t>
            </a:r>
            <a:r>
              <a:rPr spc="195" dirty="0"/>
              <a:t>—</a:t>
            </a:r>
            <a:r>
              <a:rPr spc="-90" dirty="0"/>
              <a:t> </a:t>
            </a:r>
            <a:r>
              <a:rPr spc="105" dirty="0"/>
              <a:t>Casual</a:t>
            </a:r>
            <a:r>
              <a:rPr spc="-90" dirty="0"/>
              <a:t> </a:t>
            </a:r>
            <a:r>
              <a:rPr spc="80" dirty="0"/>
              <a:t>vs.</a:t>
            </a:r>
            <a:r>
              <a:rPr spc="-90" dirty="0"/>
              <a:t> </a:t>
            </a:r>
            <a:r>
              <a:rPr spc="105" dirty="0"/>
              <a:t>Member</a:t>
            </a:r>
          </a:p>
        </p:txBody>
      </p:sp>
      <p:sp>
        <p:nvSpPr>
          <p:cNvPr id="6" name="object 6"/>
          <p:cNvSpPr/>
          <p:nvPr/>
        </p:nvSpPr>
        <p:spPr>
          <a:xfrm>
            <a:off x="6015036" y="1652587"/>
            <a:ext cx="742950" cy="238125"/>
          </a:xfrm>
          <a:custGeom>
            <a:avLst/>
            <a:gdLst/>
            <a:ahLst/>
            <a:cxnLst/>
            <a:rect l="l" t="t" r="r" b="b"/>
            <a:pathLst>
              <a:path w="742950" h="238125">
                <a:moveTo>
                  <a:pt x="0" y="119062"/>
                </a:moveTo>
                <a:lnTo>
                  <a:pt x="6071" y="80721"/>
                </a:lnTo>
                <a:lnTo>
                  <a:pt x="9062" y="73498"/>
                </a:lnTo>
                <a:lnTo>
                  <a:pt x="12054" y="66276"/>
                </a:lnTo>
                <a:lnTo>
                  <a:pt x="15722" y="59414"/>
                </a:lnTo>
                <a:lnTo>
                  <a:pt x="20065" y="52914"/>
                </a:lnTo>
                <a:lnTo>
                  <a:pt x="24408" y="46414"/>
                </a:lnTo>
                <a:lnTo>
                  <a:pt x="29344" y="40400"/>
                </a:lnTo>
                <a:lnTo>
                  <a:pt x="34872" y="34872"/>
                </a:lnTo>
                <a:lnTo>
                  <a:pt x="40400" y="29344"/>
                </a:lnTo>
                <a:lnTo>
                  <a:pt x="46414" y="24408"/>
                </a:lnTo>
                <a:lnTo>
                  <a:pt x="52914" y="20065"/>
                </a:lnTo>
                <a:lnTo>
                  <a:pt x="59414" y="15722"/>
                </a:lnTo>
                <a:lnTo>
                  <a:pt x="66276" y="12054"/>
                </a:lnTo>
                <a:lnTo>
                  <a:pt x="73498" y="9062"/>
                </a:lnTo>
                <a:lnTo>
                  <a:pt x="80721" y="6071"/>
                </a:lnTo>
                <a:lnTo>
                  <a:pt x="88166" y="3812"/>
                </a:lnTo>
                <a:lnTo>
                  <a:pt x="95834" y="2287"/>
                </a:lnTo>
                <a:lnTo>
                  <a:pt x="103501" y="762"/>
                </a:lnTo>
                <a:lnTo>
                  <a:pt x="111244" y="0"/>
                </a:lnTo>
                <a:lnTo>
                  <a:pt x="119063" y="0"/>
                </a:lnTo>
                <a:lnTo>
                  <a:pt x="623887" y="0"/>
                </a:lnTo>
                <a:lnTo>
                  <a:pt x="631705" y="0"/>
                </a:lnTo>
                <a:lnTo>
                  <a:pt x="639447" y="762"/>
                </a:lnTo>
                <a:lnTo>
                  <a:pt x="676673" y="12054"/>
                </a:lnTo>
                <a:lnTo>
                  <a:pt x="690035" y="20065"/>
                </a:lnTo>
                <a:lnTo>
                  <a:pt x="696535" y="24408"/>
                </a:lnTo>
                <a:lnTo>
                  <a:pt x="702549" y="29344"/>
                </a:lnTo>
                <a:lnTo>
                  <a:pt x="708077" y="34872"/>
                </a:lnTo>
                <a:lnTo>
                  <a:pt x="713605" y="40400"/>
                </a:lnTo>
                <a:lnTo>
                  <a:pt x="718540" y="46414"/>
                </a:lnTo>
                <a:lnTo>
                  <a:pt x="722883" y="52914"/>
                </a:lnTo>
                <a:lnTo>
                  <a:pt x="727226" y="59414"/>
                </a:lnTo>
                <a:lnTo>
                  <a:pt x="740661" y="95834"/>
                </a:lnTo>
                <a:lnTo>
                  <a:pt x="742187" y="103501"/>
                </a:lnTo>
                <a:lnTo>
                  <a:pt x="742949" y="111244"/>
                </a:lnTo>
                <a:lnTo>
                  <a:pt x="742950" y="119062"/>
                </a:lnTo>
                <a:lnTo>
                  <a:pt x="742949" y="126880"/>
                </a:lnTo>
                <a:lnTo>
                  <a:pt x="742187" y="134622"/>
                </a:lnTo>
                <a:lnTo>
                  <a:pt x="740661" y="142290"/>
                </a:lnTo>
                <a:lnTo>
                  <a:pt x="739136" y="149957"/>
                </a:lnTo>
                <a:lnTo>
                  <a:pt x="722884" y="185209"/>
                </a:lnTo>
                <a:lnTo>
                  <a:pt x="718540" y="191710"/>
                </a:lnTo>
                <a:lnTo>
                  <a:pt x="690035" y="218059"/>
                </a:lnTo>
                <a:lnTo>
                  <a:pt x="654782" y="234311"/>
                </a:lnTo>
                <a:lnTo>
                  <a:pt x="623887" y="238124"/>
                </a:lnTo>
                <a:lnTo>
                  <a:pt x="119063" y="238124"/>
                </a:lnTo>
                <a:lnTo>
                  <a:pt x="80721" y="232053"/>
                </a:lnTo>
                <a:lnTo>
                  <a:pt x="73498" y="229061"/>
                </a:lnTo>
                <a:lnTo>
                  <a:pt x="66276" y="226069"/>
                </a:lnTo>
                <a:lnTo>
                  <a:pt x="59414" y="222402"/>
                </a:lnTo>
                <a:lnTo>
                  <a:pt x="52914" y="218058"/>
                </a:lnTo>
                <a:lnTo>
                  <a:pt x="46414" y="213715"/>
                </a:lnTo>
                <a:lnTo>
                  <a:pt x="40400" y="208780"/>
                </a:lnTo>
                <a:lnTo>
                  <a:pt x="34872" y="203252"/>
                </a:lnTo>
                <a:lnTo>
                  <a:pt x="29344" y="197724"/>
                </a:lnTo>
                <a:lnTo>
                  <a:pt x="24408" y="191710"/>
                </a:lnTo>
                <a:lnTo>
                  <a:pt x="20065" y="185209"/>
                </a:lnTo>
                <a:lnTo>
                  <a:pt x="15722" y="178709"/>
                </a:lnTo>
                <a:lnTo>
                  <a:pt x="12054" y="171848"/>
                </a:lnTo>
                <a:lnTo>
                  <a:pt x="9062" y="164625"/>
                </a:lnTo>
                <a:lnTo>
                  <a:pt x="6071" y="157402"/>
                </a:lnTo>
                <a:lnTo>
                  <a:pt x="3812" y="149957"/>
                </a:lnTo>
                <a:lnTo>
                  <a:pt x="2287"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7" name="object 7"/>
          <p:cNvSpPr txBox="1"/>
          <p:nvPr/>
        </p:nvSpPr>
        <p:spPr>
          <a:xfrm>
            <a:off x="6273799" y="1659370"/>
            <a:ext cx="39751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Segoe UI Symbol"/>
                <a:cs typeface="Segoe UI Symbol"/>
              </a:rPr>
              <a:t>C</a:t>
            </a:r>
            <a:r>
              <a:rPr sz="950" spc="-10" dirty="0">
                <a:solidFill>
                  <a:srgbClr val="FFFFFF"/>
                </a:solidFill>
                <a:latin typeface="Trebuchet MS"/>
                <a:cs typeface="Trebuchet MS"/>
              </a:rPr>
              <a:t>a</a:t>
            </a:r>
            <a:r>
              <a:rPr sz="1050" spc="-10" dirty="0">
                <a:solidFill>
                  <a:srgbClr val="FFFFFF"/>
                </a:solidFill>
                <a:latin typeface="Trebuchet MS"/>
                <a:cs typeface="Trebuchet MS"/>
              </a:rPr>
              <a:t>su</a:t>
            </a:r>
            <a:r>
              <a:rPr sz="950" spc="-10" dirty="0">
                <a:solidFill>
                  <a:srgbClr val="FFFFFF"/>
                </a:solidFill>
                <a:latin typeface="Trebuchet MS"/>
                <a:cs typeface="Trebuchet MS"/>
              </a:rPr>
              <a:t>al</a:t>
            </a:r>
            <a:endParaRPr sz="950">
              <a:latin typeface="Trebuchet MS"/>
              <a:cs typeface="Trebuchet MS"/>
            </a:endParaRPr>
          </a:p>
        </p:txBody>
      </p:sp>
      <p:sp>
        <p:nvSpPr>
          <p:cNvPr id="8" name="object 8"/>
          <p:cNvSpPr/>
          <p:nvPr/>
        </p:nvSpPr>
        <p:spPr>
          <a:xfrm>
            <a:off x="6862760" y="1652587"/>
            <a:ext cx="828675" cy="238125"/>
          </a:xfrm>
          <a:custGeom>
            <a:avLst/>
            <a:gdLst/>
            <a:ahLst/>
            <a:cxnLst/>
            <a:rect l="l" t="t" r="r" b="b"/>
            <a:pathLst>
              <a:path w="828675" h="238125">
                <a:moveTo>
                  <a:pt x="0" y="119062"/>
                </a:moveTo>
                <a:lnTo>
                  <a:pt x="6071" y="80721"/>
                </a:lnTo>
                <a:lnTo>
                  <a:pt x="9063" y="73498"/>
                </a:lnTo>
                <a:lnTo>
                  <a:pt x="12054" y="66276"/>
                </a:lnTo>
                <a:lnTo>
                  <a:pt x="15722" y="59414"/>
                </a:lnTo>
                <a:lnTo>
                  <a:pt x="20065" y="52914"/>
                </a:lnTo>
                <a:lnTo>
                  <a:pt x="24408" y="46414"/>
                </a:lnTo>
                <a:lnTo>
                  <a:pt x="29344" y="40400"/>
                </a:lnTo>
                <a:lnTo>
                  <a:pt x="34872" y="34872"/>
                </a:lnTo>
                <a:lnTo>
                  <a:pt x="40401" y="29344"/>
                </a:lnTo>
                <a:lnTo>
                  <a:pt x="46414" y="24408"/>
                </a:lnTo>
                <a:lnTo>
                  <a:pt x="52914" y="20065"/>
                </a:lnTo>
                <a:lnTo>
                  <a:pt x="59414" y="15722"/>
                </a:lnTo>
                <a:lnTo>
                  <a:pt x="95834" y="2287"/>
                </a:lnTo>
                <a:lnTo>
                  <a:pt x="111244" y="0"/>
                </a:lnTo>
                <a:lnTo>
                  <a:pt x="119063" y="0"/>
                </a:lnTo>
                <a:lnTo>
                  <a:pt x="709612" y="0"/>
                </a:lnTo>
                <a:lnTo>
                  <a:pt x="717430" y="0"/>
                </a:lnTo>
                <a:lnTo>
                  <a:pt x="725173" y="762"/>
                </a:lnTo>
                <a:lnTo>
                  <a:pt x="762398" y="12054"/>
                </a:lnTo>
                <a:lnTo>
                  <a:pt x="775760" y="20065"/>
                </a:lnTo>
                <a:lnTo>
                  <a:pt x="782260" y="24408"/>
                </a:lnTo>
                <a:lnTo>
                  <a:pt x="788274" y="29344"/>
                </a:lnTo>
                <a:lnTo>
                  <a:pt x="793802" y="34872"/>
                </a:lnTo>
                <a:lnTo>
                  <a:pt x="799330" y="40400"/>
                </a:lnTo>
                <a:lnTo>
                  <a:pt x="804265" y="46414"/>
                </a:lnTo>
                <a:lnTo>
                  <a:pt x="808608" y="52914"/>
                </a:lnTo>
                <a:lnTo>
                  <a:pt x="812951" y="59414"/>
                </a:lnTo>
                <a:lnTo>
                  <a:pt x="826387" y="95834"/>
                </a:lnTo>
                <a:lnTo>
                  <a:pt x="828675" y="111244"/>
                </a:lnTo>
                <a:lnTo>
                  <a:pt x="828675" y="119062"/>
                </a:lnTo>
                <a:lnTo>
                  <a:pt x="828675" y="126880"/>
                </a:lnTo>
                <a:lnTo>
                  <a:pt x="819611" y="164625"/>
                </a:lnTo>
                <a:lnTo>
                  <a:pt x="799330" y="197724"/>
                </a:lnTo>
                <a:lnTo>
                  <a:pt x="775759" y="218059"/>
                </a:lnTo>
                <a:lnTo>
                  <a:pt x="769259" y="222402"/>
                </a:lnTo>
                <a:lnTo>
                  <a:pt x="732840" y="235837"/>
                </a:lnTo>
                <a:lnTo>
                  <a:pt x="709612" y="238124"/>
                </a:lnTo>
                <a:lnTo>
                  <a:pt x="119063" y="238124"/>
                </a:lnTo>
                <a:lnTo>
                  <a:pt x="80721" y="232053"/>
                </a:lnTo>
                <a:lnTo>
                  <a:pt x="52914" y="218058"/>
                </a:lnTo>
                <a:lnTo>
                  <a:pt x="46414" y="213715"/>
                </a:lnTo>
                <a:lnTo>
                  <a:pt x="20065" y="185209"/>
                </a:lnTo>
                <a:lnTo>
                  <a:pt x="15722" y="178709"/>
                </a:lnTo>
                <a:lnTo>
                  <a:pt x="12054" y="171848"/>
                </a:lnTo>
                <a:lnTo>
                  <a:pt x="9063" y="164625"/>
                </a:lnTo>
                <a:lnTo>
                  <a:pt x="6071" y="157402"/>
                </a:lnTo>
                <a:lnTo>
                  <a:pt x="3813" y="149957"/>
                </a:lnTo>
                <a:lnTo>
                  <a:pt x="2288"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9" name="object 9"/>
          <p:cNvSpPr txBox="1"/>
          <p:nvPr/>
        </p:nvSpPr>
        <p:spPr>
          <a:xfrm>
            <a:off x="7121971" y="1659370"/>
            <a:ext cx="47879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Trebuchet MS"/>
                <a:cs typeface="Trebuchet MS"/>
              </a:rPr>
              <a:t>Membe</a:t>
            </a:r>
            <a:r>
              <a:rPr sz="1050" spc="-10" dirty="0">
                <a:solidFill>
                  <a:srgbClr val="FFFFFF"/>
                </a:solidFill>
                <a:latin typeface="Trebuchet MS"/>
                <a:cs typeface="Trebuchet MS"/>
              </a:rPr>
              <a:t>r</a:t>
            </a:r>
            <a:endParaRPr sz="1050">
              <a:latin typeface="Trebuchet MS"/>
              <a:cs typeface="Trebuchet MS"/>
            </a:endParaRPr>
          </a:p>
        </p:txBody>
      </p:sp>
      <p:pic>
        <p:nvPicPr>
          <p:cNvPr id="10" name="object 10"/>
          <p:cNvPicPr/>
          <p:nvPr/>
        </p:nvPicPr>
        <p:blipFill>
          <a:blip r:embed="rId2" cstate="print"/>
          <a:stretch>
            <a:fillRect/>
          </a:stretch>
        </p:blipFill>
        <p:spPr>
          <a:xfrm>
            <a:off x="6134099" y="1733549"/>
            <a:ext cx="76200" cy="76200"/>
          </a:xfrm>
          <a:prstGeom prst="rect">
            <a:avLst/>
          </a:prstGeom>
        </p:spPr>
      </p:pic>
      <p:pic>
        <p:nvPicPr>
          <p:cNvPr id="11" name="object 11"/>
          <p:cNvPicPr/>
          <p:nvPr/>
        </p:nvPicPr>
        <p:blipFill>
          <a:blip r:embed="rId3" cstate="print"/>
          <a:stretch>
            <a:fillRect/>
          </a:stretch>
        </p:blipFill>
        <p:spPr>
          <a:xfrm>
            <a:off x="6981824" y="1733549"/>
            <a:ext cx="76200" cy="76200"/>
          </a:xfrm>
          <a:prstGeom prst="rect">
            <a:avLst/>
          </a:prstGeom>
        </p:spPr>
      </p:pic>
      <p:grpSp>
        <p:nvGrpSpPr>
          <p:cNvPr id="12" name="object 12"/>
          <p:cNvGrpSpPr/>
          <p:nvPr/>
        </p:nvGrpSpPr>
        <p:grpSpPr>
          <a:xfrm>
            <a:off x="6462712" y="2052637"/>
            <a:ext cx="7105650" cy="4705350"/>
            <a:chOff x="6462712" y="2052637"/>
            <a:chExt cx="7105650" cy="4705350"/>
          </a:xfrm>
        </p:grpSpPr>
        <p:sp>
          <p:nvSpPr>
            <p:cNvPr id="13" name="object 13"/>
            <p:cNvSpPr/>
            <p:nvPr/>
          </p:nvSpPr>
          <p:spPr>
            <a:xfrm>
              <a:off x="6467474" y="2057399"/>
              <a:ext cx="7096125" cy="4695825"/>
            </a:xfrm>
            <a:custGeom>
              <a:avLst/>
              <a:gdLst/>
              <a:ahLst/>
              <a:cxnLst/>
              <a:rect l="l" t="t" r="r" b="b"/>
              <a:pathLst>
                <a:path w="7096125" h="4695825">
                  <a:moveTo>
                    <a:pt x="0" y="4695824"/>
                  </a:moveTo>
                  <a:lnTo>
                    <a:pt x="7096124" y="4695824"/>
                  </a:lnTo>
                </a:path>
                <a:path w="7096125" h="4695825">
                  <a:moveTo>
                    <a:pt x="0" y="4226242"/>
                  </a:moveTo>
                  <a:lnTo>
                    <a:pt x="7096124" y="4226242"/>
                  </a:lnTo>
                </a:path>
                <a:path w="7096125" h="4695825">
                  <a:moveTo>
                    <a:pt x="0" y="3756659"/>
                  </a:moveTo>
                  <a:lnTo>
                    <a:pt x="7096124" y="3756659"/>
                  </a:lnTo>
                </a:path>
                <a:path w="7096125" h="4695825">
                  <a:moveTo>
                    <a:pt x="0" y="3287077"/>
                  </a:moveTo>
                  <a:lnTo>
                    <a:pt x="7096124" y="3287077"/>
                  </a:lnTo>
                </a:path>
                <a:path w="7096125" h="4695825">
                  <a:moveTo>
                    <a:pt x="0" y="2817494"/>
                  </a:moveTo>
                  <a:lnTo>
                    <a:pt x="7096124" y="2817494"/>
                  </a:lnTo>
                </a:path>
                <a:path w="7096125" h="4695825">
                  <a:moveTo>
                    <a:pt x="0" y="2347912"/>
                  </a:moveTo>
                  <a:lnTo>
                    <a:pt x="7096124" y="2347912"/>
                  </a:lnTo>
                </a:path>
                <a:path w="7096125" h="4695825">
                  <a:moveTo>
                    <a:pt x="0" y="1878329"/>
                  </a:moveTo>
                  <a:lnTo>
                    <a:pt x="7096124" y="1878329"/>
                  </a:lnTo>
                </a:path>
                <a:path w="7096125" h="4695825">
                  <a:moveTo>
                    <a:pt x="0" y="1408747"/>
                  </a:moveTo>
                  <a:lnTo>
                    <a:pt x="7096124" y="1408747"/>
                  </a:lnTo>
                </a:path>
                <a:path w="7096125" h="4695825">
                  <a:moveTo>
                    <a:pt x="0" y="939164"/>
                  </a:moveTo>
                  <a:lnTo>
                    <a:pt x="7096124" y="939164"/>
                  </a:lnTo>
                </a:path>
                <a:path w="7096125" h="4695825">
                  <a:moveTo>
                    <a:pt x="0" y="469582"/>
                  </a:moveTo>
                  <a:lnTo>
                    <a:pt x="7096124" y="469582"/>
                  </a:lnTo>
                </a:path>
                <a:path w="7096125" h="4695825">
                  <a:moveTo>
                    <a:pt x="0" y="0"/>
                  </a:moveTo>
                  <a:lnTo>
                    <a:pt x="7096124" y="0"/>
                  </a:lnTo>
                </a:path>
              </a:pathLst>
            </a:custGeom>
            <a:ln w="9524">
              <a:solidFill>
                <a:srgbClr val="FFFFFF"/>
              </a:solidFill>
            </a:ln>
          </p:spPr>
          <p:txBody>
            <a:bodyPr wrap="square" lIns="0" tIns="0" rIns="0" bIns="0" rtlCol="0"/>
            <a:lstStyle/>
            <a:p>
              <a:endParaRPr/>
            </a:p>
          </p:txBody>
        </p:sp>
        <p:sp>
          <p:nvSpPr>
            <p:cNvPr id="14" name="object 14"/>
            <p:cNvSpPr/>
            <p:nvPr/>
          </p:nvSpPr>
          <p:spPr>
            <a:xfrm>
              <a:off x="7017561" y="4687061"/>
              <a:ext cx="495300" cy="2066289"/>
            </a:xfrm>
            <a:custGeom>
              <a:avLst/>
              <a:gdLst/>
              <a:ahLst/>
              <a:cxnLst/>
              <a:rect l="l" t="t" r="r" b="b"/>
              <a:pathLst>
                <a:path w="495300" h="2066290">
                  <a:moveTo>
                    <a:pt x="495078" y="2066162"/>
                  </a:moveTo>
                  <a:lnTo>
                    <a:pt x="0" y="2066162"/>
                  </a:lnTo>
                  <a:lnTo>
                    <a:pt x="0" y="53397"/>
                  </a:lnTo>
                  <a:lnTo>
                    <a:pt x="19392" y="14085"/>
                  </a:lnTo>
                  <a:lnTo>
                    <a:pt x="57149" y="0"/>
                  </a:lnTo>
                  <a:lnTo>
                    <a:pt x="441680" y="0"/>
                  </a:lnTo>
                  <a:lnTo>
                    <a:pt x="480992" y="19392"/>
                  </a:lnTo>
                  <a:lnTo>
                    <a:pt x="495078" y="2066162"/>
                  </a:lnTo>
                  <a:close/>
                </a:path>
              </a:pathLst>
            </a:custGeom>
            <a:solidFill>
              <a:srgbClr val="5C5EEF"/>
            </a:solidFill>
          </p:spPr>
          <p:txBody>
            <a:bodyPr wrap="square" lIns="0" tIns="0" rIns="0" bIns="0" rtlCol="0"/>
            <a:lstStyle/>
            <a:p>
              <a:endParaRPr/>
            </a:p>
          </p:txBody>
        </p:sp>
        <p:sp>
          <p:nvSpPr>
            <p:cNvPr id="15" name="object 15"/>
            <p:cNvSpPr/>
            <p:nvPr/>
          </p:nvSpPr>
          <p:spPr>
            <a:xfrm>
              <a:off x="7567648" y="4123562"/>
              <a:ext cx="495300" cy="2630170"/>
            </a:xfrm>
            <a:custGeom>
              <a:avLst/>
              <a:gdLst/>
              <a:ahLst/>
              <a:cxnLst/>
              <a:rect l="l" t="t" r="r" b="b"/>
              <a:pathLst>
                <a:path w="495300" h="2630170">
                  <a:moveTo>
                    <a:pt x="495078" y="2629661"/>
                  </a:moveTo>
                  <a:lnTo>
                    <a:pt x="0" y="2629661"/>
                  </a:lnTo>
                  <a:lnTo>
                    <a:pt x="0" y="53397"/>
                  </a:lnTo>
                  <a:lnTo>
                    <a:pt x="19392" y="14085"/>
                  </a:lnTo>
                  <a:lnTo>
                    <a:pt x="57149" y="0"/>
                  </a:lnTo>
                  <a:lnTo>
                    <a:pt x="441680" y="0"/>
                  </a:lnTo>
                  <a:lnTo>
                    <a:pt x="480992" y="19392"/>
                  </a:lnTo>
                  <a:lnTo>
                    <a:pt x="495078" y="2629661"/>
                  </a:lnTo>
                  <a:close/>
                </a:path>
              </a:pathLst>
            </a:custGeom>
            <a:solidFill>
              <a:srgbClr val="090956"/>
            </a:solidFill>
          </p:spPr>
          <p:txBody>
            <a:bodyPr wrap="square" lIns="0" tIns="0" rIns="0" bIns="0" rtlCol="0"/>
            <a:lstStyle/>
            <a:p>
              <a:endParaRPr/>
            </a:p>
          </p:txBody>
        </p:sp>
        <p:sp>
          <p:nvSpPr>
            <p:cNvPr id="16" name="object 16"/>
            <p:cNvSpPr/>
            <p:nvPr/>
          </p:nvSpPr>
          <p:spPr>
            <a:xfrm>
              <a:off x="8667823" y="2526982"/>
              <a:ext cx="495300" cy="4226560"/>
            </a:xfrm>
            <a:custGeom>
              <a:avLst/>
              <a:gdLst/>
              <a:ahLst/>
              <a:cxnLst/>
              <a:rect l="l" t="t" r="r" b="b"/>
              <a:pathLst>
                <a:path w="495300" h="4226559">
                  <a:moveTo>
                    <a:pt x="495078" y="4226242"/>
                  </a:moveTo>
                  <a:lnTo>
                    <a:pt x="0" y="4226242"/>
                  </a:lnTo>
                  <a:lnTo>
                    <a:pt x="0" y="53397"/>
                  </a:lnTo>
                  <a:lnTo>
                    <a:pt x="19392" y="14085"/>
                  </a:lnTo>
                  <a:lnTo>
                    <a:pt x="53397" y="0"/>
                  </a:lnTo>
                  <a:lnTo>
                    <a:pt x="57149" y="0"/>
                  </a:lnTo>
                  <a:lnTo>
                    <a:pt x="441680" y="0"/>
                  </a:lnTo>
                  <a:lnTo>
                    <a:pt x="480992" y="19392"/>
                  </a:lnTo>
                  <a:lnTo>
                    <a:pt x="495078" y="53397"/>
                  </a:lnTo>
                  <a:lnTo>
                    <a:pt x="495078" y="4226242"/>
                  </a:lnTo>
                  <a:close/>
                </a:path>
              </a:pathLst>
            </a:custGeom>
            <a:solidFill>
              <a:srgbClr val="5C5EEF"/>
            </a:solidFill>
          </p:spPr>
          <p:txBody>
            <a:bodyPr wrap="square" lIns="0" tIns="0" rIns="0" bIns="0" rtlCol="0"/>
            <a:lstStyle/>
            <a:p>
              <a:endParaRPr/>
            </a:p>
          </p:txBody>
        </p:sp>
        <p:sp>
          <p:nvSpPr>
            <p:cNvPr id="17" name="object 17"/>
            <p:cNvSpPr/>
            <p:nvPr/>
          </p:nvSpPr>
          <p:spPr>
            <a:xfrm>
              <a:off x="9217910" y="3466147"/>
              <a:ext cx="495300" cy="3287395"/>
            </a:xfrm>
            <a:custGeom>
              <a:avLst/>
              <a:gdLst/>
              <a:ahLst/>
              <a:cxnLst/>
              <a:rect l="l" t="t" r="r" b="b"/>
              <a:pathLst>
                <a:path w="495300" h="3287395">
                  <a:moveTo>
                    <a:pt x="495078" y="3287077"/>
                  </a:moveTo>
                  <a:lnTo>
                    <a:pt x="0" y="3287077"/>
                  </a:lnTo>
                  <a:lnTo>
                    <a:pt x="0" y="53397"/>
                  </a:lnTo>
                  <a:lnTo>
                    <a:pt x="19392" y="14085"/>
                  </a:lnTo>
                  <a:lnTo>
                    <a:pt x="53397" y="0"/>
                  </a:lnTo>
                  <a:lnTo>
                    <a:pt x="57150" y="0"/>
                  </a:lnTo>
                  <a:lnTo>
                    <a:pt x="441681" y="0"/>
                  </a:lnTo>
                  <a:lnTo>
                    <a:pt x="480993" y="19392"/>
                  </a:lnTo>
                  <a:lnTo>
                    <a:pt x="495078" y="53397"/>
                  </a:lnTo>
                  <a:lnTo>
                    <a:pt x="495078" y="3287077"/>
                  </a:lnTo>
                  <a:close/>
                </a:path>
              </a:pathLst>
            </a:custGeom>
            <a:solidFill>
              <a:srgbClr val="090956"/>
            </a:solidFill>
          </p:spPr>
          <p:txBody>
            <a:bodyPr wrap="square" lIns="0" tIns="0" rIns="0" bIns="0" rtlCol="0"/>
            <a:lstStyle/>
            <a:p>
              <a:endParaRPr dirty="0"/>
            </a:p>
          </p:txBody>
        </p:sp>
        <p:sp>
          <p:nvSpPr>
            <p:cNvPr id="18" name="object 18"/>
            <p:cNvSpPr/>
            <p:nvPr/>
          </p:nvSpPr>
          <p:spPr>
            <a:xfrm>
              <a:off x="10318084" y="4499228"/>
              <a:ext cx="495300" cy="2254250"/>
            </a:xfrm>
            <a:custGeom>
              <a:avLst/>
              <a:gdLst/>
              <a:ahLst/>
              <a:cxnLst/>
              <a:rect l="l" t="t" r="r" b="b"/>
              <a:pathLst>
                <a:path w="495300" h="2254250">
                  <a:moveTo>
                    <a:pt x="495078" y="2253995"/>
                  </a:moveTo>
                  <a:lnTo>
                    <a:pt x="0" y="2253995"/>
                  </a:lnTo>
                  <a:lnTo>
                    <a:pt x="0" y="53397"/>
                  </a:lnTo>
                  <a:lnTo>
                    <a:pt x="19392" y="14085"/>
                  </a:lnTo>
                  <a:lnTo>
                    <a:pt x="53397" y="0"/>
                  </a:lnTo>
                  <a:lnTo>
                    <a:pt x="57149" y="0"/>
                  </a:lnTo>
                  <a:lnTo>
                    <a:pt x="441680" y="0"/>
                  </a:lnTo>
                  <a:lnTo>
                    <a:pt x="480992" y="19391"/>
                  </a:lnTo>
                  <a:lnTo>
                    <a:pt x="495078" y="53397"/>
                  </a:lnTo>
                  <a:lnTo>
                    <a:pt x="495078" y="2253995"/>
                  </a:lnTo>
                  <a:close/>
                </a:path>
              </a:pathLst>
            </a:custGeom>
            <a:solidFill>
              <a:srgbClr val="5C5EEF"/>
            </a:solidFill>
          </p:spPr>
          <p:txBody>
            <a:bodyPr wrap="square" lIns="0" tIns="0" rIns="0" bIns="0" rtlCol="0"/>
            <a:lstStyle/>
            <a:p>
              <a:endParaRPr/>
            </a:p>
          </p:txBody>
        </p:sp>
        <p:sp>
          <p:nvSpPr>
            <p:cNvPr id="19" name="object 19"/>
            <p:cNvSpPr/>
            <p:nvPr/>
          </p:nvSpPr>
          <p:spPr>
            <a:xfrm>
              <a:off x="10868171" y="3935729"/>
              <a:ext cx="495300" cy="2817495"/>
            </a:xfrm>
            <a:custGeom>
              <a:avLst/>
              <a:gdLst/>
              <a:ahLst/>
              <a:cxnLst/>
              <a:rect l="l" t="t" r="r" b="b"/>
              <a:pathLst>
                <a:path w="495300" h="2817495">
                  <a:moveTo>
                    <a:pt x="495078" y="2817494"/>
                  </a:moveTo>
                  <a:lnTo>
                    <a:pt x="0" y="2817494"/>
                  </a:lnTo>
                  <a:lnTo>
                    <a:pt x="0" y="53397"/>
                  </a:lnTo>
                  <a:lnTo>
                    <a:pt x="19392" y="14085"/>
                  </a:lnTo>
                  <a:lnTo>
                    <a:pt x="57149" y="0"/>
                  </a:lnTo>
                  <a:lnTo>
                    <a:pt x="441680" y="0"/>
                  </a:lnTo>
                  <a:lnTo>
                    <a:pt x="480992" y="19392"/>
                  </a:lnTo>
                  <a:lnTo>
                    <a:pt x="495078" y="53397"/>
                  </a:lnTo>
                  <a:lnTo>
                    <a:pt x="495078" y="2817494"/>
                  </a:lnTo>
                  <a:close/>
                </a:path>
              </a:pathLst>
            </a:custGeom>
            <a:solidFill>
              <a:srgbClr val="090956"/>
            </a:solidFill>
          </p:spPr>
          <p:txBody>
            <a:bodyPr wrap="square" lIns="0" tIns="0" rIns="0" bIns="0" rtlCol="0"/>
            <a:lstStyle/>
            <a:p>
              <a:endParaRPr/>
            </a:p>
          </p:txBody>
        </p:sp>
        <p:sp>
          <p:nvSpPr>
            <p:cNvPr id="20" name="object 20"/>
            <p:cNvSpPr/>
            <p:nvPr/>
          </p:nvSpPr>
          <p:spPr>
            <a:xfrm>
              <a:off x="11968345" y="5907976"/>
              <a:ext cx="495300" cy="845819"/>
            </a:xfrm>
            <a:custGeom>
              <a:avLst/>
              <a:gdLst/>
              <a:ahLst/>
              <a:cxnLst/>
              <a:rect l="l" t="t" r="r" b="b"/>
              <a:pathLst>
                <a:path w="495300" h="845820">
                  <a:moveTo>
                    <a:pt x="495078" y="845248"/>
                  </a:moveTo>
                  <a:lnTo>
                    <a:pt x="0" y="845248"/>
                  </a:lnTo>
                  <a:lnTo>
                    <a:pt x="0" y="53397"/>
                  </a:lnTo>
                  <a:lnTo>
                    <a:pt x="19392" y="14085"/>
                  </a:lnTo>
                  <a:lnTo>
                    <a:pt x="53397" y="0"/>
                  </a:lnTo>
                  <a:lnTo>
                    <a:pt x="57150" y="0"/>
                  </a:lnTo>
                  <a:lnTo>
                    <a:pt x="441681" y="0"/>
                  </a:lnTo>
                  <a:lnTo>
                    <a:pt x="480993" y="19391"/>
                  </a:lnTo>
                  <a:lnTo>
                    <a:pt x="495078" y="53397"/>
                  </a:lnTo>
                  <a:lnTo>
                    <a:pt x="495078" y="845248"/>
                  </a:lnTo>
                  <a:close/>
                </a:path>
              </a:pathLst>
            </a:custGeom>
            <a:solidFill>
              <a:srgbClr val="5C5EEF"/>
            </a:solidFill>
          </p:spPr>
          <p:txBody>
            <a:bodyPr wrap="square" lIns="0" tIns="0" rIns="0" bIns="0" rtlCol="0"/>
            <a:lstStyle/>
            <a:p>
              <a:endParaRPr/>
            </a:p>
          </p:txBody>
        </p:sp>
        <p:sp>
          <p:nvSpPr>
            <p:cNvPr id="21" name="object 21"/>
            <p:cNvSpPr/>
            <p:nvPr/>
          </p:nvSpPr>
          <p:spPr>
            <a:xfrm>
              <a:off x="12518432" y="6095809"/>
              <a:ext cx="495300" cy="657860"/>
            </a:xfrm>
            <a:custGeom>
              <a:avLst/>
              <a:gdLst/>
              <a:ahLst/>
              <a:cxnLst/>
              <a:rect l="l" t="t" r="r" b="b"/>
              <a:pathLst>
                <a:path w="495300" h="657859">
                  <a:moveTo>
                    <a:pt x="495079" y="657415"/>
                  </a:moveTo>
                  <a:lnTo>
                    <a:pt x="0" y="657415"/>
                  </a:lnTo>
                  <a:lnTo>
                    <a:pt x="0" y="53397"/>
                  </a:lnTo>
                  <a:lnTo>
                    <a:pt x="19392" y="14085"/>
                  </a:lnTo>
                  <a:lnTo>
                    <a:pt x="53397" y="0"/>
                  </a:lnTo>
                  <a:lnTo>
                    <a:pt x="57150" y="0"/>
                  </a:lnTo>
                  <a:lnTo>
                    <a:pt x="441681" y="0"/>
                  </a:lnTo>
                  <a:lnTo>
                    <a:pt x="480993" y="19392"/>
                  </a:lnTo>
                  <a:lnTo>
                    <a:pt x="495078" y="53397"/>
                  </a:lnTo>
                  <a:lnTo>
                    <a:pt x="495079" y="657415"/>
                  </a:lnTo>
                  <a:close/>
                </a:path>
              </a:pathLst>
            </a:custGeom>
            <a:solidFill>
              <a:srgbClr val="090956"/>
            </a:solidFill>
          </p:spPr>
          <p:txBody>
            <a:bodyPr wrap="square" lIns="0" tIns="0" rIns="0" bIns="0" rtlCol="0"/>
            <a:lstStyle/>
            <a:p>
              <a:endParaRPr/>
            </a:p>
          </p:txBody>
        </p:sp>
        <p:sp>
          <p:nvSpPr>
            <p:cNvPr id="22" name="object 22"/>
            <p:cNvSpPr/>
            <p:nvPr/>
          </p:nvSpPr>
          <p:spPr>
            <a:xfrm>
              <a:off x="6472237" y="6753224"/>
              <a:ext cx="7096125" cy="0"/>
            </a:xfrm>
            <a:custGeom>
              <a:avLst/>
              <a:gdLst/>
              <a:ahLst/>
              <a:cxnLst/>
              <a:rect l="l" t="t" r="r" b="b"/>
              <a:pathLst>
                <a:path w="7096125">
                  <a:moveTo>
                    <a:pt x="0" y="0"/>
                  </a:moveTo>
                  <a:lnTo>
                    <a:pt x="7096124" y="0"/>
                  </a:lnTo>
                </a:path>
              </a:pathLst>
            </a:custGeom>
            <a:ln w="9524">
              <a:solidFill>
                <a:srgbClr val="FFFFFF"/>
              </a:solidFill>
            </a:ln>
          </p:spPr>
          <p:txBody>
            <a:bodyPr wrap="square" lIns="0" tIns="0" rIns="0" bIns="0" rtlCol="0"/>
            <a:lstStyle/>
            <a:p>
              <a:endParaRPr/>
            </a:p>
          </p:txBody>
        </p:sp>
        <p:sp>
          <p:nvSpPr>
            <p:cNvPr id="23" name="object 23"/>
            <p:cNvSpPr/>
            <p:nvPr/>
          </p:nvSpPr>
          <p:spPr>
            <a:xfrm>
              <a:off x="6467474" y="2062162"/>
              <a:ext cx="0" cy="4695825"/>
            </a:xfrm>
            <a:custGeom>
              <a:avLst/>
              <a:gdLst/>
              <a:ahLst/>
              <a:cxnLst/>
              <a:rect l="l" t="t" r="r" b="b"/>
              <a:pathLst>
                <a:path h="4695825">
                  <a:moveTo>
                    <a:pt x="0" y="4695824"/>
                  </a:moveTo>
                  <a:lnTo>
                    <a:pt x="0" y="0"/>
                  </a:lnTo>
                </a:path>
              </a:pathLst>
            </a:custGeom>
            <a:ln w="9524">
              <a:solidFill>
                <a:srgbClr val="FFFFFF"/>
              </a:solidFill>
            </a:ln>
          </p:spPr>
          <p:txBody>
            <a:bodyPr wrap="square" lIns="0" tIns="0" rIns="0" bIns="0" rtlCol="0"/>
            <a:lstStyle/>
            <a:p>
              <a:endParaRPr/>
            </a:p>
          </p:txBody>
        </p:sp>
      </p:grpSp>
      <p:sp>
        <p:nvSpPr>
          <p:cNvPr id="24" name="object 24"/>
          <p:cNvSpPr txBox="1"/>
          <p:nvPr/>
        </p:nvSpPr>
        <p:spPr>
          <a:xfrm>
            <a:off x="7302648" y="6845300"/>
            <a:ext cx="4749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Morning</a:t>
            </a:r>
            <a:endParaRPr sz="900">
              <a:latin typeface="Tahoma"/>
              <a:cs typeface="Tahoma"/>
            </a:endParaRPr>
          </a:p>
        </p:txBody>
      </p:sp>
      <p:sp>
        <p:nvSpPr>
          <p:cNvPr id="25" name="object 25"/>
          <p:cNvSpPr txBox="1"/>
          <p:nvPr/>
        </p:nvSpPr>
        <p:spPr>
          <a:xfrm>
            <a:off x="8909099" y="6845300"/>
            <a:ext cx="56261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Afternoon</a:t>
            </a:r>
            <a:endParaRPr sz="900">
              <a:latin typeface="Tahoma"/>
              <a:cs typeface="Tahoma"/>
            </a:endParaRPr>
          </a:p>
        </p:txBody>
      </p:sp>
      <p:sp>
        <p:nvSpPr>
          <p:cNvPr id="26" name="object 26"/>
          <p:cNvSpPr txBox="1"/>
          <p:nvPr/>
        </p:nvSpPr>
        <p:spPr>
          <a:xfrm>
            <a:off x="10612734" y="6845300"/>
            <a:ext cx="45593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Evening</a:t>
            </a:r>
            <a:endParaRPr sz="900">
              <a:latin typeface="Tahoma"/>
              <a:cs typeface="Tahoma"/>
            </a:endParaRPr>
          </a:p>
        </p:txBody>
      </p:sp>
      <p:sp>
        <p:nvSpPr>
          <p:cNvPr id="27" name="object 27"/>
          <p:cNvSpPr txBox="1"/>
          <p:nvPr/>
        </p:nvSpPr>
        <p:spPr>
          <a:xfrm>
            <a:off x="12333782" y="6845300"/>
            <a:ext cx="314325"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Night</a:t>
            </a:r>
            <a:endParaRPr sz="900">
              <a:latin typeface="Tahoma"/>
              <a:cs typeface="Tahoma"/>
            </a:endParaRPr>
          </a:p>
        </p:txBody>
      </p:sp>
      <p:sp>
        <p:nvSpPr>
          <p:cNvPr id="28" name="object 28"/>
          <p:cNvSpPr txBox="1"/>
          <p:nvPr/>
        </p:nvSpPr>
        <p:spPr>
          <a:xfrm>
            <a:off x="6268292" y="6654800"/>
            <a:ext cx="9779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0</a:t>
            </a:r>
            <a:endParaRPr sz="900">
              <a:latin typeface="Tahoma"/>
              <a:cs typeface="Tahoma"/>
            </a:endParaRPr>
          </a:p>
        </p:txBody>
      </p:sp>
      <p:sp>
        <p:nvSpPr>
          <p:cNvPr id="29" name="object 29"/>
          <p:cNvSpPr txBox="1"/>
          <p:nvPr/>
        </p:nvSpPr>
        <p:spPr>
          <a:xfrm>
            <a:off x="6221858" y="5715545"/>
            <a:ext cx="14414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10</a:t>
            </a:r>
            <a:endParaRPr sz="900">
              <a:latin typeface="Tahoma"/>
              <a:cs typeface="Tahoma"/>
            </a:endParaRPr>
          </a:p>
        </p:txBody>
      </p:sp>
      <p:sp>
        <p:nvSpPr>
          <p:cNvPr id="30" name="object 30"/>
          <p:cNvSpPr txBox="1"/>
          <p:nvPr/>
        </p:nvSpPr>
        <p:spPr>
          <a:xfrm>
            <a:off x="6198641" y="4776440"/>
            <a:ext cx="167640"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FFFFFF"/>
                </a:solidFill>
                <a:latin typeface="Tahoma"/>
                <a:cs typeface="Tahoma"/>
              </a:rPr>
              <a:t>20</a:t>
            </a:r>
            <a:endParaRPr sz="900">
              <a:latin typeface="Tahoma"/>
              <a:cs typeface="Tahoma"/>
            </a:endParaRPr>
          </a:p>
        </p:txBody>
      </p:sp>
      <p:sp>
        <p:nvSpPr>
          <p:cNvPr id="31" name="object 31"/>
          <p:cNvSpPr txBox="1"/>
          <p:nvPr/>
        </p:nvSpPr>
        <p:spPr>
          <a:xfrm>
            <a:off x="6197748" y="3837185"/>
            <a:ext cx="168275" cy="162560"/>
          </a:xfrm>
          <a:prstGeom prst="rect">
            <a:avLst/>
          </a:prstGeom>
        </p:spPr>
        <p:txBody>
          <a:bodyPr vert="horz" wrap="square" lIns="0" tIns="12700" rIns="0" bIns="0" rtlCol="0">
            <a:spAutoFit/>
          </a:bodyPr>
          <a:lstStyle/>
          <a:p>
            <a:pPr marL="12700">
              <a:lnSpc>
                <a:spcPct val="100000"/>
              </a:lnSpc>
              <a:spcBef>
                <a:spcPts val="100"/>
              </a:spcBef>
            </a:pPr>
            <a:r>
              <a:rPr sz="900" spc="45" dirty="0">
                <a:solidFill>
                  <a:srgbClr val="FFFFFF"/>
                </a:solidFill>
                <a:latin typeface="Tahoma"/>
                <a:cs typeface="Tahoma"/>
              </a:rPr>
              <a:t>30</a:t>
            </a:r>
            <a:endParaRPr sz="900">
              <a:latin typeface="Tahoma"/>
              <a:cs typeface="Tahoma"/>
            </a:endParaRPr>
          </a:p>
        </p:txBody>
      </p:sp>
      <p:sp>
        <p:nvSpPr>
          <p:cNvPr id="32" name="object 32"/>
          <p:cNvSpPr txBox="1"/>
          <p:nvPr/>
        </p:nvSpPr>
        <p:spPr>
          <a:xfrm>
            <a:off x="6194474" y="2898080"/>
            <a:ext cx="171450" cy="162560"/>
          </a:xfrm>
          <a:prstGeom prst="rect">
            <a:avLst/>
          </a:prstGeom>
        </p:spPr>
        <p:txBody>
          <a:bodyPr vert="horz" wrap="square" lIns="0" tIns="12700" rIns="0" bIns="0" rtlCol="0">
            <a:spAutoFit/>
          </a:bodyPr>
          <a:lstStyle/>
          <a:p>
            <a:pPr marL="12700">
              <a:lnSpc>
                <a:spcPct val="100000"/>
              </a:lnSpc>
              <a:spcBef>
                <a:spcPts val="100"/>
              </a:spcBef>
            </a:pPr>
            <a:r>
              <a:rPr sz="900" spc="55" dirty="0">
                <a:solidFill>
                  <a:srgbClr val="FFFFFF"/>
                </a:solidFill>
                <a:latin typeface="Tahoma"/>
                <a:cs typeface="Tahoma"/>
              </a:rPr>
              <a:t>40</a:t>
            </a:r>
            <a:endParaRPr sz="900">
              <a:latin typeface="Tahoma"/>
              <a:cs typeface="Tahoma"/>
            </a:endParaRPr>
          </a:p>
        </p:txBody>
      </p:sp>
      <p:sp>
        <p:nvSpPr>
          <p:cNvPr id="33" name="object 33"/>
          <p:cNvSpPr txBox="1"/>
          <p:nvPr/>
        </p:nvSpPr>
        <p:spPr>
          <a:xfrm>
            <a:off x="6200427" y="1958975"/>
            <a:ext cx="165735" cy="162560"/>
          </a:xfrm>
          <a:prstGeom prst="rect">
            <a:avLst/>
          </a:prstGeom>
        </p:spPr>
        <p:txBody>
          <a:bodyPr vert="horz" wrap="square" lIns="0" tIns="12700" rIns="0" bIns="0" rtlCol="0">
            <a:spAutoFit/>
          </a:bodyPr>
          <a:lstStyle/>
          <a:p>
            <a:pPr marL="12700">
              <a:lnSpc>
                <a:spcPct val="100000"/>
              </a:lnSpc>
              <a:spcBef>
                <a:spcPts val="100"/>
              </a:spcBef>
            </a:pPr>
            <a:r>
              <a:rPr sz="900" spc="30" dirty="0">
                <a:solidFill>
                  <a:srgbClr val="FFFFFF"/>
                </a:solidFill>
                <a:latin typeface="Tahoma"/>
                <a:cs typeface="Tahoma"/>
              </a:rPr>
              <a:t>50</a:t>
            </a:r>
            <a:endParaRPr sz="900">
              <a:latin typeface="Tahoma"/>
              <a:cs typeface="Tahoma"/>
            </a:endParaRPr>
          </a:p>
        </p:txBody>
      </p:sp>
      <p:sp>
        <p:nvSpPr>
          <p:cNvPr id="34" name="object 34"/>
          <p:cNvSpPr/>
          <p:nvPr/>
        </p:nvSpPr>
        <p:spPr>
          <a:xfrm>
            <a:off x="9420224" y="7134224"/>
            <a:ext cx="885825" cy="266700"/>
          </a:xfrm>
          <a:custGeom>
            <a:avLst/>
            <a:gdLst/>
            <a:ahLst/>
            <a:cxnLst/>
            <a:rect l="l" t="t" r="r" b="b"/>
            <a:pathLst>
              <a:path w="885825" h="266700">
                <a:moveTo>
                  <a:pt x="752474" y="266699"/>
                </a:moveTo>
                <a:lnTo>
                  <a:pt x="133349" y="266699"/>
                </a:lnTo>
                <a:lnTo>
                  <a:pt x="126798" y="266539"/>
                </a:lnTo>
                <a:lnTo>
                  <a:pt x="88431" y="258906"/>
                </a:lnTo>
                <a:lnTo>
                  <a:pt x="53906" y="240452"/>
                </a:lnTo>
                <a:lnTo>
                  <a:pt x="26245" y="212792"/>
                </a:lnTo>
                <a:lnTo>
                  <a:pt x="7791" y="178265"/>
                </a:lnTo>
                <a:lnTo>
                  <a:pt x="159" y="139900"/>
                </a:lnTo>
                <a:lnTo>
                  <a:pt x="0" y="133349"/>
                </a:lnTo>
                <a:lnTo>
                  <a:pt x="159" y="126798"/>
                </a:lnTo>
                <a:lnTo>
                  <a:pt x="7791" y="88432"/>
                </a:lnTo>
                <a:lnTo>
                  <a:pt x="26246" y="53906"/>
                </a:lnTo>
                <a:lnTo>
                  <a:pt x="53905" y="26246"/>
                </a:lnTo>
                <a:lnTo>
                  <a:pt x="88431" y="7791"/>
                </a:lnTo>
                <a:lnTo>
                  <a:pt x="126798" y="160"/>
                </a:lnTo>
                <a:lnTo>
                  <a:pt x="133349" y="0"/>
                </a:lnTo>
                <a:lnTo>
                  <a:pt x="752474" y="0"/>
                </a:lnTo>
                <a:lnTo>
                  <a:pt x="791184" y="5740"/>
                </a:lnTo>
                <a:lnTo>
                  <a:pt x="826558" y="22473"/>
                </a:lnTo>
                <a:lnTo>
                  <a:pt x="855556" y="48752"/>
                </a:lnTo>
                <a:lnTo>
                  <a:pt x="875673" y="82318"/>
                </a:lnTo>
                <a:lnTo>
                  <a:pt x="885183" y="120279"/>
                </a:lnTo>
                <a:lnTo>
                  <a:pt x="885824" y="133349"/>
                </a:lnTo>
                <a:lnTo>
                  <a:pt x="885664" y="139900"/>
                </a:lnTo>
                <a:lnTo>
                  <a:pt x="878032" y="178265"/>
                </a:lnTo>
                <a:lnTo>
                  <a:pt x="859577" y="212792"/>
                </a:lnTo>
                <a:lnTo>
                  <a:pt x="831917" y="240452"/>
                </a:lnTo>
                <a:lnTo>
                  <a:pt x="797391" y="258906"/>
                </a:lnTo>
                <a:lnTo>
                  <a:pt x="759026" y="266539"/>
                </a:lnTo>
                <a:lnTo>
                  <a:pt x="752474" y="266699"/>
                </a:lnTo>
                <a:close/>
              </a:path>
            </a:pathLst>
          </a:custGeom>
          <a:solidFill>
            <a:srgbClr val="FFFFFF">
              <a:alpha val="5879"/>
            </a:srgbClr>
          </a:solidFill>
        </p:spPr>
        <p:txBody>
          <a:bodyPr wrap="square" lIns="0" tIns="0" rIns="0" bIns="0" rtlCol="0"/>
          <a:lstStyle/>
          <a:p>
            <a:endParaRPr/>
          </a:p>
        </p:txBody>
      </p:sp>
      <p:sp>
        <p:nvSpPr>
          <p:cNvPr id="35" name="object 35"/>
          <p:cNvSpPr txBox="1"/>
          <p:nvPr/>
        </p:nvSpPr>
        <p:spPr>
          <a:xfrm>
            <a:off x="9524057" y="7178675"/>
            <a:ext cx="67818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FFFFFF"/>
                </a:solidFill>
                <a:latin typeface="Tahoma"/>
                <a:cs typeface="Tahoma"/>
              </a:rPr>
              <a:t>Time</a:t>
            </a:r>
            <a:r>
              <a:rPr sz="900" spc="90" dirty="0">
                <a:solidFill>
                  <a:srgbClr val="FFFFFF"/>
                </a:solidFill>
                <a:latin typeface="Tahoma"/>
                <a:cs typeface="Tahoma"/>
              </a:rPr>
              <a:t> </a:t>
            </a:r>
            <a:r>
              <a:rPr sz="900" dirty="0">
                <a:solidFill>
                  <a:srgbClr val="FFFFFF"/>
                </a:solidFill>
                <a:latin typeface="Tahoma"/>
                <a:cs typeface="Tahoma"/>
              </a:rPr>
              <a:t>of</a:t>
            </a:r>
            <a:r>
              <a:rPr sz="900" spc="95" dirty="0">
                <a:solidFill>
                  <a:srgbClr val="FFFFFF"/>
                </a:solidFill>
                <a:latin typeface="Tahoma"/>
                <a:cs typeface="Tahoma"/>
              </a:rPr>
              <a:t> </a:t>
            </a:r>
            <a:r>
              <a:rPr sz="900" spc="-25" dirty="0">
                <a:solidFill>
                  <a:srgbClr val="FFFFFF"/>
                </a:solidFill>
                <a:latin typeface="Tahoma"/>
                <a:cs typeface="Tahoma"/>
              </a:rPr>
              <a:t>Day</a:t>
            </a:r>
            <a:endParaRPr sz="900">
              <a:latin typeface="Tahoma"/>
              <a:cs typeface="Tahoma"/>
            </a:endParaRPr>
          </a:p>
        </p:txBody>
      </p:sp>
      <p:pic>
        <p:nvPicPr>
          <p:cNvPr id="38" name="Picture 37">
            <a:extLst>
              <a:ext uri="{FF2B5EF4-FFF2-40B4-BE49-F238E27FC236}">
                <a16:creationId xmlns:a16="http://schemas.microsoft.com/office/drawing/2014/main" id="{0490063A-2CD8-192F-9928-2BBD3223BA53}"/>
              </a:ext>
            </a:extLst>
          </p:cNvPr>
          <p:cNvPicPr>
            <a:picLocks noChangeAspect="1"/>
          </p:cNvPicPr>
          <p:nvPr/>
        </p:nvPicPr>
        <p:blipFill>
          <a:blip r:embed="rId4"/>
          <a:srcRect t="1341"/>
          <a:stretch>
            <a:fillRect/>
          </a:stretch>
        </p:blipFill>
        <p:spPr>
          <a:xfrm>
            <a:off x="5536745" y="1536700"/>
            <a:ext cx="8652782" cy="5330265"/>
          </a:xfrm>
          <a:prstGeom prst="rect">
            <a:avLst/>
          </a:prstGeom>
        </p:spPr>
      </p:pic>
      <p:pic>
        <p:nvPicPr>
          <p:cNvPr id="40" name="Picture 39">
            <a:extLst>
              <a:ext uri="{FF2B5EF4-FFF2-40B4-BE49-F238E27FC236}">
                <a16:creationId xmlns:a16="http://schemas.microsoft.com/office/drawing/2014/main" id="{DD9E60E2-38CA-9B48-A573-C0125E5CF05F}"/>
              </a:ext>
            </a:extLst>
          </p:cNvPr>
          <p:cNvPicPr>
            <a:picLocks noChangeAspect="1"/>
          </p:cNvPicPr>
          <p:nvPr/>
        </p:nvPicPr>
        <p:blipFill>
          <a:blip r:embed="rId5"/>
          <a:stretch>
            <a:fillRect/>
          </a:stretch>
        </p:blipFill>
        <p:spPr>
          <a:xfrm>
            <a:off x="9272482" y="1457498"/>
            <a:ext cx="1595689" cy="1841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object 16"/>
          <p:cNvGrpSpPr/>
          <p:nvPr/>
        </p:nvGrpSpPr>
        <p:grpSpPr>
          <a:xfrm>
            <a:off x="6455568" y="2247899"/>
            <a:ext cx="7119936" cy="4510088"/>
            <a:chOff x="6455568" y="2247899"/>
            <a:chExt cx="7119936" cy="4510088"/>
          </a:xfrm>
        </p:grpSpPr>
        <p:sp>
          <p:nvSpPr>
            <p:cNvPr id="17" name="object 17"/>
            <p:cNvSpPr/>
            <p:nvPr/>
          </p:nvSpPr>
          <p:spPr>
            <a:xfrm>
              <a:off x="6467474" y="2247899"/>
              <a:ext cx="7096125" cy="0"/>
            </a:xfrm>
            <a:custGeom>
              <a:avLst/>
              <a:gdLst/>
              <a:ahLst/>
              <a:cxnLst/>
              <a:rect l="l" t="t" r="r" b="b"/>
              <a:pathLst>
                <a:path w="7096125">
                  <a:moveTo>
                    <a:pt x="0" y="0"/>
                  </a:moveTo>
                  <a:lnTo>
                    <a:pt x="7096124" y="0"/>
                  </a:lnTo>
                </a:path>
              </a:pathLst>
            </a:custGeom>
            <a:ln w="9524">
              <a:solidFill>
                <a:srgbClr val="FFFFFF"/>
              </a:solidFill>
            </a:ln>
          </p:spPr>
          <p:txBody>
            <a:bodyPr wrap="square" lIns="0" tIns="0" rIns="0" bIns="0" rtlCol="0"/>
            <a:lstStyle/>
            <a:p>
              <a:endParaRPr/>
            </a:p>
          </p:txBody>
        </p:sp>
        <p:pic>
          <p:nvPicPr>
            <p:cNvPr id="18" name="object 18"/>
            <p:cNvPicPr/>
            <p:nvPr/>
          </p:nvPicPr>
          <p:blipFill>
            <a:blip r:embed="rId2" cstate="print"/>
            <a:stretch>
              <a:fillRect/>
            </a:stretch>
          </p:blipFill>
          <p:spPr>
            <a:xfrm>
              <a:off x="6467474" y="2652712"/>
              <a:ext cx="7096124" cy="4105274"/>
            </a:xfrm>
            <a:prstGeom prst="rect">
              <a:avLst/>
            </a:prstGeom>
          </p:spPr>
        </p:pic>
        <p:pic>
          <p:nvPicPr>
            <p:cNvPr id="19" name="object 19"/>
            <p:cNvPicPr/>
            <p:nvPr/>
          </p:nvPicPr>
          <p:blipFill>
            <a:blip r:embed="rId3" cstate="print"/>
            <a:stretch>
              <a:fillRect/>
            </a:stretch>
          </p:blipFill>
          <p:spPr>
            <a:xfrm>
              <a:off x="6467474" y="3271837"/>
              <a:ext cx="7096124" cy="3481387"/>
            </a:xfrm>
            <a:prstGeom prst="rect">
              <a:avLst/>
            </a:prstGeom>
          </p:spPr>
        </p:pic>
        <p:pic>
          <p:nvPicPr>
            <p:cNvPr id="20" name="object 20"/>
            <p:cNvPicPr/>
            <p:nvPr/>
          </p:nvPicPr>
          <p:blipFill>
            <a:blip r:embed="rId4" cstate="print"/>
            <a:stretch>
              <a:fillRect/>
            </a:stretch>
          </p:blipFill>
          <p:spPr>
            <a:xfrm>
              <a:off x="6455568" y="2614612"/>
              <a:ext cx="7119936" cy="3567112"/>
            </a:xfrm>
            <a:prstGeom prst="rect">
              <a:avLst/>
            </a:prstGeom>
          </p:spPr>
        </p:pic>
        <p:sp>
          <p:nvSpPr>
            <p:cNvPr id="21" name="object 21"/>
            <p:cNvSpPr/>
            <p:nvPr/>
          </p:nvSpPr>
          <p:spPr>
            <a:xfrm>
              <a:off x="6472237" y="6753225"/>
              <a:ext cx="7096125" cy="0"/>
            </a:xfrm>
            <a:custGeom>
              <a:avLst/>
              <a:gdLst/>
              <a:ahLst/>
              <a:cxnLst/>
              <a:rect l="l" t="t" r="r" b="b"/>
              <a:pathLst>
                <a:path w="7096125">
                  <a:moveTo>
                    <a:pt x="0" y="0"/>
                  </a:moveTo>
                  <a:lnTo>
                    <a:pt x="7096124" y="0"/>
                  </a:lnTo>
                </a:path>
              </a:pathLst>
            </a:custGeom>
            <a:ln w="9524">
              <a:solidFill>
                <a:srgbClr val="FFFFFF"/>
              </a:solidFill>
            </a:ln>
          </p:spPr>
          <p:txBody>
            <a:bodyPr wrap="square" lIns="0" tIns="0" rIns="0" bIns="0" rtlCol="0"/>
            <a:lstStyle/>
            <a:p>
              <a:endParaRPr/>
            </a:p>
          </p:txBody>
        </p:sp>
        <p:sp>
          <p:nvSpPr>
            <p:cNvPr id="22" name="object 22"/>
            <p:cNvSpPr/>
            <p:nvPr/>
          </p:nvSpPr>
          <p:spPr>
            <a:xfrm>
              <a:off x="6467474" y="2252662"/>
              <a:ext cx="0" cy="4505325"/>
            </a:xfrm>
            <a:custGeom>
              <a:avLst/>
              <a:gdLst/>
              <a:ahLst/>
              <a:cxnLst/>
              <a:rect l="l" t="t" r="r" b="b"/>
              <a:pathLst>
                <a:path h="4505325">
                  <a:moveTo>
                    <a:pt x="0" y="4505324"/>
                  </a:moveTo>
                  <a:lnTo>
                    <a:pt x="0" y="0"/>
                  </a:lnTo>
                </a:path>
              </a:pathLst>
            </a:custGeom>
            <a:ln w="9524">
              <a:solidFill>
                <a:srgbClr val="FFFFFF"/>
              </a:solidFill>
            </a:ln>
          </p:spPr>
          <p:txBody>
            <a:bodyPr wrap="square" lIns="0" tIns="0" rIns="0" bIns="0" rtlCol="0"/>
            <a:lstStyle/>
            <a:p>
              <a:endParaRPr/>
            </a:p>
          </p:txBody>
        </p:sp>
      </p:grpSp>
      <p:sp>
        <p:nvSpPr>
          <p:cNvPr id="2" name="object 2"/>
          <p:cNvSpPr/>
          <p:nvPr/>
        </p:nvSpPr>
        <p:spPr>
          <a:xfrm>
            <a:off x="0" y="0"/>
            <a:ext cx="5181600" cy="8096250"/>
          </a:xfrm>
          <a:custGeom>
            <a:avLst/>
            <a:gdLst/>
            <a:ahLst/>
            <a:cxnLst/>
            <a:rect l="l" t="t" r="r" b="b"/>
            <a:pathLst>
              <a:path w="5181600" h="8096250">
                <a:moveTo>
                  <a:pt x="5181599" y="8096249"/>
                </a:moveTo>
                <a:lnTo>
                  <a:pt x="0" y="8096249"/>
                </a:lnTo>
                <a:lnTo>
                  <a:pt x="0" y="0"/>
                </a:lnTo>
                <a:lnTo>
                  <a:pt x="5181599" y="0"/>
                </a:lnTo>
                <a:lnTo>
                  <a:pt x="5181599" y="8096249"/>
                </a:lnTo>
                <a:close/>
              </a:path>
            </a:pathLst>
          </a:custGeom>
          <a:solidFill>
            <a:srgbClr val="0F1117"/>
          </a:solidFill>
        </p:spPr>
        <p:txBody>
          <a:bodyPr wrap="square" lIns="0" tIns="0" rIns="0" bIns="0" rtlCol="0"/>
          <a:lstStyle/>
          <a:p>
            <a:endParaRPr/>
          </a:p>
        </p:txBody>
      </p:sp>
      <p:sp>
        <p:nvSpPr>
          <p:cNvPr id="3" name="object 3"/>
          <p:cNvSpPr txBox="1"/>
          <p:nvPr/>
        </p:nvSpPr>
        <p:spPr>
          <a:xfrm>
            <a:off x="492125" y="657225"/>
            <a:ext cx="4085590" cy="1771014"/>
          </a:xfrm>
          <a:prstGeom prst="rect">
            <a:avLst/>
          </a:prstGeom>
        </p:spPr>
        <p:txBody>
          <a:bodyPr vert="horz" wrap="square" lIns="0" tIns="28575" rIns="0" bIns="0" rtlCol="0">
            <a:spAutoFit/>
          </a:bodyPr>
          <a:lstStyle/>
          <a:p>
            <a:pPr marL="21590" algn="just">
              <a:lnSpc>
                <a:spcPct val="100000"/>
              </a:lnSpc>
              <a:spcBef>
                <a:spcPts val="225"/>
              </a:spcBef>
            </a:pPr>
            <a:r>
              <a:rPr sz="1500" spc="75" dirty="0">
                <a:solidFill>
                  <a:srgbClr val="96948B"/>
                </a:solidFill>
                <a:latin typeface="Tahoma"/>
                <a:cs typeface="Tahoma"/>
              </a:rPr>
              <a:t>Seasonal</a:t>
            </a:r>
            <a:r>
              <a:rPr sz="1500" spc="-50" dirty="0">
                <a:solidFill>
                  <a:srgbClr val="96948B"/>
                </a:solidFill>
                <a:latin typeface="Tahoma"/>
                <a:cs typeface="Tahoma"/>
              </a:rPr>
              <a:t> </a:t>
            </a:r>
            <a:r>
              <a:rPr sz="1500" spc="-10" dirty="0">
                <a:solidFill>
                  <a:srgbClr val="96948B"/>
                </a:solidFill>
                <a:latin typeface="Tahoma"/>
                <a:cs typeface="Tahoma"/>
              </a:rPr>
              <a:t>patterns</a:t>
            </a:r>
            <a:endParaRPr sz="1500" dirty="0">
              <a:latin typeface="Tahoma"/>
              <a:cs typeface="Tahoma"/>
            </a:endParaRPr>
          </a:p>
          <a:p>
            <a:pPr marL="12700" marR="5080" algn="just">
              <a:lnSpc>
                <a:spcPts val="3600"/>
              </a:lnSpc>
              <a:spcBef>
                <a:spcPts val="1019"/>
              </a:spcBef>
            </a:pPr>
            <a:r>
              <a:rPr sz="3600" spc="130" dirty="0">
                <a:solidFill>
                  <a:srgbClr val="F1F2F2"/>
                </a:solidFill>
                <a:latin typeface="Tahoma"/>
                <a:cs typeface="Tahoma"/>
              </a:rPr>
              <a:t>Summer</a:t>
            </a:r>
            <a:r>
              <a:rPr sz="3600" spc="-145" dirty="0">
                <a:solidFill>
                  <a:srgbClr val="F1F2F2"/>
                </a:solidFill>
                <a:latin typeface="Tahoma"/>
                <a:cs typeface="Tahoma"/>
              </a:rPr>
              <a:t> </a:t>
            </a:r>
            <a:r>
              <a:rPr sz="3600" spc="140" dirty="0">
                <a:solidFill>
                  <a:srgbClr val="F1F2F2"/>
                </a:solidFill>
                <a:latin typeface="Tahoma"/>
                <a:cs typeface="Tahoma"/>
              </a:rPr>
              <a:t>drives</a:t>
            </a:r>
            <a:r>
              <a:rPr sz="3600" spc="-140" dirty="0">
                <a:solidFill>
                  <a:srgbClr val="F1F2F2"/>
                </a:solidFill>
                <a:latin typeface="Tahoma"/>
                <a:cs typeface="Tahoma"/>
              </a:rPr>
              <a:t> </a:t>
            </a:r>
            <a:r>
              <a:rPr sz="3600" spc="50" dirty="0">
                <a:solidFill>
                  <a:srgbClr val="F1F2F2"/>
                </a:solidFill>
                <a:latin typeface="Tahoma"/>
                <a:cs typeface="Tahoma"/>
              </a:rPr>
              <a:t>the </a:t>
            </a:r>
            <a:r>
              <a:rPr sz="3600" spc="125" dirty="0">
                <a:solidFill>
                  <a:srgbClr val="F1F2F2"/>
                </a:solidFill>
                <a:latin typeface="Tahoma"/>
                <a:cs typeface="Tahoma"/>
              </a:rPr>
              <a:t>most</a:t>
            </a:r>
            <a:r>
              <a:rPr sz="3600" spc="-145" dirty="0">
                <a:solidFill>
                  <a:srgbClr val="F1F2F2"/>
                </a:solidFill>
                <a:latin typeface="Tahoma"/>
                <a:cs typeface="Tahoma"/>
              </a:rPr>
              <a:t> </a:t>
            </a:r>
            <a:r>
              <a:rPr sz="3600" spc="140" dirty="0">
                <a:solidFill>
                  <a:srgbClr val="F1F2F2"/>
                </a:solidFill>
                <a:latin typeface="Tahoma"/>
                <a:cs typeface="Tahoma"/>
              </a:rPr>
              <a:t>rides</a:t>
            </a:r>
            <a:r>
              <a:rPr sz="3600" spc="-145" dirty="0">
                <a:solidFill>
                  <a:srgbClr val="F1F2F2"/>
                </a:solidFill>
                <a:latin typeface="Tahoma"/>
                <a:cs typeface="Tahoma"/>
              </a:rPr>
              <a:t> </a:t>
            </a:r>
            <a:r>
              <a:rPr sz="3600" spc="90" dirty="0">
                <a:solidFill>
                  <a:srgbClr val="F1F2F2"/>
                </a:solidFill>
                <a:latin typeface="Tahoma"/>
                <a:cs typeface="Tahoma"/>
              </a:rPr>
              <a:t>for</a:t>
            </a:r>
            <a:r>
              <a:rPr sz="3600" spc="-140" dirty="0">
                <a:solidFill>
                  <a:srgbClr val="F1F2F2"/>
                </a:solidFill>
                <a:latin typeface="Tahoma"/>
                <a:cs typeface="Tahoma"/>
              </a:rPr>
              <a:t> </a:t>
            </a:r>
            <a:r>
              <a:rPr sz="3600" spc="80" dirty="0">
                <a:solidFill>
                  <a:srgbClr val="F1F2F2"/>
                </a:solidFill>
                <a:latin typeface="Tahoma"/>
                <a:cs typeface="Tahoma"/>
              </a:rPr>
              <a:t>both </a:t>
            </a:r>
            <a:r>
              <a:rPr sz="3600" spc="135" dirty="0">
                <a:solidFill>
                  <a:srgbClr val="F1F2F2"/>
                </a:solidFill>
                <a:latin typeface="Tahoma"/>
                <a:cs typeface="Tahoma"/>
              </a:rPr>
              <a:t>groups</a:t>
            </a:r>
            <a:endParaRPr sz="3600" dirty="0">
              <a:latin typeface="Tahoma"/>
              <a:cs typeface="Tahoma"/>
            </a:endParaRPr>
          </a:p>
        </p:txBody>
      </p:sp>
      <p:sp>
        <p:nvSpPr>
          <p:cNvPr id="4" name="object 4"/>
          <p:cNvSpPr txBox="1"/>
          <p:nvPr/>
        </p:nvSpPr>
        <p:spPr>
          <a:xfrm>
            <a:off x="492125" y="5702300"/>
            <a:ext cx="4189729" cy="939800"/>
          </a:xfrm>
          <a:prstGeom prst="rect">
            <a:avLst/>
          </a:prstGeom>
        </p:spPr>
        <p:txBody>
          <a:bodyPr vert="horz" wrap="square" lIns="0" tIns="12700" rIns="0" bIns="0" rtlCol="0">
            <a:spAutoFit/>
          </a:bodyPr>
          <a:lstStyle/>
          <a:p>
            <a:pPr marL="12700" marR="5080">
              <a:lnSpc>
                <a:spcPct val="100000"/>
              </a:lnSpc>
              <a:spcBef>
                <a:spcPts val="100"/>
              </a:spcBef>
            </a:pPr>
            <a:r>
              <a:rPr sz="1500" spc="60" dirty="0">
                <a:solidFill>
                  <a:schemeClr val="bg1">
                    <a:lumMod val="75000"/>
                  </a:schemeClr>
                </a:solidFill>
                <a:latin typeface="Tahoma"/>
                <a:cs typeface="Tahoma"/>
              </a:rPr>
              <a:t>Summer</a:t>
            </a:r>
            <a:r>
              <a:rPr sz="1500" spc="-15" dirty="0">
                <a:solidFill>
                  <a:schemeClr val="bg1">
                    <a:lumMod val="75000"/>
                  </a:schemeClr>
                </a:solidFill>
                <a:latin typeface="Tahoma"/>
                <a:cs typeface="Tahoma"/>
              </a:rPr>
              <a:t> </a:t>
            </a:r>
            <a:r>
              <a:rPr sz="1500" spc="70" dirty="0">
                <a:solidFill>
                  <a:schemeClr val="bg1">
                    <a:lumMod val="75000"/>
                  </a:schemeClr>
                </a:solidFill>
                <a:latin typeface="Tahoma"/>
                <a:cs typeface="Tahoma"/>
              </a:rPr>
              <a:t>is</a:t>
            </a:r>
            <a:r>
              <a:rPr sz="1500" spc="-15" dirty="0">
                <a:solidFill>
                  <a:schemeClr val="bg1">
                    <a:lumMod val="75000"/>
                  </a:schemeClr>
                </a:solidFill>
                <a:latin typeface="Tahoma"/>
                <a:cs typeface="Tahoma"/>
              </a:rPr>
              <a:t> </a:t>
            </a:r>
            <a:r>
              <a:rPr sz="1500" dirty="0">
                <a:solidFill>
                  <a:schemeClr val="bg1">
                    <a:lumMod val="75000"/>
                  </a:schemeClr>
                </a:solidFill>
                <a:latin typeface="Tahoma"/>
                <a:cs typeface="Tahoma"/>
              </a:rPr>
              <a:t>the</a:t>
            </a:r>
            <a:r>
              <a:rPr sz="1500" spc="-15" dirty="0">
                <a:solidFill>
                  <a:schemeClr val="bg1">
                    <a:lumMod val="75000"/>
                  </a:schemeClr>
                </a:solidFill>
                <a:latin typeface="Tahoma"/>
                <a:cs typeface="Tahoma"/>
              </a:rPr>
              <a:t> </a:t>
            </a:r>
            <a:r>
              <a:rPr sz="1500" spc="50" dirty="0">
                <a:solidFill>
                  <a:schemeClr val="bg1">
                    <a:lumMod val="75000"/>
                  </a:schemeClr>
                </a:solidFill>
                <a:latin typeface="Tahoma"/>
                <a:cs typeface="Tahoma"/>
              </a:rPr>
              <a:t>highest-</a:t>
            </a:r>
            <a:r>
              <a:rPr sz="1500" spc="75" dirty="0">
                <a:solidFill>
                  <a:schemeClr val="bg1">
                    <a:lumMod val="75000"/>
                  </a:schemeClr>
                </a:solidFill>
                <a:latin typeface="Tahoma"/>
                <a:cs typeface="Tahoma"/>
              </a:rPr>
              <a:t>impact</a:t>
            </a:r>
            <a:r>
              <a:rPr sz="1500" spc="-15" dirty="0">
                <a:solidFill>
                  <a:schemeClr val="bg1">
                    <a:lumMod val="75000"/>
                  </a:schemeClr>
                </a:solidFill>
                <a:latin typeface="Tahoma"/>
                <a:cs typeface="Tahoma"/>
              </a:rPr>
              <a:t> </a:t>
            </a:r>
            <a:r>
              <a:rPr sz="1500" spc="70" dirty="0">
                <a:solidFill>
                  <a:schemeClr val="bg1">
                    <a:lumMod val="75000"/>
                  </a:schemeClr>
                </a:solidFill>
                <a:latin typeface="Tahoma"/>
                <a:cs typeface="Tahoma"/>
              </a:rPr>
              <a:t>window</a:t>
            </a:r>
            <a:r>
              <a:rPr sz="1500" spc="-15" dirty="0">
                <a:solidFill>
                  <a:schemeClr val="bg1">
                    <a:lumMod val="75000"/>
                  </a:schemeClr>
                </a:solidFill>
                <a:latin typeface="Tahoma"/>
                <a:cs typeface="Tahoma"/>
              </a:rPr>
              <a:t> </a:t>
            </a:r>
            <a:r>
              <a:rPr sz="1500" dirty="0">
                <a:solidFill>
                  <a:schemeClr val="bg1">
                    <a:lumMod val="75000"/>
                  </a:schemeClr>
                </a:solidFill>
                <a:latin typeface="Tahoma"/>
                <a:cs typeface="Tahoma"/>
              </a:rPr>
              <a:t>to</a:t>
            </a:r>
            <a:r>
              <a:rPr sz="1500" spc="-15" dirty="0">
                <a:solidFill>
                  <a:schemeClr val="bg1">
                    <a:lumMod val="75000"/>
                  </a:schemeClr>
                </a:solidFill>
                <a:latin typeface="Tahoma"/>
                <a:cs typeface="Tahoma"/>
              </a:rPr>
              <a:t> </a:t>
            </a:r>
            <a:r>
              <a:rPr sz="1500" spc="-25" dirty="0">
                <a:solidFill>
                  <a:schemeClr val="bg1">
                    <a:lumMod val="75000"/>
                  </a:schemeClr>
                </a:solidFill>
                <a:latin typeface="Tahoma"/>
                <a:cs typeface="Tahoma"/>
              </a:rPr>
              <a:t>run </a:t>
            </a:r>
            <a:r>
              <a:rPr sz="1500" spc="65" dirty="0">
                <a:solidFill>
                  <a:schemeClr val="bg1">
                    <a:lumMod val="75000"/>
                  </a:schemeClr>
                </a:solidFill>
                <a:latin typeface="Tahoma"/>
                <a:cs typeface="Tahoma"/>
              </a:rPr>
              <a:t>conversion</a:t>
            </a:r>
            <a:r>
              <a:rPr sz="1500" dirty="0">
                <a:solidFill>
                  <a:schemeClr val="bg1">
                    <a:lumMod val="75000"/>
                  </a:schemeClr>
                </a:solidFill>
                <a:latin typeface="Tahoma"/>
                <a:cs typeface="Tahoma"/>
              </a:rPr>
              <a:t> </a:t>
            </a:r>
            <a:r>
              <a:rPr sz="1500" spc="65" dirty="0">
                <a:solidFill>
                  <a:schemeClr val="bg1">
                    <a:lumMod val="75000"/>
                  </a:schemeClr>
                </a:solidFill>
                <a:latin typeface="Tahoma"/>
                <a:cs typeface="Tahoma"/>
              </a:rPr>
              <a:t>campaigns.</a:t>
            </a:r>
            <a:r>
              <a:rPr sz="1500" dirty="0">
                <a:solidFill>
                  <a:schemeClr val="bg1">
                    <a:lumMod val="75000"/>
                  </a:schemeClr>
                </a:solidFill>
                <a:latin typeface="Tahoma"/>
                <a:cs typeface="Tahoma"/>
              </a:rPr>
              <a:t> </a:t>
            </a:r>
            <a:r>
              <a:rPr sz="1500" spc="75" dirty="0">
                <a:solidFill>
                  <a:schemeClr val="bg1">
                    <a:lumMod val="75000"/>
                  </a:schemeClr>
                </a:solidFill>
                <a:latin typeface="Tahoma"/>
                <a:cs typeface="Tahoma"/>
              </a:rPr>
              <a:t>Casual</a:t>
            </a:r>
            <a:r>
              <a:rPr sz="1500" spc="5" dirty="0">
                <a:solidFill>
                  <a:schemeClr val="bg1">
                    <a:lumMod val="75000"/>
                  </a:schemeClr>
                </a:solidFill>
                <a:latin typeface="Tahoma"/>
                <a:cs typeface="Tahoma"/>
              </a:rPr>
              <a:t> </a:t>
            </a:r>
            <a:r>
              <a:rPr sz="1500" spc="60" dirty="0">
                <a:solidFill>
                  <a:schemeClr val="bg1">
                    <a:lumMod val="75000"/>
                  </a:schemeClr>
                </a:solidFill>
                <a:latin typeface="Tahoma"/>
                <a:cs typeface="Tahoma"/>
              </a:rPr>
              <a:t>riders</a:t>
            </a:r>
            <a:r>
              <a:rPr sz="1500" dirty="0">
                <a:solidFill>
                  <a:schemeClr val="bg1">
                    <a:lumMod val="75000"/>
                  </a:schemeClr>
                </a:solidFill>
                <a:latin typeface="Tahoma"/>
                <a:cs typeface="Tahoma"/>
              </a:rPr>
              <a:t> are </a:t>
            </a:r>
            <a:r>
              <a:rPr sz="1500" spc="35" dirty="0">
                <a:solidFill>
                  <a:schemeClr val="bg1">
                    <a:lumMod val="75000"/>
                  </a:schemeClr>
                </a:solidFill>
                <a:latin typeface="Tahoma"/>
                <a:cs typeface="Tahoma"/>
              </a:rPr>
              <a:t>most </a:t>
            </a:r>
            <a:r>
              <a:rPr sz="1500" spc="60" dirty="0">
                <a:solidFill>
                  <a:schemeClr val="bg1">
                    <a:lumMod val="75000"/>
                  </a:schemeClr>
                </a:solidFill>
                <a:latin typeface="Tahoma"/>
                <a:cs typeface="Tahoma"/>
              </a:rPr>
              <a:t>active</a:t>
            </a:r>
            <a:r>
              <a:rPr sz="1500" dirty="0">
                <a:solidFill>
                  <a:schemeClr val="bg1">
                    <a:lumMod val="75000"/>
                  </a:schemeClr>
                </a:solidFill>
                <a:latin typeface="Tahoma"/>
                <a:cs typeface="Tahoma"/>
              </a:rPr>
              <a:t> </a:t>
            </a:r>
            <a:r>
              <a:rPr sz="1500" spc="135" dirty="0">
                <a:solidFill>
                  <a:schemeClr val="bg1">
                    <a:lumMod val="75000"/>
                  </a:schemeClr>
                </a:solidFill>
                <a:latin typeface="Tahoma"/>
                <a:cs typeface="Tahoma"/>
              </a:rPr>
              <a:t>—</a:t>
            </a:r>
            <a:r>
              <a:rPr sz="1500" dirty="0">
                <a:solidFill>
                  <a:schemeClr val="bg1">
                    <a:lumMod val="75000"/>
                  </a:schemeClr>
                </a:solidFill>
                <a:latin typeface="Tahoma"/>
                <a:cs typeface="Tahoma"/>
              </a:rPr>
              <a:t> </a:t>
            </a:r>
            <a:r>
              <a:rPr sz="1500" spc="65" dirty="0">
                <a:solidFill>
                  <a:schemeClr val="bg1">
                    <a:lumMod val="75000"/>
                  </a:schemeClr>
                </a:solidFill>
                <a:latin typeface="Tahoma"/>
                <a:cs typeface="Tahoma"/>
              </a:rPr>
              <a:t>and</a:t>
            </a:r>
            <a:r>
              <a:rPr sz="1500" dirty="0">
                <a:solidFill>
                  <a:schemeClr val="bg1">
                    <a:lumMod val="75000"/>
                  </a:schemeClr>
                </a:solidFill>
                <a:latin typeface="Tahoma"/>
                <a:cs typeface="Tahoma"/>
              </a:rPr>
              <a:t> </a:t>
            </a:r>
            <a:r>
              <a:rPr sz="1500" spc="55" dirty="0">
                <a:solidFill>
                  <a:schemeClr val="bg1">
                    <a:lumMod val="75000"/>
                  </a:schemeClr>
                </a:solidFill>
                <a:latin typeface="Tahoma"/>
                <a:cs typeface="Tahoma"/>
              </a:rPr>
              <a:t>most</a:t>
            </a:r>
            <a:r>
              <a:rPr sz="1500" dirty="0">
                <a:solidFill>
                  <a:schemeClr val="bg1">
                    <a:lumMod val="75000"/>
                  </a:schemeClr>
                </a:solidFill>
                <a:latin typeface="Tahoma"/>
                <a:cs typeface="Tahoma"/>
              </a:rPr>
              <a:t> likely to </a:t>
            </a:r>
            <a:r>
              <a:rPr sz="1500" spc="90" dirty="0">
                <a:solidFill>
                  <a:schemeClr val="bg1">
                    <a:lumMod val="75000"/>
                  </a:schemeClr>
                </a:solidFill>
                <a:latin typeface="Tahoma"/>
                <a:cs typeface="Tahoma"/>
              </a:rPr>
              <a:t>see</a:t>
            </a:r>
            <a:r>
              <a:rPr sz="1500" spc="5" dirty="0">
                <a:solidFill>
                  <a:schemeClr val="bg1">
                    <a:lumMod val="75000"/>
                  </a:schemeClr>
                </a:solidFill>
                <a:latin typeface="Tahoma"/>
                <a:cs typeface="Tahoma"/>
              </a:rPr>
              <a:t> </a:t>
            </a:r>
            <a:r>
              <a:rPr sz="1500" spc="55" dirty="0">
                <a:solidFill>
                  <a:schemeClr val="bg1">
                    <a:lumMod val="75000"/>
                  </a:schemeClr>
                </a:solidFill>
                <a:latin typeface="Tahoma"/>
                <a:cs typeface="Tahoma"/>
              </a:rPr>
              <a:t>membership </a:t>
            </a:r>
            <a:r>
              <a:rPr sz="1500" spc="50" dirty="0">
                <a:solidFill>
                  <a:schemeClr val="bg1">
                    <a:lumMod val="75000"/>
                  </a:schemeClr>
                </a:solidFill>
                <a:latin typeface="Tahoma"/>
                <a:cs typeface="Tahoma"/>
              </a:rPr>
              <a:t>value</a:t>
            </a:r>
            <a:r>
              <a:rPr sz="1500" spc="-40" dirty="0">
                <a:solidFill>
                  <a:schemeClr val="bg1">
                    <a:lumMod val="75000"/>
                  </a:schemeClr>
                </a:solidFill>
                <a:latin typeface="Tahoma"/>
                <a:cs typeface="Tahoma"/>
              </a:rPr>
              <a:t> </a:t>
            </a:r>
            <a:r>
              <a:rPr sz="1500" spc="135" dirty="0">
                <a:solidFill>
                  <a:schemeClr val="bg1">
                    <a:lumMod val="75000"/>
                  </a:schemeClr>
                </a:solidFill>
                <a:latin typeface="Tahoma"/>
                <a:cs typeface="Tahoma"/>
              </a:rPr>
              <a:t>—</a:t>
            </a:r>
            <a:r>
              <a:rPr sz="1500" spc="-40" dirty="0">
                <a:solidFill>
                  <a:schemeClr val="bg1">
                    <a:lumMod val="75000"/>
                  </a:schemeClr>
                </a:solidFill>
                <a:latin typeface="Tahoma"/>
                <a:cs typeface="Tahoma"/>
              </a:rPr>
              <a:t> </a:t>
            </a:r>
            <a:r>
              <a:rPr sz="1500" spc="65" dirty="0">
                <a:solidFill>
                  <a:schemeClr val="bg1">
                    <a:lumMod val="75000"/>
                  </a:schemeClr>
                </a:solidFill>
                <a:latin typeface="Tahoma"/>
                <a:cs typeface="Tahoma"/>
              </a:rPr>
              <a:t>between</a:t>
            </a:r>
            <a:r>
              <a:rPr sz="1500" spc="-35" dirty="0">
                <a:solidFill>
                  <a:schemeClr val="bg1">
                    <a:lumMod val="75000"/>
                  </a:schemeClr>
                </a:solidFill>
                <a:latin typeface="Tahoma"/>
                <a:cs typeface="Tahoma"/>
              </a:rPr>
              <a:t> </a:t>
            </a:r>
            <a:r>
              <a:rPr sz="1500" spc="105" dirty="0">
                <a:solidFill>
                  <a:schemeClr val="bg1">
                    <a:lumMod val="75000"/>
                  </a:schemeClr>
                </a:solidFill>
                <a:latin typeface="Tahoma"/>
                <a:cs typeface="Tahoma"/>
              </a:rPr>
              <a:t>May</a:t>
            </a:r>
            <a:r>
              <a:rPr sz="1500" spc="-40" dirty="0">
                <a:solidFill>
                  <a:schemeClr val="bg1">
                    <a:lumMod val="75000"/>
                  </a:schemeClr>
                </a:solidFill>
                <a:latin typeface="Tahoma"/>
                <a:cs typeface="Tahoma"/>
              </a:rPr>
              <a:t> </a:t>
            </a:r>
            <a:r>
              <a:rPr sz="1500" spc="65" dirty="0">
                <a:solidFill>
                  <a:schemeClr val="bg1">
                    <a:lumMod val="75000"/>
                  </a:schemeClr>
                </a:solidFill>
                <a:latin typeface="Tahoma"/>
                <a:cs typeface="Tahoma"/>
              </a:rPr>
              <a:t>and</a:t>
            </a:r>
            <a:r>
              <a:rPr sz="1500" spc="-40" dirty="0">
                <a:solidFill>
                  <a:schemeClr val="bg1">
                    <a:lumMod val="75000"/>
                  </a:schemeClr>
                </a:solidFill>
                <a:latin typeface="Tahoma"/>
                <a:cs typeface="Tahoma"/>
              </a:rPr>
              <a:t> </a:t>
            </a:r>
            <a:r>
              <a:rPr sz="1500" spc="45" dirty="0">
                <a:solidFill>
                  <a:schemeClr val="bg1">
                    <a:lumMod val="75000"/>
                  </a:schemeClr>
                </a:solidFill>
                <a:latin typeface="Tahoma"/>
                <a:cs typeface="Tahoma"/>
              </a:rPr>
              <a:t>August.</a:t>
            </a:r>
            <a:endParaRPr sz="1500" dirty="0">
              <a:solidFill>
                <a:schemeClr val="bg1">
                  <a:lumMod val="75000"/>
                </a:schemeClr>
              </a:solidFill>
              <a:latin typeface="Tahoma"/>
              <a:cs typeface="Tahoma"/>
            </a:endParaRPr>
          </a:p>
        </p:txBody>
      </p:sp>
      <p:sp>
        <p:nvSpPr>
          <p:cNvPr id="5" name="object 5"/>
          <p:cNvSpPr txBox="1">
            <a:spLocks noGrp="1"/>
          </p:cNvSpPr>
          <p:nvPr>
            <p:ph type="title"/>
          </p:nvPr>
        </p:nvSpPr>
        <p:spPr>
          <a:xfrm>
            <a:off x="6445249" y="434975"/>
            <a:ext cx="6820534" cy="466473"/>
          </a:xfrm>
          <a:prstGeom prst="rect">
            <a:avLst/>
          </a:prstGeom>
        </p:spPr>
        <p:txBody>
          <a:bodyPr vert="horz" wrap="square" lIns="0" tIns="123189" rIns="0" bIns="0" rtlCol="0">
            <a:spAutoFit/>
          </a:bodyPr>
          <a:lstStyle/>
          <a:p>
            <a:pPr marL="12700" marR="5080">
              <a:lnSpc>
                <a:spcPts val="2850"/>
              </a:lnSpc>
              <a:spcBef>
                <a:spcPts val="219"/>
              </a:spcBef>
            </a:pPr>
            <a:r>
              <a:rPr lang="en-US" spc="114" dirty="0"/>
              <a:t>Ride share throughout the Year</a:t>
            </a:r>
            <a:endParaRPr spc="55" dirty="0"/>
          </a:p>
        </p:txBody>
      </p:sp>
      <p:sp>
        <p:nvSpPr>
          <p:cNvPr id="6" name="object 6"/>
          <p:cNvSpPr/>
          <p:nvPr/>
        </p:nvSpPr>
        <p:spPr>
          <a:xfrm>
            <a:off x="6015036" y="1652587"/>
            <a:ext cx="742950" cy="238125"/>
          </a:xfrm>
          <a:custGeom>
            <a:avLst/>
            <a:gdLst/>
            <a:ahLst/>
            <a:cxnLst/>
            <a:rect l="l" t="t" r="r" b="b"/>
            <a:pathLst>
              <a:path w="742950" h="238125">
                <a:moveTo>
                  <a:pt x="0" y="119062"/>
                </a:moveTo>
                <a:lnTo>
                  <a:pt x="6071" y="80721"/>
                </a:lnTo>
                <a:lnTo>
                  <a:pt x="9062" y="73498"/>
                </a:lnTo>
                <a:lnTo>
                  <a:pt x="12054" y="66276"/>
                </a:lnTo>
                <a:lnTo>
                  <a:pt x="15722" y="59414"/>
                </a:lnTo>
                <a:lnTo>
                  <a:pt x="20065" y="52914"/>
                </a:lnTo>
                <a:lnTo>
                  <a:pt x="24408" y="46414"/>
                </a:lnTo>
                <a:lnTo>
                  <a:pt x="29344" y="40400"/>
                </a:lnTo>
                <a:lnTo>
                  <a:pt x="34872" y="34872"/>
                </a:lnTo>
                <a:lnTo>
                  <a:pt x="40400" y="29344"/>
                </a:lnTo>
                <a:lnTo>
                  <a:pt x="46414" y="24408"/>
                </a:lnTo>
                <a:lnTo>
                  <a:pt x="52914" y="20065"/>
                </a:lnTo>
                <a:lnTo>
                  <a:pt x="59414" y="15722"/>
                </a:lnTo>
                <a:lnTo>
                  <a:pt x="66276" y="12054"/>
                </a:lnTo>
                <a:lnTo>
                  <a:pt x="73498" y="9062"/>
                </a:lnTo>
                <a:lnTo>
                  <a:pt x="80721" y="6071"/>
                </a:lnTo>
                <a:lnTo>
                  <a:pt x="88166" y="3812"/>
                </a:lnTo>
                <a:lnTo>
                  <a:pt x="95834" y="2287"/>
                </a:lnTo>
                <a:lnTo>
                  <a:pt x="103501" y="762"/>
                </a:lnTo>
                <a:lnTo>
                  <a:pt x="111244" y="0"/>
                </a:lnTo>
                <a:lnTo>
                  <a:pt x="119063" y="0"/>
                </a:lnTo>
                <a:lnTo>
                  <a:pt x="623887" y="0"/>
                </a:lnTo>
                <a:lnTo>
                  <a:pt x="631705" y="0"/>
                </a:lnTo>
                <a:lnTo>
                  <a:pt x="639447" y="762"/>
                </a:lnTo>
                <a:lnTo>
                  <a:pt x="676673" y="12054"/>
                </a:lnTo>
                <a:lnTo>
                  <a:pt x="690035" y="20065"/>
                </a:lnTo>
                <a:lnTo>
                  <a:pt x="696535" y="24408"/>
                </a:lnTo>
                <a:lnTo>
                  <a:pt x="702549" y="29344"/>
                </a:lnTo>
                <a:lnTo>
                  <a:pt x="708077" y="34872"/>
                </a:lnTo>
                <a:lnTo>
                  <a:pt x="713605" y="40400"/>
                </a:lnTo>
                <a:lnTo>
                  <a:pt x="718540" y="46414"/>
                </a:lnTo>
                <a:lnTo>
                  <a:pt x="722883" y="52914"/>
                </a:lnTo>
                <a:lnTo>
                  <a:pt x="727226" y="59414"/>
                </a:lnTo>
                <a:lnTo>
                  <a:pt x="740661" y="95834"/>
                </a:lnTo>
                <a:lnTo>
                  <a:pt x="742187" y="103501"/>
                </a:lnTo>
                <a:lnTo>
                  <a:pt x="742949" y="111244"/>
                </a:lnTo>
                <a:lnTo>
                  <a:pt x="742950" y="119062"/>
                </a:lnTo>
                <a:lnTo>
                  <a:pt x="742949" y="126880"/>
                </a:lnTo>
                <a:lnTo>
                  <a:pt x="742187" y="134622"/>
                </a:lnTo>
                <a:lnTo>
                  <a:pt x="740661" y="142290"/>
                </a:lnTo>
                <a:lnTo>
                  <a:pt x="739136" y="149957"/>
                </a:lnTo>
                <a:lnTo>
                  <a:pt x="722884" y="185209"/>
                </a:lnTo>
                <a:lnTo>
                  <a:pt x="718540" y="191710"/>
                </a:lnTo>
                <a:lnTo>
                  <a:pt x="690035" y="218059"/>
                </a:lnTo>
                <a:lnTo>
                  <a:pt x="654782" y="234311"/>
                </a:lnTo>
                <a:lnTo>
                  <a:pt x="623887" y="238124"/>
                </a:lnTo>
                <a:lnTo>
                  <a:pt x="119063" y="238124"/>
                </a:lnTo>
                <a:lnTo>
                  <a:pt x="80721" y="232053"/>
                </a:lnTo>
                <a:lnTo>
                  <a:pt x="73498" y="229061"/>
                </a:lnTo>
                <a:lnTo>
                  <a:pt x="66276" y="226069"/>
                </a:lnTo>
                <a:lnTo>
                  <a:pt x="59414" y="222402"/>
                </a:lnTo>
                <a:lnTo>
                  <a:pt x="52914" y="218058"/>
                </a:lnTo>
                <a:lnTo>
                  <a:pt x="46414" y="213715"/>
                </a:lnTo>
                <a:lnTo>
                  <a:pt x="40400" y="208780"/>
                </a:lnTo>
                <a:lnTo>
                  <a:pt x="34872" y="203252"/>
                </a:lnTo>
                <a:lnTo>
                  <a:pt x="29344" y="197724"/>
                </a:lnTo>
                <a:lnTo>
                  <a:pt x="24408" y="191710"/>
                </a:lnTo>
                <a:lnTo>
                  <a:pt x="20065" y="185209"/>
                </a:lnTo>
                <a:lnTo>
                  <a:pt x="15722" y="178709"/>
                </a:lnTo>
                <a:lnTo>
                  <a:pt x="12054" y="171848"/>
                </a:lnTo>
                <a:lnTo>
                  <a:pt x="9062" y="164625"/>
                </a:lnTo>
                <a:lnTo>
                  <a:pt x="6071" y="157402"/>
                </a:lnTo>
                <a:lnTo>
                  <a:pt x="3812" y="149957"/>
                </a:lnTo>
                <a:lnTo>
                  <a:pt x="2287"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7" name="object 7"/>
          <p:cNvSpPr txBox="1"/>
          <p:nvPr/>
        </p:nvSpPr>
        <p:spPr>
          <a:xfrm>
            <a:off x="6273799" y="1659370"/>
            <a:ext cx="39751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Segoe UI Symbol"/>
                <a:cs typeface="Segoe UI Symbol"/>
              </a:rPr>
              <a:t>C</a:t>
            </a:r>
            <a:r>
              <a:rPr sz="950" spc="-10" dirty="0">
                <a:solidFill>
                  <a:srgbClr val="FFFFFF"/>
                </a:solidFill>
                <a:latin typeface="Trebuchet MS"/>
                <a:cs typeface="Trebuchet MS"/>
              </a:rPr>
              <a:t>a</a:t>
            </a:r>
            <a:r>
              <a:rPr sz="1050" spc="-10" dirty="0">
                <a:solidFill>
                  <a:srgbClr val="FFFFFF"/>
                </a:solidFill>
                <a:latin typeface="Trebuchet MS"/>
                <a:cs typeface="Trebuchet MS"/>
              </a:rPr>
              <a:t>su</a:t>
            </a:r>
            <a:r>
              <a:rPr sz="950" spc="-10" dirty="0">
                <a:solidFill>
                  <a:srgbClr val="FFFFFF"/>
                </a:solidFill>
                <a:latin typeface="Trebuchet MS"/>
                <a:cs typeface="Trebuchet MS"/>
              </a:rPr>
              <a:t>al</a:t>
            </a:r>
            <a:endParaRPr sz="950">
              <a:latin typeface="Trebuchet MS"/>
              <a:cs typeface="Trebuchet MS"/>
            </a:endParaRPr>
          </a:p>
        </p:txBody>
      </p:sp>
      <p:sp>
        <p:nvSpPr>
          <p:cNvPr id="8" name="object 8"/>
          <p:cNvSpPr/>
          <p:nvPr/>
        </p:nvSpPr>
        <p:spPr>
          <a:xfrm>
            <a:off x="6862760" y="1652587"/>
            <a:ext cx="828675" cy="238125"/>
          </a:xfrm>
          <a:custGeom>
            <a:avLst/>
            <a:gdLst/>
            <a:ahLst/>
            <a:cxnLst/>
            <a:rect l="l" t="t" r="r" b="b"/>
            <a:pathLst>
              <a:path w="828675" h="238125">
                <a:moveTo>
                  <a:pt x="0" y="119062"/>
                </a:moveTo>
                <a:lnTo>
                  <a:pt x="6071" y="80721"/>
                </a:lnTo>
                <a:lnTo>
                  <a:pt x="9063" y="73498"/>
                </a:lnTo>
                <a:lnTo>
                  <a:pt x="12054" y="66276"/>
                </a:lnTo>
                <a:lnTo>
                  <a:pt x="15722" y="59414"/>
                </a:lnTo>
                <a:lnTo>
                  <a:pt x="20065" y="52914"/>
                </a:lnTo>
                <a:lnTo>
                  <a:pt x="24408" y="46414"/>
                </a:lnTo>
                <a:lnTo>
                  <a:pt x="29344" y="40400"/>
                </a:lnTo>
                <a:lnTo>
                  <a:pt x="34872" y="34872"/>
                </a:lnTo>
                <a:lnTo>
                  <a:pt x="40401" y="29344"/>
                </a:lnTo>
                <a:lnTo>
                  <a:pt x="46414" y="24408"/>
                </a:lnTo>
                <a:lnTo>
                  <a:pt x="52914" y="20065"/>
                </a:lnTo>
                <a:lnTo>
                  <a:pt x="59414" y="15722"/>
                </a:lnTo>
                <a:lnTo>
                  <a:pt x="95834" y="2287"/>
                </a:lnTo>
                <a:lnTo>
                  <a:pt x="111244" y="0"/>
                </a:lnTo>
                <a:lnTo>
                  <a:pt x="119063" y="0"/>
                </a:lnTo>
                <a:lnTo>
                  <a:pt x="709612" y="0"/>
                </a:lnTo>
                <a:lnTo>
                  <a:pt x="717430" y="0"/>
                </a:lnTo>
                <a:lnTo>
                  <a:pt x="725173" y="762"/>
                </a:lnTo>
                <a:lnTo>
                  <a:pt x="762398" y="12054"/>
                </a:lnTo>
                <a:lnTo>
                  <a:pt x="775760" y="20065"/>
                </a:lnTo>
                <a:lnTo>
                  <a:pt x="782260" y="24408"/>
                </a:lnTo>
                <a:lnTo>
                  <a:pt x="788274" y="29344"/>
                </a:lnTo>
                <a:lnTo>
                  <a:pt x="793802" y="34872"/>
                </a:lnTo>
                <a:lnTo>
                  <a:pt x="799330" y="40400"/>
                </a:lnTo>
                <a:lnTo>
                  <a:pt x="804265" y="46414"/>
                </a:lnTo>
                <a:lnTo>
                  <a:pt x="808608" y="52914"/>
                </a:lnTo>
                <a:lnTo>
                  <a:pt x="812951" y="59414"/>
                </a:lnTo>
                <a:lnTo>
                  <a:pt x="826387" y="95834"/>
                </a:lnTo>
                <a:lnTo>
                  <a:pt x="828675" y="111244"/>
                </a:lnTo>
                <a:lnTo>
                  <a:pt x="828675" y="119062"/>
                </a:lnTo>
                <a:lnTo>
                  <a:pt x="828675" y="126880"/>
                </a:lnTo>
                <a:lnTo>
                  <a:pt x="819611" y="164625"/>
                </a:lnTo>
                <a:lnTo>
                  <a:pt x="799330" y="197724"/>
                </a:lnTo>
                <a:lnTo>
                  <a:pt x="775759" y="218059"/>
                </a:lnTo>
                <a:lnTo>
                  <a:pt x="769259" y="222402"/>
                </a:lnTo>
                <a:lnTo>
                  <a:pt x="732840" y="235837"/>
                </a:lnTo>
                <a:lnTo>
                  <a:pt x="709612" y="238124"/>
                </a:lnTo>
                <a:lnTo>
                  <a:pt x="119063" y="238124"/>
                </a:lnTo>
                <a:lnTo>
                  <a:pt x="80721" y="232053"/>
                </a:lnTo>
                <a:lnTo>
                  <a:pt x="52914" y="218058"/>
                </a:lnTo>
                <a:lnTo>
                  <a:pt x="46414" y="213715"/>
                </a:lnTo>
                <a:lnTo>
                  <a:pt x="20065" y="185209"/>
                </a:lnTo>
                <a:lnTo>
                  <a:pt x="15722" y="178709"/>
                </a:lnTo>
                <a:lnTo>
                  <a:pt x="12054" y="171848"/>
                </a:lnTo>
                <a:lnTo>
                  <a:pt x="9063" y="164625"/>
                </a:lnTo>
                <a:lnTo>
                  <a:pt x="6071" y="157402"/>
                </a:lnTo>
                <a:lnTo>
                  <a:pt x="3813" y="149957"/>
                </a:lnTo>
                <a:lnTo>
                  <a:pt x="2288"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9" name="object 9"/>
          <p:cNvSpPr txBox="1"/>
          <p:nvPr/>
        </p:nvSpPr>
        <p:spPr>
          <a:xfrm>
            <a:off x="7121971" y="1659370"/>
            <a:ext cx="47879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Trebuchet MS"/>
                <a:cs typeface="Trebuchet MS"/>
              </a:rPr>
              <a:t>Membe</a:t>
            </a:r>
            <a:r>
              <a:rPr sz="1050" spc="-10" dirty="0">
                <a:solidFill>
                  <a:srgbClr val="FFFFFF"/>
                </a:solidFill>
                <a:latin typeface="Trebuchet MS"/>
                <a:cs typeface="Trebuchet MS"/>
              </a:rPr>
              <a:t>r</a:t>
            </a:r>
            <a:endParaRPr sz="1050">
              <a:latin typeface="Trebuchet MS"/>
              <a:cs typeface="Trebuchet MS"/>
            </a:endParaRPr>
          </a:p>
        </p:txBody>
      </p:sp>
      <p:grpSp>
        <p:nvGrpSpPr>
          <p:cNvPr id="10" name="object 10"/>
          <p:cNvGrpSpPr/>
          <p:nvPr/>
        </p:nvGrpSpPr>
        <p:grpSpPr>
          <a:xfrm>
            <a:off x="6115049" y="1762124"/>
            <a:ext cx="114300" cy="19050"/>
            <a:chOff x="6115049" y="1762124"/>
            <a:chExt cx="114300" cy="19050"/>
          </a:xfrm>
        </p:grpSpPr>
        <p:sp>
          <p:nvSpPr>
            <p:cNvPr id="11" name="object 11"/>
            <p:cNvSpPr/>
            <p:nvPr/>
          </p:nvSpPr>
          <p:spPr>
            <a:xfrm>
              <a:off x="6115049" y="1762124"/>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5C5EEF"/>
            </a:solidFill>
          </p:spPr>
          <p:txBody>
            <a:bodyPr wrap="square" lIns="0" tIns="0" rIns="0" bIns="0" rtlCol="0"/>
            <a:lstStyle/>
            <a:p>
              <a:endParaRPr/>
            </a:p>
          </p:txBody>
        </p:sp>
        <p:sp>
          <p:nvSpPr>
            <p:cNvPr id="12" name="object 12"/>
            <p:cNvSpPr/>
            <p:nvPr/>
          </p:nvSpPr>
          <p:spPr>
            <a:xfrm>
              <a:off x="6115049" y="1762125"/>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FAFAFA">
                <a:alpha val="12159"/>
              </a:srgbClr>
            </a:solidFill>
          </p:spPr>
          <p:txBody>
            <a:bodyPr wrap="square" lIns="0" tIns="0" rIns="0" bIns="0" rtlCol="0"/>
            <a:lstStyle/>
            <a:p>
              <a:endParaRPr/>
            </a:p>
          </p:txBody>
        </p:sp>
      </p:grpSp>
      <p:grpSp>
        <p:nvGrpSpPr>
          <p:cNvPr id="13" name="object 13"/>
          <p:cNvGrpSpPr/>
          <p:nvPr/>
        </p:nvGrpSpPr>
        <p:grpSpPr>
          <a:xfrm>
            <a:off x="6962774" y="1762124"/>
            <a:ext cx="114300" cy="19050"/>
            <a:chOff x="6962774" y="1762124"/>
            <a:chExt cx="114300" cy="19050"/>
          </a:xfrm>
        </p:grpSpPr>
        <p:sp>
          <p:nvSpPr>
            <p:cNvPr id="14" name="object 14"/>
            <p:cNvSpPr/>
            <p:nvPr/>
          </p:nvSpPr>
          <p:spPr>
            <a:xfrm>
              <a:off x="6962774" y="1762124"/>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090956"/>
            </a:solidFill>
          </p:spPr>
          <p:txBody>
            <a:bodyPr wrap="square" lIns="0" tIns="0" rIns="0" bIns="0" rtlCol="0"/>
            <a:lstStyle/>
            <a:p>
              <a:endParaRPr/>
            </a:p>
          </p:txBody>
        </p:sp>
        <p:sp>
          <p:nvSpPr>
            <p:cNvPr id="15" name="object 15"/>
            <p:cNvSpPr/>
            <p:nvPr/>
          </p:nvSpPr>
          <p:spPr>
            <a:xfrm>
              <a:off x="6962774" y="1762125"/>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FAFAFA">
                <a:alpha val="12159"/>
              </a:srgbClr>
            </a:solidFill>
          </p:spPr>
          <p:txBody>
            <a:bodyPr wrap="square" lIns="0" tIns="0" rIns="0" bIns="0" rtlCol="0"/>
            <a:lstStyle/>
            <a:p>
              <a:endParaRPr/>
            </a:p>
          </p:txBody>
        </p:sp>
      </p:grpSp>
      <p:sp>
        <p:nvSpPr>
          <p:cNvPr id="23" name="object 23"/>
          <p:cNvSpPr txBox="1"/>
          <p:nvPr/>
        </p:nvSpPr>
        <p:spPr>
          <a:xfrm>
            <a:off x="6356250" y="6845300"/>
            <a:ext cx="222885"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Jan</a:t>
            </a:r>
            <a:endParaRPr sz="900">
              <a:latin typeface="Tahoma"/>
              <a:cs typeface="Tahoma"/>
            </a:endParaRPr>
          </a:p>
        </p:txBody>
      </p:sp>
      <p:sp>
        <p:nvSpPr>
          <p:cNvPr id="24" name="object 24"/>
          <p:cNvSpPr txBox="1"/>
          <p:nvPr/>
        </p:nvSpPr>
        <p:spPr>
          <a:xfrm>
            <a:off x="7000081" y="6845300"/>
            <a:ext cx="22542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Feb</a:t>
            </a:r>
            <a:endParaRPr sz="900">
              <a:latin typeface="Tahoma"/>
              <a:cs typeface="Tahoma"/>
            </a:endParaRPr>
          </a:p>
        </p:txBody>
      </p:sp>
      <p:sp>
        <p:nvSpPr>
          <p:cNvPr id="25" name="object 25"/>
          <p:cNvSpPr txBox="1"/>
          <p:nvPr/>
        </p:nvSpPr>
        <p:spPr>
          <a:xfrm>
            <a:off x="7639595" y="6845300"/>
            <a:ext cx="23622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Mar</a:t>
            </a:r>
            <a:endParaRPr sz="900">
              <a:latin typeface="Tahoma"/>
              <a:cs typeface="Tahoma"/>
            </a:endParaRPr>
          </a:p>
        </p:txBody>
      </p:sp>
      <p:sp>
        <p:nvSpPr>
          <p:cNvPr id="26" name="object 26"/>
          <p:cNvSpPr txBox="1"/>
          <p:nvPr/>
        </p:nvSpPr>
        <p:spPr>
          <a:xfrm>
            <a:off x="8293992" y="6845300"/>
            <a:ext cx="217804"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Apr</a:t>
            </a:r>
            <a:endParaRPr sz="900">
              <a:latin typeface="Tahoma"/>
              <a:cs typeface="Tahoma"/>
            </a:endParaRPr>
          </a:p>
        </p:txBody>
      </p:sp>
      <p:sp>
        <p:nvSpPr>
          <p:cNvPr id="27" name="object 27"/>
          <p:cNvSpPr txBox="1"/>
          <p:nvPr/>
        </p:nvSpPr>
        <p:spPr>
          <a:xfrm>
            <a:off x="8920112" y="6845300"/>
            <a:ext cx="255904"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May</a:t>
            </a:r>
            <a:endParaRPr sz="900">
              <a:latin typeface="Tahoma"/>
              <a:cs typeface="Tahoma"/>
            </a:endParaRPr>
          </a:p>
        </p:txBody>
      </p:sp>
      <p:sp>
        <p:nvSpPr>
          <p:cNvPr id="28" name="object 28"/>
          <p:cNvSpPr txBox="1"/>
          <p:nvPr/>
        </p:nvSpPr>
        <p:spPr>
          <a:xfrm>
            <a:off x="9580016" y="6845300"/>
            <a:ext cx="226060"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Jun</a:t>
            </a:r>
            <a:endParaRPr sz="900">
              <a:latin typeface="Tahoma"/>
              <a:cs typeface="Tahoma"/>
            </a:endParaRPr>
          </a:p>
        </p:txBody>
      </p:sp>
      <p:sp>
        <p:nvSpPr>
          <p:cNvPr id="29" name="object 29"/>
          <p:cNvSpPr txBox="1"/>
          <p:nvPr/>
        </p:nvSpPr>
        <p:spPr>
          <a:xfrm>
            <a:off x="10244980" y="6845300"/>
            <a:ext cx="186055"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Jul</a:t>
            </a:r>
            <a:endParaRPr sz="900">
              <a:latin typeface="Tahoma"/>
              <a:cs typeface="Tahoma"/>
            </a:endParaRPr>
          </a:p>
        </p:txBody>
      </p:sp>
      <p:sp>
        <p:nvSpPr>
          <p:cNvPr id="30" name="object 30"/>
          <p:cNvSpPr txBox="1"/>
          <p:nvPr/>
        </p:nvSpPr>
        <p:spPr>
          <a:xfrm>
            <a:off x="10862170" y="6845300"/>
            <a:ext cx="2425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Aug</a:t>
            </a:r>
            <a:endParaRPr sz="900">
              <a:latin typeface="Tahoma"/>
              <a:cs typeface="Tahoma"/>
            </a:endParaRPr>
          </a:p>
        </p:txBody>
      </p:sp>
      <p:sp>
        <p:nvSpPr>
          <p:cNvPr id="31" name="object 31"/>
          <p:cNvSpPr txBox="1"/>
          <p:nvPr/>
        </p:nvSpPr>
        <p:spPr>
          <a:xfrm>
            <a:off x="11510465" y="6845300"/>
            <a:ext cx="235585" cy="162560"/>
          </a:xfrm>
          <a:prstGeom prst="rect">
            <a:avLst/>
          </a:prstGeom>
        </p:spPr>
        <p:txBody>
          <a:bodyPr vert="horz" wrap="square" lIns="0" tIns="12700" rIns="0" bIns="0" rtlCol="0">
            <a:spAutoFit/>
          </a:bodyPr>
          <a:lstStyle/>
          <a:p>
            <a:pPr marL="12700">
              <a:lnSpc>
                <a:spcPct val="100000"/>
              </a:lnSpc>
              <a:spcBef>
                <a:spcPts val="100"/>
              </a:spcBef>
            </a:pPr>
            <a:r>
              <a:rPr sz="900" spc="30" dirty="0">
                <a:solidFill>
                  <a:srgbClr val="FFFFFF"/>
                </a:solidFill>
                <a:latin typeface="Tahoma"/>
                <a:cs typeface="Tahoma"/>
              </a:rPr>
              <a:t>Sep</a:t>
            </a:r>
            <a:endParaRPr sz="900">
              <a:latin typeface="Tahoma"/>
              <a:cs typeface="Tahoma"/>
            </a:endParaRPr>
          </a:p>
        </p:txBody>
      </p:sp>
      <p:sp>
        <p:nvSpPr>
          <p:cNvPr id="32" name="object 32"/>
          <p:cNvSpPr txBox="1"/>
          <p:nvPr/>
        </p:nvSpPr>
        <p:spPr>
          <a:xfrm>
            <a:off x="12165458" y="6845300"/>
            <a:ext cx="2159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Oct</a:t>
            </a:r>
            <a:endParaRPr sz="900">
              <a:latin typeface="Tahoma"/>
              <a:cs typeface="Tahoma"/>
            </a:endParaRPr>
          </a:p>
        </p:txBody>
      </p:sp>
      <p:sp>
        <p:nvSpPr>
          <p:cNvPr id="33" name="object 33"/>
          <p:cNvSpPr txBox="1"/>
          <p:nvPr/>
        </p:nvSpPr>
        <p:spPr>
          <a:xfrm>
            <a:off x="12797382" y="6845300"/>
            <a:ext cx="2425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Nov</a:t>
            </a:r>
            <a:endParaRPr sz="900">
              <a:latin typeface="Tahoma"/>
              <a:cs typeface="Tahoma"/>
            </a:endParaRPr>
          </a:p>
        </p:txBody>
      </p:sp>
      <p:sp>
        <p:nvSpPr>
          <p:cNvPr id="34" name="object 34"/>
          <p:cNvSpPr txBox="1"/>
          <p:nvPr/>
        </p:nvSpPr>
        <p:spPr>
          <a:xfrm>
            <a:off x="13443594" y="6845300"/>
            <a:ext cx="240029"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Dec</a:t>
            </a:r>
            <a:endParaRPr sz="900">
              <a:latin typeface="Tahoma"/>
              <a:cs typeface="Tahoma"/>
            </a:endParaRPr>
          </a:p>
        </p:txBody>
      </p:sp>
      <p:sp>
        <p:nvSpPr>
          <p:cNvPr id="35" name="object 35"/>
          <p:cNvSpPr txBox="1"/>
          <p:nvPr/>
        </p:nvSpPr>
        <p:spPr>
          <a:xfrm>
            <a:off x="6268292" y="6654800"/>
            <a:ext cx="9779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0</a:t>
            </a:r>
            <a:endParaRPr sz="900">
              <a:latin typeface="Tahoma"/>
              <a:cs typeface="Tahoma"/>
            </a:endParaRPr>
          </a:p>
        </p:txBody>
      </p:sp>
      <p:sp>
        <p:nvSpPr>
          <p:cNvPr id="36" name="object 36"/>
          <p:cNvSpPr txBox="1"/>
          <p:nvPr/>
        </p:nvSpPr>
        <p:spPr>
          <a:xfrm>
            <a:off x="6272608" y="5630862"/>
            <a:ext cx="93345"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FFFFFF"/>
                </a:solidFill>
                <a:latin typeface="Tahoma"/>
                <a:cs typeface="Tahoma"/>
              </a:rPr>
              <a:t>5</a:t>
            </a:r>
            <a:endParaRPr sz="900">
              <a:latin typeface="Tahoma"/>
              <a:cs typeface="Tahoma"/>
            </a:endParaRPr>
          </a:p>
        </p:txBody>
      </p:sp>
      <p:sp>
        <p:nvSpPr>
          <p:cNvPr id="37" name="object 37"/>
          <p:cNvSpPr txBox="1"/>
          <p:nvPr/>
        </p:nvSpPr>
        <p:spPr>
          <a:xfrm>
            <a:off x="6221858" y="4606925"/>
            <a:ext cx="14414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10</a:t>
            </a:r>
            <a:endParaRPr sz="900">
              <a:latin typeface="Tahoma"/>
              <a:cs typeface="Tahoma"/>
            </a:endParaRPr>
          </a:p>
        </p:txBody>
      </p:sp>
      <p:sp>
        <p:nvSpPr>
          <p:cNvPr id="38" name="object 38"/>
          <p:cNvSpPr txBox="1"/>
          <p:nvPr/>
        </p:nvSpPr>
        <p:spPr>
          <a:xfrm>
            <a:off x="6226174" y="3582987"/>
            <a:ext cx="1397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15</a:t>
            </a:r>
            <a:endParaRPr sz="900">
              <a:latin typeface="Tahoma"/>
              <a:cs typeface="Tahoma"/>
            </a:endParaRPr>
          </a:p>
        </p:txBody>
      </p:sp>
      <p:sp>
        <p:nvSpPr>
          <p:cNvPr id="39" name="object 39"/>
          <p:cNvSpPr txBox="1"/>
          <p:nvPr/>
        </p:nvSpPr>
        <p:spPr>
          <a:xfrm>
            <a:off x="6198641" y="2559050"/>
            <a:ext cx="167640"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FFFFFF"/>
                </a:solidFill>
                <a:latin typeface="Tahoma"/>
                <a:cs typeface="Tahoma"/>
              </a:rPr>
              <a:t>20</a:t>
            </a:r>
            <a:endParaRPr sz="900">
              <a:latin typeface="Tahoma"/>
              <a:cs typeface="Tahoma"/>
            </a:endParaRPr>
          </a:p>
        </p:txBody>
      </p:sp>
      <p:sp>
        <p:nvSpPr>
          <p:cNvPr id="40" name="object 40"/>
          <p:cNvSpPr/>
          <p:nvPr/>
        </p:nvSpPr>
        <p:spPr>
          <a:xfrm>
            <a:off x="9572624" y="7134224"/>
            <a:ext cx="581025" cy="266700"/>
          </a:xfrm>
          <a:custGeom>
            <a:avLst/>
            <a:gdLst/>
            <a:ahLst/>
            <a:cxnLst/>
            <a:rect l="l" t="t" r="r" b="b"/>
            <a:pathLst>
              <a:path w="581025" h="266700">
                <a:moveTo>
                  <a:pt x="447674" y="266699"/>
                </a:moveTo>
                <a:lnTo>
                  <a:pt x="133349" y="266699"/>
                </a:lnTo>
                <a:lnTo>
                  <a:pt x="126798" y="266539"/>
                </a:lnTo>
                <a:lnTo>
                  <a:pt x="88432" y="258906"/>
                </a:lnTo>
                <a:lnTo>
                  <a:pt x="53906" y="240452"/>
                </a:lnTo>
                <a:lnTo>
                  <a:pt x="26245" y="212792"/>
                </a:lnTo>
                <a:lnTo>
                  <a:pt x="7790" y="178265"/>
                </a:lnTo>
                <a:lnTo>
                  <a:pt x="159" y="139900"/>
                </a:lnTo>
                <a:lnTo>
                  <a:pt x="0" y="133349"/>
                </a:lnTo>
                <a:lnTo>
                  <a:pt x="159" y="126798"/>
                </a:lnTo>
                <a:lnTo>
                  <a:pt x="7790" y="88432"/>
                </a:lnTo>
                <a:lnTo>
                  <a:pt x="26245" y="53906"/>
                </a:lnTo>
                <a:lnTo>
                  <a:pt x="53905" y="26246"/>
                </a:lnTo>
                <a:lnTo>
                  <a:pt x="88432" y="7791"/>
                </a:lnTo>
                <a:lnTo>
                  <a:pt x="126798" y="160"/>
                </a:lnTo>
                <a:lnTo>
                  <a:pt x="133349" y="0"/>
                </a:lnTo>
                <a:lnTo>
                  <a:pt x="447674" y="0"/>
                </a:lnTo>
                <a:lnTo>
                  <a:pt x="486383" y="5740"/>
                </a:lnTo>
                <a:lnTo>
                  <a:pt x="521758" y="22473"/>
                </a:lnTo>
                <a:lnTo>
                  <a:pt x="550756" y="48752"/>
                </a:lnTo>
                <a:lnTo>
                  <a:pt x="570872" y="82318"/>
                </a:lnTo>
                <a:lnTo>
                  <a:pt x="580384" y="120279"/>
                </a:lnTo>
                <a:lnTo>
                  <a:pt x="581024" y="133349"/>
                </a:lnTo>
                <a:lnTo>
                  <a:pt x="580864" y="139900"/>
                </a:lnTo>
                <a:lnTo>
                  <a:pt x="573231" y="178265"/>
                </a:lnTo>
                <a:lnTo>
                  <a:pt x="554777" y="212792"/>
                </a:lnTo>
                <a:lnTo>
                  <a:pt x="527116" y="240452"/>
                </a:lnTo>
                <a:lnTo>
                  <a:pt x="492590" y="258906"/>
                </a:lnTo>
                <a:lnTo>
                  <a:pt x="454225" y="266539"/>
                </a:lnTo>
                <a:lnTo>
                  <a:pt x="447674" y="266699"/>
                </a:lnTo>
                <a:close/>
              </a:path>
            </a:pathLst>
          </a:custGeom>
          <a:solidFill>
            <a:srgbClr val="FFFFFF">
              <a:alpha val="5879"/>
            </a:srgbClr>
          </a:solidFill>
        </p:spPr>
        <p:txBody>
          <a:bodyPr wrap="square" lIns="0" tIns="0" rIns="0" bIns="0" rtlCol="0"/>
          <a:lstStyle/>
          <a:p>
            <a:endParaRPr/>
          </a:p>
        </p:txBody>
      </p:sp>
      <p:sp>
        <p:nvSpPr>
          <p:cNvPr id="41" name="object 41"/>
          <p:cNvSpPr txBox="1"/>
          <p:nvPr/>
        </p:nvSpPr>
        <p:spPr>
          <a:xfrm>
            <a:off x="9678243" y="7178675"/>
            <a:ext cx="370205"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Month</a:t>
            </a:r>
            <a:endParaRPr sz="900">
              <a:latin typeface="Tahoma"/>
              <a:cs typeface="Tahoma"/>
            </a:endParaRPr>
          </a:p>
        </p:txBody>
      </p:sp>
      <p:pic>
        <p:nvPicPr>
          <p:cNvPr id="44" name="Picture 43">
            <a:extLst>
              <a:ext uri="{FF2B5EF4-FFF2-40B4-BE49-F238E27FC236}">
                <a16:creationId xmlns:a16="http://schemas.microsoft.com/office/drawing/2014/main" id="{55CD0F0D-07B7-2990-1D6F-D58156B312FE}"/>
              </a:ext>
            </a:extLst>
          </p:cNvPr>
          <p:cNvPicPr>
            <a:picLocks noChangeAspect="1"/>
          </p:cNvPicPr>
          <p:nvPr/>
        </p:nvPicPr>
        <p:blipFill>
          <a:blip r:embed="rId5"/>
          <a:stretch>
            <a:fillRect/>
          </a:stretch>
        </p:blipFill>
        <p:spPr>
          <a:xfrm>
            <a:off x="5426501" y="1536750"/>
            <a:ext cx="8759150" cy="55226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DD5A0-7C2A-36FD-6A67-5207713C6A2B}"/>
            </a:ext>
          </a:extLst>
        </p:cNvPr>
        <p:cNvGrpSpPr/>
        <p:nvPr/>
      </p:nvGrpSpPr>
      <p:grpSpPr>
        <a:xfrm>
          <a:off x="0" y="0"/>
          <a:ext cx="0" cy="0"/>
          <a:chOff x="0" y="0"/>
          <a:chExt cx="0" cy="0"/>
        </a:xfrm>
      </p:grpSpPr>
      <p:grpSp>
        <p:nvGrpSpPr>
          <p:cNvPr id="16" name="object 16">
            <a:extLst>
              <a:ext uri="{FF2B5EF4-FFF2-40B4-BE49-F238E27FC236}">
                <a16:creationId xmlns:a16="http://schemas.microsoft.com/office/drawing/2014/main" id="{A0505898-5E46-E2E1-5157-B98596F8EF00}"/>
              </a:ext>
            </a:extLst>
          </p:cNvPr>
          <p:cNvGrpSpPr/>
          <p:nvPr/>
        </p:nvGrpSpPr>
        <p:grpSpPr>
          <a:xfrm>
            <a:off x="6455568" y="2247899"/>
            <a:ext cx="7119936" cy="4510088"/>
            <a:chOff x="6455568" y="2247899"/>
            <a:chExt cx="7119936" cy="4510088"/>
          </a:xfrm>
        </p:grpSpPr>
        <p:sp>
          <p:nvSpPr>
            <p:cNvPr id="17" name="object 17">
              <a:extLst>
                <a:ext uri="{FF2B5EF4-FFF2-40B4-BE49-F238E27FC236}">
                  <a16:creationId xmlns:a16="http://schemas.microsoft.com/office/drawing/2014/main" id="{35742736-8BD1-B8E3-480B-6E648173564C}"/>
                </a:ext>
              </a:extLst>
            </p:cNvPr>
            <p:cNvSpPr/>
            <p:nvPr/>
          </p:nvSpPr>
          <p:spPr>
            <a:xfrm>
              <a:off x="6467474" y="2247899"/>
              <a:ext cx="7096125" cy="0"/>
            </a:xfrm>
            <a:custGeom>
              <a:avLst/>
              <a:gdLst/>
              <a:ahLst/>
              <a:cxnLst/>
              <a:rect l="l" t="t" r="r" b="b"/>
              <a:pathLst>
                <a:path w="7096125">
                  <a:moveTo>
                    <a:pt x="0" y="0"/>
                  </a:moveTo>
                  <a:lnTo>
                    <a:pt x="7096124" y="0"/>
                  </a:lnTo>
                </a:path>
              </a:pathLst>
            </a:custGeom>
            <a:ln w="9524">
              <a:solidFill>
                <a:srgbClr val="FFFFFF"/>
              </a:solidFill>
            </a:ln>
          </p:spPr>
          <p:txBody>
            <a:bodyPr wrap="square" lIns="0" tIns="0" rIns="0" bIns="0" rtlCol="0"/>
            <a:lstStyle/>
            <a:p>
              <a:endParaRPr/>
            </a:p>
          </p:txBody>
        </p:sp>
        <p:pic>
          <p:nvPicPr>
            <p:cNvPr id="18" name="object 18">
              <a:extLst>
                <a:ext uri="{FF2B5EF4-FFF2-40B4-BE49-F238E27FC236}">
                  <a16:creationId xmlns:a16="http://schemas.microsoft.com/office/drawing/2014/main" id="{B44CDB4A-A442-1F49-9341-3215800A31CA}"/>
                </a:ext>
              </a:extLst>
            </p:cNvPr>
            <p:cNvPicPr/>
            <p:nvPr/>
          </p:nvPicPr>
          <p:blipFill>
            <a:blip r:embed="rId2" cstate="print"/>
            <a:stretch>
              <a:fillRect/>
            </a:stretch>
          </p:blipFill>
          <p:spPr>
            <a:xfrm>
              <a:off x="6467474" y="2652712"/>
              <a:ext cx="7096124" cy="4105274"/>
            </a:xfrm>
            <a:prstGeom prst="rect">
              <a:avLst/>
            </a:prstGeom>
          </p:spPr>
        </p:pic>
        <p:pic>
          <p:nvPicPr>
            <p:cNvPr id="19" name="object 19">
              <a:extLst>
                <a:ext uri="{FF2B5EF4-FFF2-40B4-BE49-F238E27FC236}">
                  <a16:creationId xmlns:a16="http://schemas.microsoft.com/office/drawing/2014/main" id="{8FAD4071-6B21-6CE6-F00C-C73D81BBBF3E}"/>
                </a:ext>
              </a:extLst>
            </p:cNvPr>
            <p:cNvPicPr/>
            <p:nvPr/>
          </p:nvPicPr>
          <p:blipFill>
            <a:blip r:embed="rId3" cstate="print"/>
            <a:stretch>
              <a:fillRect/>
            </a:stretch>
          </p:blipFill>
          <p:spPr>
            <a:xfrm>
              <a:off x="6467474" y="3271837"/>
              <a:ext cx="7096124" cy="3481387"/>
            </a:xfrm>
            <a:prstGeom prst="rect">
              <a:avLst/>
            </a:prstGeom>
          </p:spPr>
        </p:pic>
        <p:pic>
          <p:nvPicPr>
            <p:cNvPr id="20" name="object 20">
              <a:extLst>
                <a:ext uri="{FF2B5EF4-FFF2-40B4-BE49-F238E27FC236}">
                  <a16:creationId xmlns:a16="http://schemas.microsoft.com/office/drawing/2014/main" id="{69798AB4-35E2-E90C-CBD6-50E1D34C2FE3}"/>
                </a:ext>
              </a:extLst>
            </p:cNvPr>
            <p:cNvPicPr/>
            <p:nvPr/>
          </p:nvPicPr>
          <p:blipFill>
            <a:blip r:embed="rId4" cstate="print"/>
            <a:stretch>
              <a:fillRect/>
            </a:stretch>
          </p:blipFill>
          <p:spPr>
            <a:xfrm>
              <a:off x="6455568" y="2614612"/>
              <a:ext cx="7119936" cy="3567112"/>
            </a:xfrm>
            <a:prstGeom prst="rect">
              <a:avLst/>
            </a:prstGeom>
          </p:spPr>
        </p:pic>
        <p:sp>
          <p:nvSpPr>
            <p:cNvPr id="21" name="object 21">
              <a:extLst>
                <a:ext uri="{FF2B5EF4-FFF2-40B4-BE49-F238E27FC236}">
                  <a16:creationId xmlns:a16="http://schemas.microsoft.com/office/drawing/2014/main" id="{C9C0C923-FF64-5179-2DE8-87131B4F0D50}"/>
                </a:ext>
              </a:extLst>
            </p:cNvPr>
            <p:cNvSpPr/>
            <p:nvPr/>
          </p:nvSpPr>
          <p:spPr>
            <a:xfrm>
              <a:off x="6472237" y="6753225"/>
              <a:ext cx="7096125" cy="0"/>
            </a:xfrm>
            <a:custGeom>
              <a:avLst/>
              <a:gdLst/>
              <a:ahLst/>
              <a:cxnLst/>
              <a:rect l="l" t="t" r="r" b="b"/>
              <a:pathLst>
                <a:path w="7096125">
                  <a:moveTo>
                    <a:pt x="0" y="0"/>
                  </a:moveTo>
                  <a:lnTo>
                    <a:pt x="7096124" y="0"/>
                  </a:lnTo>
                </a:path>
              </a:pathLst>
            </a:custGeom>
            <a:ln w="9524">
              <a:solidFill>
                <a:srgbClr val="FFFFFF"/>
              </a:solidFill>
            </a:ln>
          </p:spPr>
          <p:txBody>
            <a:bodyPr wrap="square" lIns="0" tIns="0" rIns="0" bIns="0" rtlCol="0"/>
            <a:lstStyle/>
            <a:p>
              <a:endParaRPr/>
            </a:p>
          </p:txBody>
        </p:sp>
        <p:sp>
          <p:nvSpPr>
            <p:cNvPr id="22" name="object 22">
              <a:extLst>
                <a:ext uri="{FF2B5EF4-FFF2-40B4-BE49-F238E27FC236}">
                  <a16:creationId xmlns:a16="http://schemas.microsoft.com/office/drawing/2014/main" id="{C055B111-1D56-3B0D-D367-BC8459580068}"/>
                </a:ext>
              </a:extLst>
            </p:cNvPr>
            <p:cNvSpPr/>
            <p:nvPr/>
          </p:nvSpPr>
          <p:spPr>
            <a:xfrm>
              <a:off x="6467474" y="2252662"/>
              <a:ext cx="0" cy="4505325"/>
            </a:xfrm>
            <a:custGeom>
              <a:avLst/>
              <a:gdLst/>
              <a:ahLst/>
              <a:cxnLst/>
              <a:rect l="l" t="t" r="r" b="b"/>
              <a:pathLst>
                <a:path h="4505325">
                  <a:moveTo>
                    <a:pt x="0" y="4505324"/>
                  </a:moveTo>
                  <a:lnTo>
                    <a:pt x="0" y="0"/>
                  </a:lnTo>
                </a:path>
              </a:pathLst>
            </a:custGeom>
            <a:ln w="9524">
              <a:solidFill>
                <a:srgbClr val="FFFFFF"/>
              </a:solidFill>
            </a:ln>
          </p:spPr>
          <p:txBody>
            <a:bodyPr wrap="square" lIns="0" tIns="0" rIns="0" bIns="0" rtlCol="0"/>
            <a:lstStyle/>
            <a:p>
              <a:endParaRPr/>
            </a:p>
          </p:txBody>
        </p:sp>
      </p:grpSp>
      <p:sp>
        <p:nvSpPr>
          <p:cNvPr id="2" name="object 2">
            <a:extLst>
              <a:ext uri="{FF2B5EF4-FFF2-40B4-BE49-F238E27FC236}">
                <a16:creationId xmlns:a16="http://schemas.microsoft.com/office/drawing/2014/main" id="{DD5653D4-5E5B-490D-893E-1A4DA71EE616}"/>
              </a:ext>
            </a:extLst>
          </p:cNvPr>
          <p:cNvSpPr/>
          <p:nvPr/>
        </p:nvSpPr>
        <p:spPr>
          <a:xfrm>
            <a:off x="0" y="0"/>
            <a:ext cx="5181600" cy="8096250"/>
          </a:xfrm>
          <a:custGeom>
            <a:avLst/>
            <a:gdLst/>
            <a:ahLst/>
            <a:cxnLst/>
            <a:rect l="l" t="t" r="r" b="b"/>
            <a:pathLst>
              <a:path w="5181600" h="8096250">
                <a:moveTo>
                  <a:pt x="5181599" y="8096249"/>
                </a:moveTo>
                <a:lnTo>
                  <a:pt x="0" y="8096249"/>
                </a:lnTo>
                <a:lnTo>
                  <a:pt x="0" y="0"/>
                </a:lnTo>
                <a:lnTo>
                  <a:pt x="5181599" y="0"/>
                </a:lnTo>
                <a:lnTo>
                  <a:pt x="5181599" y="8096249"/>
                </a:lnTo>
                <a:close/>
              </a:path>
            </a:pathLst>
          </a:custGeom>
          <a:solidFill>
            <a:srgbClr val="0F1117"/>
          </a:solidFill>
        </p:spPr>
        <p:txBody>
          <a:bodyPr wrap="square" lIns="0" tIns="0" rIns="0" bIns="0" rtlCol="0"/>
          <a:lstStyle/>
          <a:p>
            <a:endParaRPr/>
          </a:p>
        </p:txBody>
      </p:sp>
      <p:sp>
        <p:nvSpPr>
          <p:cNvPr id="5" name="object 5">
            <a:extLst>
              <a:ext uri="{FF2B5EF4-FFF2-40B4-BE49-F238E27FC236}">
                <a16:creationId xmlns:a16="http://schemas.microsoft.com/office/drawing/2014/main" id="{8130E777-EBBA-0005-F502-EE14B4898994}"/>
              </a:ext>
            </a:extLst>
          </p:cNvPr>
          <p:cNvSpPr txBox="1">
            <a:spLocks noGrp="1"/>
          </p:cNvSpPr>
          <p:nvPr>
            <p:ph type="title"/>
          </p:nvPr>
        </p:nvSpPr>
        <p:spPr>
          <a:xfrm>
            <a:off x="6445249" y="434975"/>
            <a:ext cx="6820534" cy="466473"/>
          </a:xfrm>
          <a:prstGeom prst="rect">
            <a:avLst/>
          </a:prstGeom>
        </p:spPr>
        <p:txBody>
          <a:bodyPr vert="horz" wrap="square" lIns="0" tIns="123189" rIns="0" bIns="0" rtlCol="0">
            <a:spAutoFit/>
          </a:bodyPr>
          <a:lstStyle/>
          <a:p>
            <a:pPr marL="12700" marR="5080">
              <a:lnSpc>
                <a:spcPts val="2850"/>
              </a:lnSpc>
              <a:spcBef>
                <a:spcPts val="219"/>
              </a:spcBef>
            </a:pPr>
            <a:r>
              <a:rPr lang="en-US" spc="114" dirty="0"/>
              <a:t>Average Ride duration for riders</a:t>
            </a:r>
            <a:endParaRPr spc="55" dirty="0"/>
          </a:p>
        </p:txBody>
      </p:sp>
      <p:sp>
        <p:nvSpPr>
          <p:cNvPr id="6" name="object 6">
            <a:extLst>
              <a:ext uri="{FF2B5EF4-FFF2-40B4-BE49-F238E27FC236}">
                <a16:creationId xmlns:a16="http://schemas.microsoft.com/office/drawing/2014/main" id="{B22D4338-F4EA-B15E-6AED-9B29B22BF052}"/>
              </a:ext>
            </a:extLst>
          </p:cNvPr>
          <p:cNvSpPr/>
          <p:nvPr/>
        </p:nvSpPr>
        <p:spPr>
          <a:xfrm>
            <a:off x="6015036" y="1652587"/>
            <a:ext cx="742950" cy="238125"/>
          </a:xfrm>
          <a:custGeom>
            <a:avLst/>
            <a:gdLst/>
            <a:ahLst/>
            <a:cxnLst/>
            <a:rect l="l" t="t" r="r" b="b"/>
            <a:pathLst>
              <a:path w="742950" h="238125">
                <a:moveTo>
                  <a:pt x="0" y="119062"/>
                </a:moveTo>
                <a:lnTo>
                  <a:pt x="6071" y="80721"/>
                </a:lnTo>
                <a:lnTo>
                  <a:pt x="9062" y="73498"/>
                </a:lnTo>
                <a:lnTo>
                  <a:pt x="12054" y="66276"/>
                </a:lnTo>
                <a:lnTo>
                  <a:pt x="15722" y="59414"/>
                </a:lnTo>
                <a:lnTo>
                  <a:pt x="20065" y="52914"/>
                </a:lnTo>
                <a:lnTo>
                  <a:pt x="24408" y="46414"/>
                </a:lnTo>
                <a:lnTo>
                  <a:pt x="29344" y="40400"/>
                </a:lnTo>
                <a:lnTo>
                  <a:pt x="34872" y="34872"/>
                </a:lnTo>
                <a:lnTo>
                  <a:pt x="40400" y="29344"/>
                </a:lnTo>
                <a:lnTo>
                  <a:pt x="46414" y="24408"/>
                </a:lnTo>
                <a:lnTo>
                  <a:pt x="52914" y="20065"/>
                </a:lnTo>
                <a:lnTo>
                  <a:pt x="59414" y="15722"/>
                </a:lnTo>
                <a:lnTo>
                  <a:pt x="66276" y="12054"/>
                </a:lnTo>
                <a:lnTo>
                  <a:pt x="73498" y="9062"/>
                </a:lnTo>
                <a:lnTo>
                  <a:pt x="80721" y="6071"/>
                </a:lnTo>
                <a:lnTo>
                  <a:pt x="88166" y="3812"/>
                </a:lnTo>
                <a:lnTo>
                  <a:pt x="95834" y="2287"/>
                </a:lnTo>
                <a:lnTo>
                  <a:pt x="103501" y="762"/>
                </a:lnTo>
                <a:lnTo>
                  <a:pt x="111244" y="0"/>
                </a:lnTo>
                <a:lnTo>
                  <a:pt x="119063" y="0"/>
                </a:lnTo>
                <a:lnTo>
                  <a:pt x="623887" y="0"/>
                </a:lnTo>
                <a:lnTo>
                  <a:pt x="631705" y="0"/>
                </a:lnTo>
                <a:lnTo>
                  <a:pt x="639447" y="762"/>
                </a:lnTo>
                <a:lnTo>
                  <a:pt x="676673" y="12054"/>
                </a:lnTo>
                <a:lnTo>
                  <a:pt x="690035" y="20065"/>
                </a:lnTo>
                <a:lnTo>
                  <a:pt x="696535" y="24408"/>
                </a:lnTo>
                <a:lnTo>
                  <a:pt x="702549" y="29344"/>
                </a:lnTo>
                <a:lnTo>
                  <a:pt x="708077" y="34872"/>
                </a:lnTo>
                <a:lnTo>
                  <a:pt x="713605" y="40400"/>
                </a:lnTo>
                <a:lnTo>
                  <a:pt x="718540" y="46414"/>
                </a:lnTo>
                <a:lnTo>
                  <a:pt x="722883" y="52914"/>
                </a:lnTo>
                <a:lnTo>
                  <a:pt x="727226" y="59414"/>
                </a:lnTo>
                <a:lnTo>
                  <a:pt x="740661" y="95834"/>
                </a:lnTo>
                <a:lnTo>
                  <a:pt x="742187" y="103501"/>
                </a:lnTo>
                <a:lnTo>
                  <a:pt x="742949" y="111244"/>
                </a:lnTo>
                <a:lnTo>
                  <a:pt x="742950" y="119062"/>
                </a:lnTo>
                <a:lnTo>
                  <a:pt x="742949" y="126880"/>
                </a:lnTo>
                <a:lnTo>
                  <a:pt x="742187" y="134622"/>
                </a:lnTo>
                <a:lnTo>
                  <a:pt x="740661" y="142290"/>
                </a:lnTo>
                <a:lnTo>
                  <a:pt x="739136" y="149957"/>
                </a:lnTo>
                <a:lnTo>
                  <a:pt x="722884" y="185209"/>
                </a:lnTo>
                <a:lnTo>
                  <a:pt x="718540" y="191710"/>
                </a:lnTo>
                <a:lnTo>
                  <a:pt x="690035" y="218059"/>
                </a:lnTo>
                <a:lnTo>
                  <a:pt x="654782" y="234311"/>
                </a:lnTo>
                <a:lnTo>
                  <a:pt x="623887" y="238124"/>
                </a:lnTo>
                <a:lnTo>
                  <a:pt x="119063" y="238124"/>
                </a:lnTo>
                <a:lnTo>
                  <a:pt x="80721" y="232053"/>
                </a:lnTo>
                <a:lnTo>
                  <a:pt x="73498" y="229061"/>
                </a:lnTo>
                <a:lnTo>
                  <a:pt x="66276" y="226069"/>
                </a:lnTo>
                <a:lnTo>
                  <a:pt x="59414" y="222402"/>
                </a:lnTo>
                <a:lnTo>
                  <a:pt x="52914" y="218058"/>
                </a:lnTo>
                <a:lnTo>
                  <a:pt x="46414" y="213715"/>
                </a:lnTo>
                <a:lnTo>
                  <a:pt x="40400" y="208780"/>
                </a:lnTo>
                <a:lnTo>
                  <a:pt x="34872" y="203252"/>
                </a:lnTo>
                <a:lnTo>
                  <a:pt x="29344" y="197724"/>
                </a:lnTo>
                <a:lnTo>
                  <a:pt x="24408" y="191710"/>
                </a:lnTo>
                <a:lnTo>
                  <a:pt x="20065" y="185209"/>
                </a:lnTo>
                <a:lnTo>
                  <a:pt x="15722" y="178709"/>
                </a:lnTo>
                <a:lnTo>
                  <a:pt x="12054" y="171848"/>
                </a:lnTo>
                <a:lnTo>
                  <a:pt x="9062" y="164625"/>
                </a:lnTo>
                <a:lnTo>
                  <a:pt x="6071" y="157402"/>
                </a:lnTo>
                <a:lnTo>
                  <a:pt x="3812" y="149957"/>
                </a:lnTo>
                <a:lnTo>
                  <a:pt x="2287"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7" name="object 7">
            <a:extLst>
              <a:ext uri="{FF2B5EF4-FFF2-40B4-BE49-F238E27FC236}">
                <a16:creationId xmlns:a16="http://schemas.microsoft.com/office/drawing/2014/main" id="{26AF0AA1-1BD4-1C5F-42DA-7365FCBAB474}"/>
              </a:ext>
            </a:extLst>
          </p:cNvPr>
          <p:cNvSpPr txBox="1"/>
          <p:nvPr/>
        </p:nvSpPr>
        <p:spPr>
          <a:xfrm>
            <a:off x="6273799" y="1659370"/>
            <a:ext cx="39751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Segoe UI Symbol"/>
                <a:cs typeface="Segoe UI Symbol"/>
              </a:rPr>
              <a:t>C</a:t>
            </a:r>
            <a:r>
              <a:rPr sz="950" spc="-10" dirty="0">
                <a:solidFill>
                  <a:srgbClr val="FFFFFF"/>
                </a:solidFill>
                <a:latin typeface="Trebuchet MS"/>
                <a:cs typeface="Trebuchet MS"/>
              </a:rPr>
              <a:t>a</a:t>
            </a:r>
            <a:r>
              <a:rPr sz="1050" spc="-10" dirty="0">
                <a:solidFill>
                  <a:srgbClr val="FFFFFF"/>
                </a:solidFill>
                <a:latin typeface="Trebuchet MS"/>
                <a:cs typeface="Trebuchet MS"/>
              </a:rPr>
              <a:t>su</a:t>
            </a:r>
            <a:r>
              <a:rPr sz="950" spc="-10" dirty="0">
                <a:solidFill>
                  <a:srgbClr val="FFFFFF"/>
                </a:solidFill>
                <a:latin typeface="Trebuchet MS"/>
                <a:cs typeface="Trebuchet MS"/>
              </a:rPr>
              <a:t>al</a:t>
            </a:r>
            <a:endParaRPr sz="950">
              <a:latin typeface="Trebuchet MS"/>
              <a:cs typeface="Trebuchet MS"/>
            </a:endParaRPr>
          </a:p>
        </p:txBody>
      </p:sp>
      <p:sp>
        <p:nvSpPr>
          <p:cNvPr id="8" name="object 8">
            <a:extLst>
              <a:ext uri="{FF2B5EF4-FFF2-40B4-BE49-F238E27FC236}">
                <a16:creationId xmlns:a16="http://schemas.microsoft.com/office/drawing/2014/main" id="{C0A681F6-B5B0-46BB-A0CA-1112B04417E1}"/>
              </a:ext>
            </a:extLst>
          </p:cNvPr>
          <p:cNvSpPr/>
          <p:nvPr/>
        </p:nvSpPr>
        <p:spPr>
          <a:xfrm>
            <a:off x="6862760" y="1652587"/>
            <a:ext cx="828675" cy="238125"/>
          </a:xfrm>
          <a:custGeom>
            <a:avLst/>
            <a:gdLst/>
            <a:ahLst/>
            <a:cxnLst/>
            <a:rect l="l" t="t" r="r" b="b"/>
            <a:pathLst>
              <a:path w="828675" h="238125">
                <a:moveTo>
                  <a:pt x="0" y="119062"/>
                </a:moveTo>
                <a:lnTo>
                  <a:pt x="6071" y="80721"/>
                </a:lnTo>
                <a:lnTo>
                  <a:pt x="9063" y="73498"/>
                </a:lnTo>
                <a:lnTo>
                  <a:pt x="12054" y="66276"/>
                </a:lnTo>
                <a:lnTo>
                  <a:pt x="15722" y="59414"/>
                </a:lnTo>
                <a:lnTo>
                  <a:pt x="20065" y="52914"/>
                </a:lnTo>
                <a:lnTo>
                  <a:pt x="24408" y="46414"/>
                </a:lnTo>
                <a:lnTo>
                  <a:pt x="29344" y="40400"/>
                </a:lnTo>
                <a:lnTo>
                  <a:pt x="34872" y="34872"/>
                </a:lnTo>
                <a:lnTo>
                  <a:pt x="40401" y="29344"/>
                </a:lnTo>
                <a:lnTo>
                  <a:pt x="46414" y="24408"/>
                </a:lnTo>
                <a:lnTo>
                  <a:pt x="52914" y="20065"/>
                </a:lnTo>
                <a:lnTo>
                  <a:pt x="59414" y="15722"/>
                </a:lnTo>
                <a:lnTo>
                  <a:pt x="95834" y="2287"/>
                </a:lnTo>
                <a:lnTo>
                  <a:pt x="111244" y="0"/>
                </a:lnTo>
                <a:lnTo>
                  <a:pt x="119063" y="0"/>
                </a:lnTo>
                <a:lnTo>
                  <a:pt x="709612" y="0"/>
                </a:lnTo>
                <a:lnTo>
                  <a:pt x="717430" y="0"/>
                </a:lnTo>
                <a:lnTo>
                  <a:pt x="725173" y="762"/>
                </a:lnTo>
                <a:lnTo>
                  <a:pt x="762398" y="12054"/>
                </a:lnTo>
                <a:lnTo>
                  <a:pt x="775760" y="20065"/>
                </a:lnTo>
                <a:lnTo>
                  <a:pt x="782260" y="24408"/>
                </a:lnTo>
                <a:lnTo>
                  <a:pt x="788274" y="29344"/>
                </a:lnTo>
                <a:lnTo>
                  <a:pt x="793802" y="34872"/>
                </a:lnTo>
                <a:lnTo>
                  <a:pt x="799330" y="40400"/>
                </a:lnTo>
                <a:lnTo>
                  <a:pt x="804265" y="46414"/>
                </a:lnTo>
                <a:lnTo>
                  <a:pt x="808608" y="52914"/>
                </a:lnTo>
                <a:lnTo>
                  <a:pt x="812951" y="59414"/>
                </a:lnTo>
                <a:lnTo>
                  <a:pt x="826387" y="95834"/>
                </a:lnTo>
                <a:lnTo>
                  <a:pt x="828675" y="111244"/>
                </a:lnTo>
                <a:lnTo>
                  <a:pt x="828675" y="119062"/>
                </a:lnTo>
                <a:lnTo>
                  <a:pt x="828675" y="126880"/>
                </a:lnTo>
                <a:lnTo>
                  <a:pt x="819611" y="164625"/>
                </a:lnTo>
                <a:lnTo>
                  <a:pt x="799330" y="197724"/>
                </a:lnTo>
                <a:lnTo>
                  <a:pt x="775759" y="218059"/>
                </a:lnTo>
                <a:lnTo>
                  <a:pt x="769259" y="222402"/>
                </a:lnTo>
                <a:lnTo>
                  <a:pt x="732840" y="235837"/>
                </a:lnTo>
                <a:lnTo>
                  <a:pt x="709612" y="238124"/>
                </a:lnTo>
                <a:lnTo>
                  <a:pt x="119063" y="238124"/>
                </a:lnTo>
                <a:lnTo>
                  <a:pt x="80721" y="232053"/>
                </a:lnTo>
                <a:lnTo>
                  <a:pt x="52914" y="218058"/>
                </a:lnTo>
                <a:lnTo>
                  <a:pt x="46414" y="213715"/>
                </a:lnTo>
                <a:lnTo>
                  <a:pt x="20065" y="185209"/>
                </a:lnTo>
                <a:lnTo>
                  <a:pt x="15722" y="178709"/>
                </a:lnTo>
                <a:lnTo>
                  <a:pt x="12054" y="171848"/>
                </a:lnTo>
                <a:lnTo>
                  <a:pt x="9063" y="164625"/>
                </a:lnTo>
                <a:lnTo>
                  <a:pt x="6071" y="157402"/>
                </a:lnTo>
                <a:lnTo>
                  <a:pt x="3813" y="149957"/>
                </a:lnTo>
                <a:lnTo>
                  <a:pt x="2288"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9" name="object 9">
            <a:extLst>
              <a:ext uri="{FF2B5EF4-FFF2-40B4-BE49-F238E27FC236}">
                <a16:creationId xmlns:a16="http://schemas.microsoft.com/office/drawing/2014/main" id="{56A12141-A700-0F8F-499E-B762BD7A0A1D}"/>
              </a:ext>
            </a:extLst>
          </p:cNvPr>
          <p:cNvSpPr txBox="1"/>
          <p:nvPr/>
        </p:nvSpPr>
        <p:spPr>
          <a:xfrm>
            <a:off x="7121971" y="1659370"/>
            <a:ext cx="47879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Trebuchet MS"/>
                <a:cs typeface="Trebuchet MS"/>
              </a:rPr>
              <a:t>Membe</a:t>
            </a:r>
            <a:r>
              <a:rPr sz="1050" spc="-10" dirty="0">
                <a:solidFill>
                  <a:srgbClr val="FFFFFF"/>
                </a:solidFill>
                <a:latin typeface="Trebuchet MS"/>
                <a:cs typeface="Trebuchet MS"/>
              </a:rPr>
              <a:t>r</a:t>
            </a:r>
            <a:endParaRPr sz="1050">
              <a:latin typeface="Trebuchet MS"/>
              <a:cs typeface="Trebuchet MS"/>
            </a:endParaRPr>
          </a:p>
        </p:txBody>
      </p:sp>
      <p:grpSp>
        <p:nvGrpSpPr>
          <p:cNvPr id="10" name="object 10">
            <a:extLst>
              <a:ext uri="{FF2B5EF4-FFF2-40B4-BE49-F238E27FC236}">
                <a16:creationId xmlns:a16="http://schemas.microsoft.com/office/drawing/2014/main" id="{9BC94AF7-E1FE-6285-DFC8-AD1CB5100DE2}"/>
              </a:ext>
            </a:extLst>
          </p:cNvPr>
          <p:cNvGrpSpPr/>
          <p:nvPr/>
        </p:nvGrpSpPr>
        <p:grpSpPr>
          <a:xfrm>
            <a:off x="6115049" y="1762124"/>
            <a:ext cx="114300" cy="19050"/>
            <a:chOff x="6115049" y="1762124"/>
            <a:chExt cx="114300" cy="19050"/>
          </a:xfrm>
        </p:grpSpPr>
        <p:sp>
          <p:nvSpPr>
            <p:cNvPr id="11" name="object 11">
              <a:extLst>
                <a:ext uri="{FF2B5EF4-FFF2-40B4-BE49-F238E27FC236}">
                  <a16:creationId xmlns:a16="http://schemas.microsoft.com/office/drawing/2014/main" id="{1D822335-6420-15B8-21F9-8A97A116D792}"/>
                </a:ext>
              </a:extLst>
            </p:cNvPr>
            <p:cNvSpPr/>
            <p:nvPr/>
          </p:nvSpPr>
          <p:spPr>
            <a:xfrm>
              <a:off x="6115049" y="1762124"/>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5C5EEF"/>
            </a:solidFill>
          </p:spPr>
          <p:txBody>
            <a:bodyPr wrap="square" lIns="0" tIns="0" rIns="0" bIns="0" rtlCol="0"/>
            <a:lstStyle/>
            <a:p>
              <a:endParaRPr/>
            </a:p>
          </p:txBody>
        </p:sp>
        <p:sp>
          <p:nvSpPr>
            <p:cNvPr id="12" name="object 12">
              <a:extLst>
                <a:ext uri="{FF2B5EF4-FFF2-40B4-BE49-F238E27FC236}">
                  <a16:creationId xmlns:a16="http://schemas.microsoft.com/office/drawing/2014/main" id="{46F6CB2D-6CD3-5663-E0EB-C5A48B247077}"/>
                </a:ext>
              </a:extLst>
            </p:cNvPr>
            <p:cNvSpPr/>
            <p:nvPr/>
          </p:nvSpPr>
          <p:spPr>
            <a:xfrm>
              <a:off x="6115049" y="1762125"/>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FAFAFA">
                <a:alpha val="12159"/>
              </a:srgbClr>
            </a:solidFill>
          </p:spPr>
          <p:txBody>
            <a:bodyPr wrap="square" lIns="0" tIns="0" rIns="0" bIns="0" rtlCol="0"/>
            <a:lstStyle/>
            <a:p>
              <a:endParaRPr/>
            </a:p>
          </p:txBody>
        </p:sp>
      </p:grpSp>
      <p:grpSp>
        <p:nvGrpSpPr>
          <p:cNvPr id="13" name="object 13">
            <a:extLst>
              <a:ext uri="{FF2B5EF4-FFF2-40B4-BE49-F238E27FC236}">
                <a16:creationId xmlns:a16="http://schemas.microsoft.com/office/drawing/2014/main" id="{31577008-85E9-D153-234C-46399EE527EF}"/>
              </a:ext>
            </a:extLst>
          </p:cNvPr>
          <p:cNvGrpSpPr/>
          <p:nvPr/>
        </p:nvGrpSpPr>
        <p:grpSpPr>
          <a:xfrm>
            <a:off x="6962774" y="1762124"/>
            <a:ext cx="114300" cy="19050"/>
            <a:chOff x="6962774" y="1762124"/>
            <a:chExt cx="114300" cy="19050"/>
          </a:xfrm>
        </p:grpSpPr>
        <p:sp>
          <p:nvSpPr>
            <p:cNvPr id="14" name="object 14">
              <a:extLst>
                <a:ext uri="{FF2B5EF4-FFF2-40B4-BE49-F238E27FC236}">
                  <a16:creationId xmlns:a16="http://schemas.microsoft.com/office/drawing/2014/main" id="{1EAE93E7-DD0F-C559-C1C6-652A8BFEDF74}"/>
                </a:ext>
              </a:extLst>
            </p:cNvPr>
            <p:cNvSpPr/>
            <p:nvPr/>
          </p:nvSpPr>
          <p:spPr>
            <a:xfrm>
              <a:off x="6962774" y="1762124"/>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090956"/>
            </a:solidFill>
          </p:spPr>
          <p:txBody>
            <a:bodyPr wrap="square" lIns="0" tIns="0" rIns="0" bIns="0" rtlCol="0"/>
            <a:lstStyle/>
            <a:p>
              <a:endParaRPr/>
            </a:p>
          </p:txBody>
        </p:sp>
        <p:sp>
          <p:nvSpPr>
            <p:cNvPr id="15" name="object 15">
              <a:extLst>
                <a:ext uri="{FF2B5EF4-FFF2-40B4-BE49-F238E27FC236}">
                  <a16:creationId xmlns:a16="http://schemas.microsoft.com/office/drawing/2014/main" id="{724E82AD-C05B-3096-CE98-5AECB6789685}"/>
                </a:ext>
              </a:extLst>
            </p:cNvPr>
            <p:cNvSpPr/>
            <p:nvPr/>
          </p:nvSpPr>
          <p:spPr>
            <a:xfrm>
              <a:off x="6962774" y="1762125"/>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FAFAFA">
                <a:alpha val="12159"/>
              </a:srgbClr>
            </a:solidFill>
          </p:spPr>
          <p:txBody>
            <a:bodyPr wrap="square" lIns="0" tIns="0" rIns="0" bIns="0" rtlCol="0"/>
            <a:lstStyle/>
            <a:p>
              <a:endParaRPr/>
            </a:p>
          </p:txBody>
        </p:sp>
      </p:grpSp>
      <p:sp>
        <p:nvSpPr>
          <p:cNvPr id="23" name="object 23">
            <a:extLst>
              <a:ext uri="{FF2B5EF4-FFF2-40B4-BE49-F238E27FC236}">
                <a16:creationId xmlns:a16="http://schemas.microsoft.com/office/drawing/2014/main" id="{0AC09573-7C0F-886F-5E8D-65048BC7ED45}"/>
              </a:ext>
            </a:extLst>
          </p:cNvPr>
          <p:cNvSpPr txBox="1"/>
          <p:nvPr/>
        </p:nvSpPr>
        <p:spPr>
          <a:xfrm>
            <a:off x="6356250" y="6845300"/>
            <a:ext cx="222885"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Jan</a:t>
            </a:r>
            <a:endParaRPr sz="900">
              <a:latin typeface="Tahoma"/>
              <a:cs typeface="Tahoma"/>
            </a:endParaRPr>
          </a:p>
        </p:txBody>
      </p:sp>
      <p:sp>
        <p:nvSpPr>
          <p:cNvPr id="24" name="object 24">
            <a:extLst>
              <a:ext uri="{FF2B5EF4-FFF2-40B4-BE49-F238E27FC236}">
                <a16:creationId xmlns:a16="http://schemas.microsoft.com/office/drawing/2014/main" id="{CFBE4793-5EC5-60F0-6859-6081F96F7665}"/>
              </a:ext>
            </a:extLst>
          </p:cNvPr>
          <p:cNvSpPr txBox="1"/>
          <p:nvPr/>
        </p:nvSpPr>
        <p:spPr>
          <a:xfrm>
            <a:off x="7000081" y="6845300"/>
            <a:ext cx="22542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Feb</a:t>
            </a:r>
            <a:endParaRPr sz="900">
              <a:latin typeface="Tahoma"/>
              <a:cs typeface="Tahoma"/>
            </a:endParaRPr>
          </a:p>
        </p:txBody>
      </p:sp>
      <p:sp>
        <p:nvSpPr>
          <p:cNvPr id="25" name="object 25">
            <a:extLst>
              <a:ext uri="{FF2B5EF4-FFF2-40B4-BE49-F238E27FC236}">
                <a16:creationId xmlns:a16="http://schemas.microsoft.com/office/drawing/2014/main" id="{9C179C86-B604-87C2-FC20-1883FF516016}"/>
              </a:ext>
            </a:extLst>
          </p:cNvPr>
          <p:cNvSpPr txBox="1"/>
          <p:nvPr/>
        </p:nvSpPr>
        <p:spPr>
          <a:xfrm>
            <a:off x="7639595" y="6845300"/>
            <a:ext cx="23622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Mar</a:t>
            </a:r>
            <a:endParaRPr sz="900">
              <a:latin typeface="Tahoma"/>
              <a:cs typeface="Tahoma"/>
            </a:endParaRPr>
          </a:p>
        </p:txBody>
      </p:sp>
      <p:sp>
        <p:nvSpPr>
          <p:cNvPr id="26" name="object 26">
            <a:extLst>
              <a:ext uri="{FF2B5EF4-FFF2-40B4-BE49-F238E27FC236}">
                <a16:creationId xmlns:a16="http://schemas.microsoft.com/office/drawing/2014/main" id="{BBC28468-1AD3-E285-ADC0-2F4FE11F7005}"/>
              </a:ext>
            </a:extLst>
          </p:cNvPr>
          <p:cNvSpPr txBox="1"/>
          <p:nvPr/>
        </p:nvSpPr>
        <p:spPr>
          <a:xfrm>
            <a:off x="8293992" y="6845300"/>
            <a:ext cx="217804"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Apr</a:t>
            </a:r>
            <a:endParaRPr sz="900">
              <a:latin typeface="Tahoma"/>
              <a:cs typeface="Tahoma"/>
            </a:endParaRPr>
          </a:p>
        </p:txBody>
      </p:sp>
      <p:sp>
        <p:nvSpPr>
          <p:cNvPr id="27" name="object 27">
            <a:extLst>
              <a:ext uri="{FF2B5EF4-FFF2-40B4-BE49-F238E27FC236}">
                <a16:creationId xmlns:a16="http://schemas.microsoft.com/office/drawing/2014/main" id="{43A3BAC7-9891-96D3-9BD1-5222384A54F2}"/>
              </a:ext>
            </a:extLst>
          </p:cNvPr>
          <p:cNvSpPr txBox="1"/>
          <p:nvPr/>
        </p:nvSpPr>
        <p:spPr>
          <a:xfrm>
            <a:off x="8920112" y="6845300"/>
            <a:ext cx="255904"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May</a:t>
            </a:r>
            <a:endParaRPr sz="900">
              <a:latin typeface="Tahoma"/>
              <a:cs typeface="Tahoma"/>
            </a:endParaRPr>
          </a:p>
        </p:txBody>
      </p:sp>
      <p:sp>
        <p:nvSpPr>
          <p:cNvPr id="28" name="object 28">
            <a:extLst>
              <a:ext uri="{FF2B5EF4-FFF2-40B4-BE49-F238E27FC236}">
                <a16:creationId xmlns:a16="http://schemas.microsoft.com/office/drawing/2014/main" id="{6B0D3D3B-0CBC-3C0B-7858-3B6C0CB25C18}"/>
              </a:ext>
            </a:extLst>
          </p:cNvPr>
          <p:cNvSpPr txBox="1"/>
          <p:nvPr/>
        </p:nvSpPr>
        <p:spPr>
          <a:xfrm>
            <a:off x="9580016" y="6845300"/>
            <a:ext cx="226060"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Jun</a:t>
            </a:r>
            <a:endParaRPr sz="900">
              <a:latin typeface="Tahoma"/>
              <a:cs typeface="Tahoma"/>
            </a:endParaRPr>
          </a:p>
        </p:txBody>
      </p:sp>
      <p:sp>
        <p:nvSpPr>
          <p:cNvPr id="29" name="object 29">
            <a:extLst>
              <a:ext uri="{FF2B5EF4-FFF2-40B4-BE49-F238E27FC236}">
                <a16:creationId xmlns:a16="http://schemas.microsoft.com/office/drawing/2014/main" id="{EC8C2C16-61A7-B183-1C68-68BB0FA50C41}"/>
              </a:ext>
            </a:extLst>
          </p:cNvPr>
          <p:cNvSpPr txBox="1"/>
          <p:nvPr/>
        </p:nvSpPr>
        <p:spPr>
          <a:xfrm>
            <a:off x="10244980" y="6845300"/>
            <a:ext cx="186055"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Jul</a:t>
            </a:r>
            <a:endParaRPr sz="900">
              <a:latin typeface="Tahoma"/>
              <a:cs typeface="Tahoma"/>
            </a:endParaRPr>
          </a:p>
        </p:txBody>
      </p:sp>
      <p:sp>
        <p:nvSpPr>
          <p:cNvPr id="30" name="object 30">
            <a:extLst>
              <a:ext uri="{FF2B5EF4-FFF2-40B4-BE49-F238E27FC236}">
                <a16:creationId xmlns:a16="http://schemas.microsoft.com/office/drawing/2014/main" id="{A0BAB864-CCBC-BC33-F8D6-FA22DA6AC674}"/>
              </a:ext>
            </a:extLst>
          </p:cNvPr>
          <p:cNvSpPr txBox="1"/>
          <p:nvPr/>
        </p:nvSpPr>
        <p:spPr>
          <a:xfrm>
            <a:off x="10862170" y="6845300"/>
            <a:ext cx="2425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Aug</a:t>
            </a:r>
            <a:endParaRPr sz="900">
              <a:latin typeface="Tahoma"/>
              <a:cs typeface="Tahoma"/>
            </a:endParaRPr>
          </a:p>
        </p:txBody>
      </p:sp>
      <p:sp>
        <p:nvSpPr>
          <p:cNvPr id="31" name="object 31">
            <a:extLst>
              <a:ext uri="{FF2B5EF4-FFF2-40B4-BE49-F238E27FC236}">
                <a16:creationId xmlns:a16="http://schemas.microsoft.com/office/drawing/2014/main" id="{BF805A19-469D-7473-89B6-462C0E3DDAF7}"/>
              </a:ext>
            </a:extLst>
          </p:cNvPr>
          <p:cNvSpPr txBox="1"/>
          <p:nvPr/>
        </p:nvSpPr>
        <p:spPr>
          <a:xfrm>
            <a:off x="11510465" y="6845300"/>
            <a:ext cx="235585" cy="162560"/>
          </a:xfrm>
          <a:prstGeom prst="rect">
            <a:avLst/>
          </a:prstGeom>
        </p:spPr>
        <p:txBody>
          <a:bodyPr vert="horz" wrap="square" lIns="0" tIns="12700" rIns="0" bIns="0" rtlCol="0">
            <a:spAutoFit/>
          </a:bodyPr>
          <a:lstStyle/>
          <a:p>
            <a:pPr marL="12700">
              <a:lnSpc>
                <a:spcPct val="100000"/>
              </a:lnSpc>
              <a:spcBef>
                <a:spcPts val="100"/>
              </a:spcBef>
            </a:pPr>
            <a:r>
              <a:rPr sz="900" spc="30" dirty="0">
                <a:solidFill>
                  <a:srgbClr val="FFFFFF"/>
                </a:solidFill>
                <a:latin typeface="Tahoma"/>
                <a:cs typeface="Tahoma"/>
              </a:rPr>
              <a:t>Sep</a:t>
            </a:r>
            <a:endParaRPr sz="900">
              <a:latin typeface="Tahoma"/>
              <a:cs typeface="Tahoma"/>
            </a:endParaRPr>
          </a:p>
        </p:txBody>
      </p:sp>
      <p:sp>
        <p:nvSpPr>
          <p:cNvPr id="32" name="object 32">
            <a:extLst>
              <a:ext uri="{FF2B5EF4-FFF2-40B4-BE49-F238E27FC236}">
                <a16:creationId xmlns:a16="http://schemas.microsoft.com/office/drawing/2014/main" id="{D02ADD01-5666-0797-64D6-6FE8167B678F}"/>
              </a:ext>
            </a:extLst>
          </p:cNvPr>
          <p:cNvSpPr txBox="1"/>
          <p:nvPr/>
        </p:nvSpPr>
        <p:spPr>
          <a:xfrm>
            <a:off x="12165458" y="6845300"/>
            <a:ext cx="2159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Oct</a:t>
            </a:r>
            <a:endParaRPr sz="900">
              <a:latin typeface="Tahoma"/>
              <a:cs typeface="Tahoma"/>
            </a:endParaRPr>
          </a:p>
        </p:txBody>
      </p:sp>
      <p:sp>
        <p:nvSpPr>
          <p:cNvPr id="33" name="object 33">
            <a:extLst>
              <a:ext uri="{FF2B5EF4-FFF2-40B4-BE49-F238E27FC236}">
                <a16:creationId xmlns:a16="http://schemas.microsoft.com/office/drawing/2014/main" id="{0E493A79-9C32-67BC-D46B-F6DCADC150BA}"/>
              </a:ext>
            </a:extLst>
          </p:cNvPr>
          <p:cNvSpPr txBox="1"/>
          <p:nvPr/>
        </p:nvSpPr>
        <p:spPr>
          <a:xfrm>
            <a:off x="12797382" y="6845300"/>
            <a:ext cx="2425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Nov</a:t>
            </a:r>
            <a:endParaRPr sz="900">
              <a:latin typeface="Tahoma"/>
              <a:cs typeface="Tahoma"/>
            </a:endParaRPr>
          </a:p>
        </p:txBody>
      </p:sp>
      <p:sp>
        <p:nvSpPr>
          <p:cNvPr id="34" name="object 34">
            <a:extLst>
              <a:ext uri="{FF2B5EF4-FFF2-40B4-BE49-F238E27FC236}">
                <a16:creationId xmlns:a16="http://schemas.microsoft.com/office/drawing/2014/main" id="{25609F12-BD59-83F1-53CF-D4801A704F70}"/>
              </a:ext>
            </a:extLst>
          </p:cNvPr>
          <p:cNvSpPr txBox="1"/>
          <p:nvPr/>
        </p:nvSpPr>
        <p:spPr>
          <a:xfrm>
            <a:off x="13443594" y="6845300"/>
            <a:ext cx="240029"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Dec</a:t>
            </a:r>
            <a:endParaRPr sz="900">
              <a:latin typeface="Tahoma"/>
              <a:cs typeface="Tahoma"/>
            </a:endParaRPr>
          </a:p>
        </p:txBody>
      </p:sp>
      <p:sp>
        <p:nvSpPr>
          <p:cNvPr id="35" name="object 35">
            <a:extLst>
              <a:ext uri="{FF2B5EF4-FFF2-40B4-BE49-F238E27FC236}">
                <a16:creationId xmlns:a16="http://schemas.microsoft.com/office/drawing/2014/main" id="{74FB516C-AC3D-DD05-FA96-731AF72D6FAE}"/>
              </a:ext>
            </a:extLst>
          </p:cNvPr>
          <p:cNvSpPr txBox="1"/>
          <p:nvPr/>
        </p:nvSpPr>
        <p:spPr>
          <a:xfrm>
            <a:off x="6268292" y="6654800"/>
            <a:ext cx="9779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0</a:t>
            </a:r>
            <a:endParaRPr sz="900">
              <a:latin typeface="Tahoma"/>
              <a:cs typeface="Tahoma"/>
            </a:endParaRPr>
          </a:p>
        </p:txBody>
      </p:sp>
      <p:sp>
        <p:nvSpPr>
          <p:cNvPr id="36" name="object 36">
            <a:extLst>
              <a:ext uri="{FF2B5EF4-FFF2-40B4-BE49-F238E27FC236}">
                <a16:creationId xmlns:a16="http://schemas.microsoft.com/office/drawing/2014/main" id="{E26FBBC9-A4FC-3D3C-DDB8-A7160A26F829}"/>
              </a:ext>
            </a:extLst>
          </p:cNvPr>
          <p:cNvSpPr txBox="1"/>
          <p:nvPr/>
        </p:nvSpPr>
        <p:spPr>
          <a:xfrm>
            <a:off x="6272608" y="5630862"/>
            <a:ext cx="93345"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FFFFFF"/>
                </a:solidFill>
                <a:latin typeface="Tahoma"/>
                <a:cs typeface="Tahoma"/>
              </a:rPr>
              <a:t>5</a:t>
            </a:r>
            <a:endParaRPr sz="900">
              <a:latin typeface="Tahoma"/>
              <a:cs typeface="Tahoma"/>
            </a:endParaRPr>
          </a:p>
        </p:txBody>
      </p:sp>
      <p:sp>
        <p:nvSpPr>
          <p:cNvPr id="37" name="object 37">
            <a:extLst>
              <a:ext uri="{FF2B5EF4-FFF2-40B4-BE49-F238E27FC236}">
                <a16:creationId xmlns:a16="http://schemas.microsoft.com/office/drawing/2014/main" id="{47FDA7D2-0F0C-C1B4-909B-9D519831512A}"/>
              </a:ext>
            </a:extLst>
          </p:cNvPr>
          <p:cNvSpPr txBox="1"/>
          <p:nvPr/>
        </p:nvSpPr>
        <p:spPr>
          <a:xfrm>
            <a:off x="6221858" y="4606925"/>
            <a:ext cx="14414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10</a:t>
            </a:r>
            <a:endParaRPr sz="900">
              <a:latin typeface="Tahoma"/>
              <a:cs typeface="Tahoma"/>
            </a:endParaRPr>
          </a:p>
        </p:txBody>
      </p:sp>
      <p:sp>
        <p:nvSpPr>
          <p:cNvPr id="38" name="object 38">
            <a:extLst>
              <a:ext uri="{FF2B5EF4-FFF2-40B4-BE49-F238E27FC236}">
                <a16:creationId xmlns:a16="http://schemas.microsoft.com/office/drawing/2014/main" id="{C3707D39-B522-0DF6-3B89-91424AFAAF50}"/>
              </a:ext>
            </a:extLst>
          </p:cNvPr>
          <p:cNvSpPr txBox="1"/>
          <p:nvPr/>
        </p:nvSpPr>
        <p:spPr>
          <a:xfrm>
            <a:off x="6226174" y="3582987"/>
            <a:ext cx="1397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15</a:t>
            </a:r>
            <a:endParaRPr sz="900">
              <a:latin typeface="Tahoma"/>
              <a:cs typeface="Tahoma"/>
            </a:endParaRPr>
          </a:p>
        </p:txBody>
      </p:sp>
      <p:sp>
        <p:nvSpPr>
          <p:cNvPr id="39" name="object 39">
            <a:extLst>
              <a:ext uri="{FF2B5EF4-FFF2-40B4-BE49-F238E27FC236}">
                <a16:creationId xmlns:a16="http://schemas.microsoft.com/office/drawing/2014/main" id="{777F3382-A3F5-74A7-1CAB-46FE7FFBD85D}"/>
              </a:ext>
            </a:extLst>
          </p:cNvPr>
          <p:cNvSpPr txBox="1"/>
          <p:nvPr/>
        </p:nvSpPr>
        <p:spPr>
          <a:xfrm>
            <a:off x="6198641" y="2559050"/>
            <a:ext cx="167640"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FFFFFF"/>
                </a:solidFill>
                <a:latin typeface="Tahoma"/>
                <a:cs typeface="Tahoma"/>
              </a:rPr>
              <a:t>20</a:t>
            </a:r>
            <a:endParaRPr sz="900">
              <a:latin typeface="Tahoma"/>
              <a:cs typeface="Tahoma"/>
            </a:endParaRPr>
          </a:p>
        </p:txBody>
      </p:sp>
      <p:sp>
        <p:nvSpPr>
          <p:cNvPr id="40" name="object 40">
            <a:extLst>
              <a:ext uri="{FF2B5EF4-FFF2-40B4-BE49-F238E27FC236}">
                <a16:creationId xmlns:a16="http://schemas.microsoft.com/office/drawing/2014/main" id="{5A67B7DF-5D5B-7E4F-9B3A-C161C34C54EB}"/>
              </a:ext>
            </a:extLst>
          </p:cNvPr>
          <p:cNvSpPr/>
          <p:nvPr/>
        </p:nvSpPr>
        <p:spPr>
          <a:xfrm>
            <a:off x="9572624" y="7134224"/>
            <a:ext cx="581025" cy="266700"/>
          </a:xfrm>
          <a:custGeom>
            <a:avLst/>
            <a:gdLst/>
            <a:ahLst/>
            <a:cxnLst/>
            <a:rect l="l" t="t" r="r" b="b"/>
            <a:pathLst>
              <a:path w="581025" h="266700">
                <a:moveTo>
                  <a:pt x="447674" y="266699"/>
                </a:moveTo>
                <a:lnTo>
                  <a:pt x="133349" y="266699"/>
                </a:lnTo>
                <a:lnTo>
                  <a:pt x="126798" y="266539"/>
                </a:lnTo>
                <a:lnTo>
                  <a:pt x="88432" y="258906"/>
                </a:lnTo>
                <a:lnTo>
                  <a:pt x="53906" y="240452"/>
                </a:lnTo>
                <a:lnTo>
                  <a:pt x="26245" y="212792"/>
                </a:lnTo>
                <a:lnTo>
                  <a:pt x="7790" y="178265"/>
                </a:lnTo>
                <a:lnTo>
                  <a:pt x="159" y="139900"/>
                </a:lnTo>
                <a:lnTo>
                  <a:pt x="0" y="133349"/>
                </a:lnTo>
                <a:lnTo>
                  <a:pt x="159" y="126798"/>
                </a:lnTo>
                <a:lnTo>
                  <a:pt x="7790" y="88432"/>
                </a:lnTo>
                <a:lnTo>
                  <a:pt x="26245" y="53906"/>
                </a:lnTo>
                <a:lnTo>
                  <a:pt x="53905" y="26246"/>
                </a:lnTo>
                <a:lnTo>
                  <a:pt x="88432" y="7791"/>
                </a:lnTo>
                <a:lnTo>
                  <a:pt x="126798" y="160"/>
                </a:lnTo>
                <a:lnTo>
                  <a:pt x="133349" y="0"/>
                </a:lnTo>
                <a:lnTo>
                  <a:pt x="447674" y="0"/>
                </a:lnTo>
                <a:lnTo>
                  <a:pt x="486383" y="5740"/>
                </a:lnTo>
                <a:lnTo>
                  <a:pt x="521758" y="22473"/>
                </a:lnTo>
                <a:lnTo>
                  <a:pt x="550756" y="48752"/>
                </a:lnTo>
                <a:lnTo>
                  <a:pt x="570872" y="82318"/>
                </a:lnTo>
                <a:lnTo>
                  <a:pt x="580384" y="120279"/>
                </a:lnTo>
                <a:lnTo>
                  <a:pt x="581024" y="133349"/>
                </a:lnTo>
                <a:lnTo>
                  <a:pt x="580864" y="139900"/>
                </a:lnTo>
                <a:lnTo>
                  <a:pt x="573231" y="178265"/>
                </a:lnTo>
                <a:lnTo>
                  <a:pt x="554777" y="212792"/>
                </a:lnTo>
                <a:lnTo>
                  <a:pt x="527116" y="240452"/>
                </a:lnTo>
                <a:lnTo>
                  <a:pt x="492590" y="258906"/>
                </a:lnTo>
                <a:lnTo>
                  <a:pt x="454225" y="266539"/>
                </a:lnTo>
                <a:lnTo>
                  <a:pt x="447674" y="266699"/>
                </a:lnTo>
                <a:close/>
              </a:path>
            </a:pathLst>
          </a:custGeom>
          <a:solidFill>
            <a:srgbClr val="FFFFFF">
              <a:alpha val="5879"/>
            </a:srgbClr>
          </a:solidFill>
        </p:spPr>
        <p:txBody>
          <a:bodyPr wrap="square" lIns="0" tIns="0" rIns="0" bIns="0" rtlCol="0"/>
          <a:lstStyle/>
          <a:p>
            <a:endParaRPr/>
          </a:p>
        </p:txBody>
      </p:sp>
      <p:sp>
        <p:nvSpPr>
          <p:cNvPr id="41" name="object 41">
            <a:extLst>
              <a:ext uri="{FF2B5EF4-FFF2-40B4-BE49-F238E27FC236}">
                <a16:creationId xmlns:a16="http://schemas.microsoft.com/office/drawing/2014/main" id="{016D4532-2222-D596-1E5B-E1987B805B20}"/>
              </a:ext>
            </a:extLst>
          </p:cNvPr>
          <p:cNvSpPr txBox="1"/>
          <p:nvPr/>
        </p:nvSpPr>
        <p:spPr>
          <a:xfrm>
            <a:off x="9678243" y="7178675"/>
            <a:ext cx="370205"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Month</a:t>
            </a:r>
            <a:endParaRPr sz="900">
              <a:latin typeface="Tahoma"/>
              <a:cs typeface="Tahoma"/>
            </a:endParaRPr>
          </a:p>
        </p:txBody>
      </p:sp>
      <p:sp>
        <p:nvSpPr>
          <p:cNvPr id="42" name="object 20">
            <a:extLst>
              <a:ext uri="{FF2B5EF4-FFF2-40B4-BE49-F238E27FC236}">
                <a16:creationId xmlns:a16="http://schemas.microsoft.com/office/drawing/2014/main" id="{1A130A85-316A-B8EC-9C4A-CA8C061D119D}"/>
              </a:ext>
            </a:extLst>
          </p:cNvPr>
          <p:cNvSpPr txBox="1">
            <a:spLocks/>
          </p:cNvSpPr>
          <p:nvPr/>
        </p:nvSpPr>
        <p:spPr>
          <a:xfrm>
            <a:off x="514326" y="585851"/>
            <a:ext cx="4295654" cy="2028761"/>
          </a:xfrm>
          <a:prstGeom prst="rect">
            <a:avLst/>
          </a:prstGeom>
        </p:spPr>
        <p:txBody>
          <a:bodyPr vert="horz" wrap="square" lIns="0" tIns="134620" rIns="0" bIns="0" rtlCol="0">
            <a:spAutoFit/>
          </a:bodyPr>
          <a:lstStyle>
            <a:lvl1pPr>
              <a:defRPr sz="2400" b="0" i="0">
                <a:solidFill>
                  <a:srgbClr val="06080C"/>
                </a:solidFill>
                <a:latin typeface="Tahoma"/>
                <a:ea typeface="+mj-ea"/>
                <a:cs typeface="Tahoma"/>
              </a:defRPr>
            </a:lvl1pPr>
          </a:lstStyle>
          <a:p>
            <a:pPr marL="12700" marR="5080">
              <a:spcBef>
                <a:spcPts val="1060"/>
              </a:spcBef>
            </a:pPr>
            <a:r>
              <a:rPr lang="en-US" sz="1500" dirty="0">
                <a:solidFill>
                  <a:schemeClr val="bg1">
                    <a:lumMod val="65000"/>
                  </a:schemeClr>
                </a:solidFill>
              </a:rPr>
              <a:t>Ride duration</a:t>
            </a:r>
            <a:br>
              <a:rPr lang="en-US" sz="1500" dirty="0">
                <a:solidFill>
                  <a:schemeClr val="bg1"/>
                </a:solidFill>
              </a:rPr>
            </a:br>
            <a:r>
              <a:rPr lang="en-US" sz="3600" dirty="0">
                <a:solidFill>
                  <a:schemeClr val="bg1"/>
                </a:solidFill>
              </a:rPr>
              <a:t>Casuals ride 62% longer per trip than members</a:t>
            </a:r>
          </a:p>
        </p:txBody>
      </p:sp>
      <p:sp>
        <p:nvSpPr>
          <p:cNvPr id="43" name="object 21">
            <a:extLst>
              <a:ext uri="{FF2B5EF4-FFF2-40B4-BE49-F238E27FC236}">
                <a16:creationId xmlns:a16="http://schemas.microsoft.com/office/drawing/2014/main" id="{3AA65343-AFEF-631B-5F27-5F9DA46041FF}"/>
              </a:ext>
            </a:extLst>
          </p:cNvPr>
          <p:cNvSpPr txBox="1"/>
          <p:nvPr/>
        </p:nvSpPr>
        <p:spPr>
          <a:xfrm>
            <a:off x="520700" y="5715000"/>
            <a:ext cx="4089399" cy="936154"/>
          </a:xfrm>
          <a:prstGeom prst="rect">
            <a:avLst/>
          </a:prstGeom>
        </p:spPr>
        <p:txBody>
          <a:bodyPr vert="horz" wrap="square" lIns="0" tIns="12700" rIns="0" bIns="0" rtlCol="0">
            <a:spAutoFit/>
          </a:bodyPr>
          <a:lstStyle/>
          <a:p>
            <a:pPr marL="12700" marR="5080">
              <a:lnSpc>
                <a:spcPct val="100000"/>
              </a:lnSpc>
              <a:spcBef>
                <a:spcPts val="100"/>
              </a:spcBef>
            </a:pPr>
            <a:r>
              <a:rPr sz="1500" spc="75" dirty="0">
                <a:solidFill>
                  <a:schemeClr val="bg1">
                    <a:lumMod val="75000"/>
                  </a:schemeClr>
                </a:solidFill>
                <a:latin typeface="Tahoma"/>
                <a:cs typeface="Tahoma"/>
              </a:rPr>
              <a:t>Casual</a:t>
            </a:r>
            <a:r>
              <a:rPr sz="1500" spc="-15" dirty="0">
                <a:solidFill>
                  <a:schemeClr val="bg1">
                    <a:lumMod val="75000"/>
                  </a:schemeClr>
                </a:solidFill>
                <a:latin typeface="Tahoma"/>
                <a:cs typeface="Tahoma"/>
              </a:rPr>
              <a:t> </a:t>
            </a:r>
            <a:r>
              <a:rPr sz="1500" spc="60" dirty="0">
                <a:solidFill>
                  <a:schemeClr val="bg1">
                    <a:lumMod val="75000"/>
                  </a:schemeClr>
                </a:solidFill>
                <a:latin typeface="Tahoma"/>
                <a:cs typeface="Tahoma"/>
              </a:rPr>
              <a:t>riders</a:t>
            </a:r>
            <a:r>
              <a:rPr sz="1500" spc="-10" dirty="0">
                <a:solidFill>
                  <a:schemeClr val="bg1">
                    <a:lumMod val="75000"/>
                  </a:schemeClr>
                </a:solidFill>
                <a:latin typeface="Tahoma"/>
                <a:cs typeface="Tahoma"/>
              </a:rPr>
              <a:t> </a:t>
            </a:r>
            <a:r>
              <a:rPr sz="1500" spc="55" dirty="0">
                <a:solidFill>
                  <a:schemeClr val="bg1">
                    <a:lumMod val="75000"/>
                  </a:schemeClr>
                </a:solidFill>
                <a:latin typeface="Tahoma"/>
                <a:cs typeface="Tahoma"/>
              </a:rPr>
              <a:t>average</a:t>
            </a:r>
            <a:r>
              <a:rPr sz="1500" spc="-10" dirty="0">
                <a:solidFill>
                  <a:schemeClr val="bg1">
                    <a:lumMod val="75000"/>
                  </a:schemeClr>
                </a:solidFill>
                <a:latin typeface="Tahoma"/>
                <a:cs typeface="Tahoma"/>
              </a:rPr>
              <a:t> 19.87 </a:t>
            </a:r>
            <a:r>
              <a:rPr sz="1500" dirty="0">
                <a:solidFill>
                  <a:schemeClr val="bg1">
                    <a:lumMod val="75000"/>
                  </a:schemeClr>
                </a:solidFill>
                <a:latin typeface="Tahoma"/>
                <a:cs typeface="Tahoma"/>
              </a:rPr>
              <a:t>min</a:t>
            </a:r>
            <a:r>
              <a:rPr sz="1500" spc="-10" dirty="0">
                <a:solidFill>
                  <a:schemeClr val="bg1">
                    <a:lumMod val="75000"/>
                  </a:schemeClr>
                </a:solidFill>
                <a:latin typeface="Tahoma"/>
                <a:cs typeface="Tahoma"/>
              </a:rPr>
              <a:t> </a:t>
            </a:r>
            <a:r>
              <a:rPr sz="1500" spc="60" dirty="0">
                <a:solidFill>
                  <a:schemeClr val="bg1">
                    <a:lumMod val="75000"/>
                  </a:schemeClr>
                </a:solidFill>
                <a:latin typeface="Tahoma"/>
                <a:cs typeface="Tahoma"/>
              </a:rPr>
              <a:t>per</a:t>
            </a:r>
            <a:r>
              <a:rPr sz="1500" spc="-10" dirty="0">
                <a:solidFill>
                  <a:schemeClr val="bg1">
                    <a:lumMod val="75000"/>
                  </a:schemeClr>
                </a:solidFill>
                <a:latin typeface="Tahoma"/>
                <a:cs typeface="Tahoma"/>
              </a:rPr>
              <a:t> </a:t>
            </a:r>
            <a:r>
              <a:rPr sz="1500" dirty="0">
                <a:solidFill>
                  <a:schemeClr val="bg1">
                    <a:lumMod val="75000"/>
                  </a:schemeClr>
                </a:solidFill>
                <a:latin typeface="Tahoma"/>
                <a:cs typeface="Tahoma"/>
              </a:rPr>
              <a:t>trip</a:t>
            </a:r>
            <a:r>
              <a:rPr sz="1500" spc="-10" dirty="0">
                <a:solidFill>
                  <a:schemeClr val="bg1">
                    <a:lumMod val="75000"/>
                  </a:schemeClr>
                </a:solidFill>
                <a:latin typeface="Tahoma"/>
                <a:cs typeface="Tahoma"/>
              </a:rPr>
              <a:t> </a:t>
            </a:r>
            <a:r>
              <a:rPr sz="1500" spc="60" dirty="0">
                <a:solidFill>
                  <a:schemeClr val="bg1">
                    <a:lumMod val="75000"/>
                  </a:schemeClr>
                </a:solidFill>
                <a:latin typeface="Tahoma"/>
                <a:cs typeface="Tahoma"/>
              </a:rPr>
              <a:t>vs.</a:t>
            </a:r>
            <a:r>
              <a:rPr sz="1500" spc="-10" dirty="0">
                <a:solidFill>
                  <a:schemeClr val="bg1">
                    <a:lumMod val="75000"/>
                  </a:schemeClr>
                </a:solidFill>
                <a:latin typeface="Tahoma"/>
                <a:cs typeface="Tahoma"/>
              </a:rPr>
              <a:t> 12.18 </a:t>
            </a:r>
            <a:r>
              <a:rPr sz="1500" dirty="0">
                <a:solidFill>
                  <a:schemeClr val="bg1">
                    <a:lumMod val="75000"/>
                  </a:schemeClr>
                </a:solidFill>
                <a:latin typeface="Tahoma"/>
                <a:cs typeface="Tahoma"/>
              </a:rPr>
              <a:t>min</a:t>
            </a:r>
            <a:r>
              <a:rPr sz="1500" spc="40" dirty="0">
                <a:solidFill>
                  <a:schemeClr val="bg1">
                    <a:lumMod val="75000"/>
                  </a:schemeClr>
                </a:solidFill>
                <a:latin typeface="Tahoma"/>
                <a:cs typeface="Tahoma"/>
              </a:rPr>
              <a:t> </a:t>
            </a:r>
            <a:r>
              <a:rPr sz="1500" dirty="0">
                <a:solidFill>
                  <a:schemeClr val="bg1">
                    <a:lumMod val="75000"/>
                  </a:schemeClr>
                </a:solidFill>
                <a:latin typeface="Tahoma"/>
                <a:cs typeface="Tahoma"/>
              </a:rPr>
              <a:t>for</a:t>
            </a:r>
            <a:r>
              <a:rPr sz="1500" spc="40" dirty="0">
                <a:solidFill>
                  <a:schemeClr val="bg1">
                    <a:lumMod val="75000"/>
                  </a:schemeClr>
                </a:solidFill>
                <a:latin typeface="Tahoma"/>
                <a:cs typeface="Tahoma"/>
              </a:rPr>
              <a:t> </a:t>
            </a:r>
            <a:r>
              <a:rPr sz="1500" spc="70" dirty="0">
                <a:solidFill>
                  <a:schemeClr val="bg1">
                    <a:lumMod val="75000"/>
                  </a:schemeClr>
                </a:solidFill>
                <a:latin typeface="Tahoma"/>
                <a:cs typeface="Tahoma"/>
              </a:rPr>
              <a:t>members</a:t>
            </a:r>
            <a:r>
              <a:rPr sz="1500" spc="40" dirty="0">
                <a:solidFill>
                  <a:schemeClr val="bg1">
                    <a:lumMod val="75000"/>
                  </a:schemeClr>
                </a:solidFill>
                <a:latin typeface="Tahoma"/>
                <a:cs typeface="Tahoma"/>
              </a:rPr>
              <a:t> </a:t>
            </a:r>
            <a:r>
              <a:rPr sz="1500" spc="135" dirty="0">
                <a:solidFill>
                  <a:schemeClr val="bg1">
                    <a:lumMod val="75000"/>
                  </a:schemeClr>
                </a:solidFill>
                <a:latin typeface="Tahoma"/>
                <a:cs typeface="Tahoma"/>
              </a:rPr>
              <a:t>—</a:t>
            </a:r>
            <a:r>
              <a:rPr sz="1500" spc="40" dirty="0">
                <a:solidFill>
                  <a:schemeClr val="bg1">
                    <a:lumMod val="75000"/>
                  </a:schemeClr>
                </a:solidFill>
                <a:latin typeface="Tahoma"/>
                <a:cs typeface="Tahoma"/>
              </a:rPr>
              <a:t> </a:t>
            </a:r>
            <a:r>
              <a:rPr sz="1500" dirty="0">
                <a:solidFill>
                  <a:schemeClr val="bg1">
                    <a:lumMod val="75000"/>
                  </a:schemeClr>
                </a:solidFill>
                <a:latin typeface="Tahoma"/>
                <a:cs typeface="Tahoma"/>
              </a:rPr>
              <a:t>a</a:t>
            </a:r>
            <a:r>
              <a:rPr sz="1500" spc="40" dirty="0">
                <a:solidFill>
                  <a:schemeClr val="bg1">
                    <a:lumMod val="75000"/>
                  </a:schemeClr>
                </a:solidFill>
                <a:latin typeface="Tahoma"/>
                <a:cs typeface="Tahoma"/>
              </a:rPr>
              <a:t> </a:t>
            </a:r>
            <a:r>
              <a:rPr sz="1500" dirty="0">
                <a:solidFill>
                  <a:schemeClr val="bg1">
                    <a:lumMod val="75000"/>
                  </a:schemeClr>
                </a:solidFill>
                <a:latin typeface="Tahoma"/>
                <a:cs typeface="Tahoma"/>
              </a:rPr>
              <a:t>pattern</a:t>
            </a:r>
            <a:r>
              <a:rPr sz="1500" spc="40" dirty="0">
                <a:solidFill>
                  <a:schemeClr val="bg1">
                    <a:lumMod val="75000"/>
                  </a:schemeClr>
                </a:solidFill>
                <a:latin typeface="Tahoma"/>
                <a:cs typeface="Tahoma"/>
              </a:rPr>
              <a:t> </a:t>
            </a:r>
            <a:r>
              <a:rPr sz="1500" spc="60" dirty="0">
                <a:solidFill>
                  <a:schemeClr val="bg1">
                    <a:lumMod val="75000"/>
                  </a:schemeClr>
                </a:solidFill>
                <a:latin typeface="Tahoma"/>
                <a:cs typeface="Tahoma"/>
              </a:rPr>
              <a:t>consistent</a:t>
            </a:r>
            <a:r>
              <a:rPr sz="1500" spc="40" dirty="0">
                <a:solidFill>
                  <a:schemeClr val="bg1">
                    <a:lumMod val="75000"/>
                  </a:schemeClr>
                </a:solidFill>
                <a:latin typeface="Tahoma"/>
                <a:cs typeface="Tahoma"/>
              </a:rPr>
              <a:t> </a:t>
            </a:r>
            <a:r>
              <a:rPr sz="1500" spc="-20" dirty="0">
                <a:solidFill>
                  <a:schemeClr val="bg1">
                    <a:lumMod val="75000"/>
                  </a:schemeClr>
                </a:solidFill>
                <a:latin typeface="Tahoma"/>
                <a:cs typeface="Tahoma"/>
              </a:rPr>
              <a:t>with </a:t>
            </a:r>
            <a:r>
              <a:rPr sz="1500" spc="50" dirty="0">
                <a:solidFill>
                  <a:schemeClr val="bg1">
                    <a:lumMod val="75000"/>
                  </a:schemeClr>
                </a:solidFill>
                <a:latin typeface="Tahoma"/>
                <a:cs typeface="Tahoma"/>
              </a:rPr>
              <a:t>leisure</a:t>
            </a:r>
            <a:r>
              <a:rPr sz="1500" spc="-30" dirty="0">
                <a:solidFill>
                  <a:schemeClr val="bg1">
                    <a:lumMod val="75000"/>
                  </a:schemeClr>
                </a:solidFill>
                <a:latin typeface="Tahoma"/>
                <a:cs typeface="Tahoma"/>
              </a:rPr>
              <a:t> </a:t>
            </a:r>
            <a:r>
              <a:rPr sz="1500" spc="55" dirty="0">
                <a:solidFill>
                  <a:schemeClr val="bg1">
                    <a:lumMod val="75000"/>
                  </a:schemeClr>
                </a:solidFill>
                <a:latin typeface="Tahoma"/>
                <a:cs typeface="Tahoma"/>
              </a:rPr>
              <a:t>use.</a:t>
            </a:r>
            <a:r>
              <a:rPr sz="1500" spc="-30" dirty="0">
                <a:solidFill>
                  <a:schemeClr val="bg1">
                    <a:lumMod val="75000"/>
                  </a:schemeClr>
                </a:solidFill>
                <a:latin typeface="Tahoma"/>
                <a:cs typeface="Tahoma"/>
              </a:rPr>
              <a:t> </a:t>
            </a:r>
            <a:r>
              <a:rPr sz="1500" spc="50" dirty="0">
                <a:solidFill>
                  <a:schemeClr val="bg1">
                    <a:lumMod val="75000"/>
                  </a:schemeClr>
                </a:solidFill>
                <a:latin typeface="Tahoma"/>
                <a:cs typeface="Tahoma"/>
              </a:rPr>
              <a:t>Highlighting</a:t>
            </a:r>
            <a:r>
              <a:rPr sz="1500" spc="-25" dirty="0">
                <a:solidFill>
                  <a:schemeClr val="bg1">
                    <a:lumMod val="75000"/>
                  </a:schemeClr>
                </a:solidFill>
                <a:latin typeface="Tahoma"/>
                <a:cs typeface="Tahoma"/>
              </a:rPr>
              <a:t> </a:t>
            </a:r>
            <a:r>
              <a:rPr lang="en-US" sz="1500" spc="75" dirty="0">
                <a:solidFill>
                  <a:schemeClr val="bg1">
                    <a:lumMod val="75000"/>
                  </a:schemeClr>
                </a:solidFill>
                <a:latin typeface="Tahoma"/>
                <a:cs typeface="Tahoma"/>
              </a:rPr>
              <a:t>ride duration dependency</a:t>
            </a:r>
            <a:r>
              <a:rPr sz="1500" spc="-10" dirty="0">
                <a:solidFill>
                  <a:schemeClr val="bg1">
                    <a:lumMod val="75000"/>
                  </a:schemeClr>
                </a:solidFill>
                <a:latin typeface="Tahoma"/>
                <a:cs typeface="Tahoma"/>
              </a:rPr>
              <a:t>.</a:t>
            </a:r>
            <a:endParaRPr sz="1500" dirty="0">
              <a:solidFill>
                <a:schemeClr val="bg1">
                  <a:lumMod val="75000"/>
                </a:schemeClr>
              </a:solidFill>
              <a:latin typeface="Tahoma"/>
              <a:cs typeface="Tahoma"/>
            </a:endParaRPr>
          </a:p>
        </p:txBody>
      </p:sp>
      <p:pic>
        <p:nvPicPr>
          <p:cNvPr id="46" name="Picture 45">
            <a:extLst>
              <a:ext uri="{FF2B5EF4-FFF2-40B4-BE49-F238E27FC236}">
                <a16:creationId xmlns:a16="http://schemas.microsoft.com/office/drawing/2014/main" id="{AB81880C-0BAD-5FCA-797F-570E22C1733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559292" y="1418030"/>
            <a:ext cx="8493568" cy="5518999"/>
          </a:xfrm>
          <a:prstGeom prst="rect">
            <a:avLst/>
          </a:prstGeom>
        </p:spPr>
      </p:pic>
      <p:pic>
        <p:nvPicPr>
          <p:cNvPr id="48" name="Picture 47">
            <a:extLst>
              <a:ext uri="{FF2B5EF4-FFF2-40B4-BE49-F238E27FC236}">
                <a16:creationId xmlns:a16="http://schemas.microsoft.com/office/drawing/2014/main" id="{8D9A7874-EDB0-7082-D088-B601E98EAFD4}"/>
              </a:ext>
            </a:extLst>
          </p:cNvPr>
          <p:cNvPicPr>
            <a:picLocks noChangeAspect="1"/>
          </p:cNvPicPr>
          <p:nvPr/>
        </p:nvPicPr>
        <p:blipFill>
          <a:blip r:embed="rId6"/>
          <a:stretch>
            <a:fillRect/>
          </a:stretch>
        </p:blipFill>
        <p:spPr>
          <a:xfrm>
            <a:off x="9176016" y="1426819"/>
            <a:ext cx="1720583" cy="198529"/>
          </a:xfrm>
          <a:prstGeom prst="rect">
            <a:avLst/>
          </a:prstGeom>
        </p:spPr>
      </p:pic>
    </p:spTree>
    <p:extLst>
      <p:ext uri="{BB962C8B-B14F-4D97-AF65-F5344CB8AC3E}">
        <p14:creationId xmlns:p14="http://schemas.microsoft.com/office/powerpoint/2010/main" val="1735973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0083-9517-0E25-99FA-36AE89A00D4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CCD4033-AAE7-989A-D929-77E6C77AE8C7}"/>
              </a:ext>
            </a:extLst>
          </p:cNvPr>
          <p:cNvSpPr/>
          <p:nvPr/>
        </p:nvSpPr>
        <p:spPr>
          <a:xfrm>
            <a:off x="0" y="0"/>
            <a:ext cx="5181600" cy="8096250"/>
          </a:xfrm>
          <a:custGeom>
            <a:avLst/>
            <a:gdLst/>
            <a:ahLst/>
            <a:cxnLst/>
            <a:rect l="l" t="t" r="r" b="b"/>
            <a:pathLst>
              <a:path w="5181600" h="8096250">
                <a:moveTo>
                  <a:pt x="5181599" y="8096249"/>
                </a:moveTo>
                <a:lnTo>
                  <a:pt x="0" y="8096249"/>
                </a:lnTo>
                <a:lnTo>
                  <a:pt x="0" y="0"/>
                </a:lnTo>
                <a:lnTo>
                  <a:pt x="5181599" y="0"/>
                </a:lnTo>
                <a:lnTo>
                  <a:pt x="5181599" y="8096249"/>
                </a:lnTo>
                <a:close/>
              </a:path>
            </a:pathLst>
          </a:custGeom>
          <a:solidFill>
            <a:srgbClr val="0F1117"/>
          </a:solidFill>
        </p:spPr>
        <p:txBody>
          <a:bodyPr wrap="square" lIns="0" tIns="0" rIns="0" bIns="0" rtlCol="0"/>
          <a:lstStyle/>
          <a:p>
            <a:endParaRPr/>
          </a:p>
        </p:txBody>
      </p:sp>
      <p:sp>
        <p:nvSpPr>
          <p:cNvPr id="5" name="object 5">
            <a:extLst>
              <a:ext uri="{FF2B5EF4-FFF2-40B4-BE49-F238E27FC236}">
                <a16:creationId xmlns:a16="http://schemas.microsoft.com/office/drawing/2014/main" id="{0115750E-78F3-A8A0-C15C-A56A23EF8E35}"/>
              </a:ext>
            </a:extLst>
          </p:cNvPr>
          <p:cNvSpPr txBox="1">
            <a:spLocks noGrp="1"/>
          </p:cNvSpPr>
          <p:nvPr>
            <p:ph type="title"/>
          </p:nvPr>
        </p:nvSpPr>
        <p:spPr>
          <a:xfrm>
            <a:off x="6445249" y="434975"/>
            <a:ext cx="6820534" cy="466473"/>
          </a:xfrm>
          <a:prstGeom prst="rect">
            <a:avLst/>
          </a:prstGeom>
        </p:spPr>
        <p:txBody>
          <a:bodyPr vert="horz" wrap="square" lIns="0" tIns="123189" rIns="0" bIns="0" rtlCol="0">
            <a:spAutoFit/>
          </a:bodyPr>
          <a:lstStyle/>
          <a:p>
            <a:pPr marL="12700" marR="5080">
              <a:lnSpc>
                <a:spcPts val="2850"/>
              </a:lnSpc>
              <a:spcBef>
                <a:spcPts val="219"/>
              </a:spcBef>
            </a:pPr>
            <a:r>
              <a:rPr lang="en-US" spc="114" dirty="0"/>
              <a:t>Ride duration dependency on bike type</a:t>
            </a:r>
            <a:endParaRPr spc="55" dirty="0"/>
          </a:p>
        </p:txBody>
      </p:sp>
      <p:sp>
        <p:nvSpPr>
          <p:cNvPr id="6" name="object 6">
            <a:extLst>
              <a:ext uri="{FF2B5EF4-FFF2-40B4-BE49-F238E27FC236}">
                <a16:creationId xmlns:a16="http://schemas.microsoft.com/office/drawing/2014/main" id="{B35C24E6-D048-86CF-716D-E22AAF2C93EA}"/>
              </a:ext>
            </a:extLst>
          </p:cNvPr>
          <p:cNvSpPr/>
          <p:nvPr/>
        </p:nvSpPr>
        <p:spPr>
          <a:xfrm>
            <a:off x="6015036" y="1652587"/>
            <a:ext cx="742950" cy="238125"/>
          </a:xfrm>
          <a:custGeom>
            <a:avLst/>
            <a:gdLst/>
            <a:ahLst/>
            <a:cxnLst/>
            <a:rect l="l" t="t" r="r" b="b"/>
            <a:pathLst>
              <a:path w="742950" h="238125">
                <a:moveTo>
                  <a:pt x="0" y="119062"/>
                </a:moveTo>
                <a:lnTo>
                  <a:pt x="6071" y="80721"/>
                </a:lnTo>
                <a:lnTo>
                  <a:pt x="9062" y="73498"/>
                </a:lnTo>
                <a:lnTo>
                  <a:pt x="12054" y="66276"/>
                </a:lnTo>
                <a:lnTo>
                  <a:pt x="15722" y="59414"/>
                </a:lnTo>
                <a:lnTo>
                  <a:pt x="20065" y="52914"/>
                </a:lnTo>
                <a:lnTo>
                  <a:pt x="24408" y="46414"/>
                </a:lnTo>
                <a:lnTo>
                  <a:pt x="29344" y="40400"/>
                </a:lnTo>
                <a:lnTo>
                  <a:pt x="34872" y="34872"/>
                </a:lnTo>
                <a:lnTo>
                  <a:pt x="40400" y="29344"/>
                </a:lnTo>
                <a:lnTo>
                  <a:pt x="46414" y="24408"/>
                </a:lnTo>
                <a:lnTo>
                  <a:pt x="52914" y="20065"/>
                </a:lnTo>
                <a:lnTo>
                  <a:pt x="59414" y="15722"/>
                </a:lnTo>
                <a:lnTo>
                  <a:pt x="66276" y="12054"/>
                </a:lnTo>
                <a:lnTo>
                  <a:pt x="73498" y="9062"/>
                </a:lnTo>
                <a:lnTo>
                  <a:pt x="80721" y="6071"/>
                </a:lnTo>
                <a:lnTo>
                  <a:pt x="88166" y="3812"/>
                </a:lnTo>
                <a:lnTo>
                  <a:pt x="95834" y="2287"/>
                </a:lnTo>
                <a:lnTo>
                  <a:pt x="103501" y="762"/>
                </a:lnTo>
                <a:lnTo>
                  <a:pt x="111244" y="0"/>
                </a:lnTo>
                <a:lnTo>
                  <a:pt x="119063" y="0"/>
                </a:lnTo>
                <a:lnTo>
                  <a:pt x="623887" y="0"/>
                </a:lnTo>
                <a:lnTo>
                  <a:pt x="631705" y="0"/>
                </a:lnTo>
                <a:lnTo>
                  <a:pt x="639447" y="762"/>
                </a:lnTo>
                <a:lnTo>
                  <a:pt x="676673" y="12054"/>
                </a:lnTo>
                <a:lnTo>
                  <a:pt x="690035" y="20065"/>
                </a:lnTo>
                <a:lnTo>
                  <a:pt x="696535" y="24408"/>
                </a:lnTo>
                <a:lnTo>
                  <a:pt x="702549" y="29344"/>
                </a:lnTo>
                <a:lnTo>
                  <a:pt x="708077" y="34872"/>
                </a:lnTo>
                <a:lnTo>
                  <a:pt x="713605" y="40400"/>
                </a:lnTo>
                <a:lnTo>
                  <a:pt x="718540" y="46414"/>
                </a:lnTo>
                <a:lnTo>
                  <a:pt x="722883" y="52914"/>
                </a:lnTo>
                <a:lnTo>
                  <a:pt x="727226" y="59414"/>
                </a:lnTo>
                <a:lnTo>
                  <a:pt x="740661" y="95834"/>
                </a:lnTo>
                <a:lnTo>
                  <a:pt x="742187" y="103501"/>
                </a:lnTo>
                <a:lnTo>
                  <a:pt x="742949" y="111244"/>
                </a:lnTo>
                <a:lnTo>
                  <a:pt x="742950" y="119062"/>
                </a:lnTo>
                <a:lnTo>
                  <a:pt x="742949" y="126880"/>
                </a:lnTo>
                <a:lnTo>
                  <a:pt x="742187" y="134622"/>
                </a:lnTo>
                <a:lnTo>
                  <a:pt x="740661" y="142290"/>
                </a:lnTo>
                <a:lnTo>
                  <a:pt x="739136" y="149957"/>
                </a:lnTo>
                <a:lnTo>
                  <a:pt x="722884" y="185209"/>
                </a:lnTo>
                <a:lnTo>
                  <a:pt x="718540" y="191710"/>
                </a:lnTo>
                <a:lnTo>
                  <a:pt x="690035" y="218059"/>
                </a:lnTo>
                <a:lnTo>
                  <a:pt x="654782" y="234311"/>
                </a:lnTo>
                <a:lnTo>
                  <a:pt x="623887" y="238124"/>
                </a:lnTo>
                <a:lnTo>
                  <a:pt x="119063" y="238124"/>
                </a:lnTo>
                <a:lnTo>
                  <a:pt x="80721" y="232053"/>
                </a:lnTo>
                <a:lnTo>
                  <a:pt x="73498" y="229061"/>
                </a:lnTo>
                <a:lnTo>
                  <a:pt x="66276" y="226069"/>
                </a:lnTo>
                <a:lnTo>
                  <a:pt x="59414" y="222402"/>
                </a:lnTo>
                <a:lnTo>
                  <a:pt x="52914" y="218058"/>
                </a:lnTo>
                <a:lnTo>
                  <a:pt x="46414" y="213715"/>
                </a:lnTo>
                <a:lnTo>
                  <a:pt x="40400" y="208780"/>
                </a:lnTo>
                <a:lnTo>
                  <a:pt x="34872" y="203252"/>
                </a:lnTo>
                <a:lnTo>
                  <a:pt x="29344" y="197724"/>
                </a:lnTo>
                <a:lnTo>
                  <a:pt x="24408" y="191710"/>
                </a:lnTo>
                <a:lnTo>
                  <a:pt x="20065" y="185209"/>
                </a:lnTo>
                <a:lnTo>
                  <a:pt x="15722" y="178709"/>
                </a:lnTo>
                <a:lnTo>
                  <a:pt x="12054" y="171848"/>
                </a:lnTo>
                <a:lnTo>
                  <a:pt x="9062" y="164625"/>
                </a:lnTo>
                <a:lnTo>
                  <a:pt x="6071" y="157402"/>
                </a:lnTo>
                <a:lnTo>
                  <a:pt x="3812" y="149957"/>
                </a:lnTo>
                <a:lnTo>
                  <a:pt x="2287"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7" name="object 7">
            <a:extLst>
              <a:ext uri="{FF2B5EF4-FFF2-40B4-BE49-F238E27FC236}">
                <a16:creationId xmlns:a16="http://schemas.microsoft.com/office/drawing/2014/main" id="{EA94175B-DB47-2045-FDF4-A3336692EAD1}"/>
              </a:ext>
            </a:extLst>
          </p:cNvPr>
          <p:cNvSpPr txBox="1"/>
          <p:nvPr/>
        </p:nvSpPr>
        <p:spPr>
          <a:xfrm>
            <a:off x="6273799" y="1659370"/>
            <a:ext cx="39751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Segoe UI Symbol"/>
                <a:cs typeface="Segoe UI Symbol"/>
              </a:rPr>
              <a:t>C</a:t>
            </a:r>
            <a:r>
              <a:rPr sz="950" spc="-10" dirty="0">
                <a:solidFill>
                  <a:srgbClr val="FFFFFF"/>
                </a:solidFill>
                <a:latin typeface="Trebuchet MS"/>
                <a:cs typeface="Trebuchet MS"/>
              </a:rPr>
              <a:t>a</a:t>
            </a:r>
            <a:r>
              <a:rPr sz="1050" spc="-10" dirty="0">
                <a:solidFill>
                  <a:srgbClr val="FFFFFF"/>
                </a:solidFill>
                <a:latin typeface="Trebuchet MS"/>
                <a:cs typeface="Trebuchet MS"/>
              </a:rPr>
              <a:t>su</a:t>
            </a:r>
            <a:r>
              <a:rPr sz="950" spc="-10" dirty="0">
                <a:solidFill>
                  <a:srgbClr val="FFFFFF"/>
                </a:solidFill>
                <a:latin typeface="Trebuchet MS"/>
                <a:cs typeface="Trebuchet MS"/>
              </a:rPr>
              <a:t>al</a:t>
            </a:r>
            <a:endParaRPr sz="950">
              <a:latin typeface="Trebuchet MS"/>
              <a:cs typeface="Trebuchet MS"/>
            </a:endParaRPr>
          </a:p>
        </p:txBody>
      </p:sp>
      <p:sp>
        <p:nvSpPr>
          <p:cNvPr id="8" name="object 8">
            <a:extLst>
              <a:ext uri="{FF2B5EF4-FFF2-40B4-BE49-F238E27FC236}">
                <a16:creationId xmlns:a16="http://schemas.microsoft.com/office/drawing/2014/main" id="{FA0A4B87-1664-79CB-38D8-498E070FDCFC}"/>
              </a:ext>
            </a:extLst>
          </p:cNvPr>
          <p:cNvSpPr/>
          <p:nvPr/>
        </p:nvSpPr>
        <p:spPr>
          <a:xfrm>
            <a:off x="6862760" y="1652587"/>
            <a:ext cx="828675" cy="238125"/>
          </a:xfrm>
          <a:custGeom>
            <a:avLst/>
            <a:gdLst/>
            <a:ahLst/>
            <a:cxnLst/>
            <a:rect l="l" t="t" r="r" b="b"/>
            <a:pathLst>
              <a:path w="828675" h="238125">
                <a:moveTo>
                  <a:pt x="0" y="119062"/>
                </a:moveTo>
                <a:lnTo>
                  <a:pt x="6071" y="80721"/>
                </a:lnTo>
                <a:lnTo>
                  <a:pt x="9063" y="73498"/>
                </a:lnTo>
                <a:lnTo>
                  <a:pt x="12054" y="66276"/>
                </a:lnTo>
                <a:lnTo>
                  <a:pt x="15722" y="59414"/>
                </a:lnTo>
                <a:lnTo>
                  <a:pt x="20065" y="52914"/>
                </a:lnTo>
                <a:lnTo>
                  <a:pt x="24408" y="46414"/>
                </a:lnTo>
                <a:lnTo>
                  <a:pt x="29344" y="40400"/>
                </a:lnTo>
                <a:lnTo>
                  <a:pt x="34872" y="34872"/>
                </a:lnTo>
                <a:lnTo>
                  <a:pt x="40401" y="29344"/>
                </a:lnTo>
                <a:lnTo>
                  <a:pt x="46414" y="24408"/>
                </a:lnTo>
                <a:lnTo>
                  <a:pt x="52914" y="20065"/>
                </a:lnTo>
                <a:lnTo>
                  <a:pt x="59414" y="15722"/>
                </a:lnTo>
                <a:lnTo>
                  <a:pt x="95834" y="2287"/>
                </a:lnTo>
                <a:lnTo>
                  <a:pt x="111244" y="0"/>
                </a:lnTo>
                <a:lnTo>
                  <a:pt x="119063" y="0"/>
                </a:lnTo>
                <a:lnTo>
                  <a:pt x="709612" y="0"/>
                </a:lnTo>
                <a:lnTo>
                  <a:pt x="717430" y="0"/>
                </a:lnTo>
                <a:lnTo>
                  <a:pt x="725173" y="762"/>
                </a:lnTo>
                <a:lnTo>
                  <a:pt x="762398" y="12054"/>
                </a:lnTo>
                <a:lnTo>
                  <a:pt x="775760" y="20065"/>
                </a:lnTo>
                <a:lnTo>
                  <a:pt x="782260" y="24408"/>
                </a:lnTo>
                <a:lnTo>
                  <a:pt x="788274" y="29344"/>
                </a:lnTo>
                <a:lnTo>
                  <a:pt x="793802" y="34872"/>
                </a:lnTo>
                <a:lnTo>
                  <a:pt x="799330" y="40400"/>
                </a:lnTo>
                <a:lnTo>
                  <a:pt x="804265" y="46414"/>
                </a:lnTo>
                <a:lnTo>
                  <a:pt x="808608" y="52914"/>
                </a:lnTo>
                <a:lnTo>
                  <a:pt x="812951" y="59414"/>
                </a:lnTo>
                <a:lnTo>
                  <a:pt x="826387" y="95834"/>
                </a:lnTo>
                <a:lnTo>
                  <a:pt x="828675" y="111244"/>
                </a:lnTo>
                <a:lnTo>
                  <a:pt x="828675" y="119062"/>
                </a:lnTo>
                <a:lnTo>
                  <a:pt x="828675" y="126880"/>
                </a:lnTo>
                <a:lnTo>
                  <a:pt x="819611" y="164625"/>
                </a:lnTo>
                <a:lnTo>
                  <a:pt x="799330" y="197724"/>
                </a:lnTo>
                <a:lnTo>
                  <a:pt x="775759" y="218059"/>
                </a:lnTo>
                <a:lnTo>
                  <a:pt x="769259" y="222402"/>
                </a:lnTo>
                <a:lnTo>
                  <a:pt x="732840" y="235837"/>
                </a:lnTo>
                <a:lnTo>
                  <a:pt x="709612" y="238124"/>
                </a:lnTo>
                <a:lnTo>
                  <a:pt x="119063" y="238124"/>
                </a:lnTo>
                <a:lnTo>
                  <a:pt x="80721" y="232053"/>
                </a:lnTo>
                <a:lnTo>
                  <a:pt x="52914" y="218058"/>
                </a:lnTo>
                <a:lnTo>
                  <a:pt x="46414" y="213715"/>
                </a:lnTo>
                <a:lnTo>
                  <a:pt x="20065" y="185209"/>
                </a:lnTo>
                <a:lnTo>
                  <a:pt x="15722" y="178709"/>
                </a:lnTo>
                <a:lnTo>
                  <a:pt x="12054" y="171848"/>
                </a:lnTo>
                <a:lnTo>
                  <a:pt x="9063" y="164625"/>
                </a:lnTo>
                <a:lnTo>
                  <a:pt x="6071" y="157402"/>
                </a:lnTo>
                <a:lnTo>
                  <a:pt x="3813" y="149957"/>
                </a:lnTo>
                <a:lnTo>
                  <a:pt x="2288" y="142290"/>
                </a:lnTo>
                <a:lnTo>
                  <a:pt x="762" y="134622"/>
                </a:lnTo>
                <a:lnTo>
                  <a:pt x="0" y="126880"/>
                </a:lnTo>
                <a:lnTo>
                  <a:pt x="0" y="119062"/>
                </a:lnTo>
              </a:path>
            </a:pathLst>
          </a:custGeom>
          <a:ln w="9524">
            <a:solidFill>
              <a:srgbClr val="FAFAFA"/>
            </a:solidFill>
          </a:ln>
        </p:spPr>
        <p:txBody>
          <a:bodyPr wrap="square" lIns="0" tIns="0" rIns="0" bIns="0" rtlCol="0"/>
          <a:lstStyle/>
          <a:p>
            <a:endParaRPr/>
          </a:p>
        </p:txBody>
      </p:sp>
      <p:sp>
        <p:nvSpPr>
          <p:cNvPr id="9" name="object 9">
            <a:extLst>
              <a:ext uri="{FF2B5EF4-FFF2-40B4-BE49-F238E27FC236}">
                <a16:creationId xmlns:a16="http://schemas.microsoft.com/office/drawing/2014/main" id="{9FECC6DC-520E-9702-9033-0740CF866127}"/>
              </a:ext>
            </a:extLst>
          </p:cNvPr>
          <p:cNvSpPr txBox="1"/>
          <p:nvPr/>
        </p:nvSpPr>
        <p:spPr>
          <a:xfrm>
            <a:off x="7121971" y="1659370"/>
            <a:ext cx="478790" cy="191135"/>
          </a:xfrm>
          <a:prstGeom prst="rect">
            <a:avLst/>
          </a:prstGeom>
        </p:spPr>
        <p:txBody>
          <a:bodyPr vert="horz" wrap="square" lIns="0" tIns="17145" rIns="0" bIns="0" rtlCol="0">
            <a:spAutoFit/>
          </a:bodyPr>
          <a:lstStyle/>
          <a:p>
            <a:pPr marL="12700">
              <a:lnSpc>
                <a:spcPct val="100000"/>
              </a:lnSpc>
              <a:spcBef>
                <a:spcPts val="135"/>
              </a:spcBef>
            </a:pPr>
            <a:r>
              <a:rPr sz="950" spc="-10" dirty="0">
                <a:solidFill>
                  <a:srgbClr val="FFFFFF"/>
                </a:solidFill>
                <a:latin typeface="Trebuchet MS"/>
                <a:cs typeface="Trebuchet MS"/>
              </a:rPr>
              <a:t>Membe</a:t>
            </a:r>
            <a:r>
              <a:rPr sz="1050" spc="-10" dirty="0">
                <a:solidFill>
                  <a:srgbClr val="FFFFFF"/>
                </a:solidFill>
                <a:latin typeface="Trebuchet MS"/>
                <a:cs typeface="Trebuchet MS"/>
              </a:rPr>
              <a:t>r</a:t>
            </a:r>
            <a:endParaRPr sz="1050">
              <a:latin typeface="Trebuchet MS"/>
              <a:cs typeface="Trebuchet MS"/>
            </a:endParaRPr>
          </a:p>
        </p:txBody>
      </p:sp>
      <p:grpSp>
        <p:nvGrpSpPr>
          <p:cNvPr id="10" name="object 10">
            <a:extLst>
              <a:ext uri="{FF2B5EF4-FFF2-40B4-BE49-F238E27FC236}">
                <a16:creationId xmlns:a16="http://schemas.microsoft.com/office/drawing/2014/main" id="{2E346D08-5B68-8B24-AD82-2A64E1C036E0}"/>
              </a:ext>
            </a:extLst>
          </p:cNvPr>
          <p:cNvGrpSpPr/>
          <p:nvPr/>
        </p:nvGrpSpPr>
        <p:grpSpPr>
          <a:xfrm>
            <a:off x="6115049" y="1762124"/>
            <a:ext cx="114300" cy="19050"/>
            <a:chOff x="6115049" y="1762124"/>
            <a:chExt cx="114300" cy="19050"/>
          </a:xfrm>
        </p:grpSpPr>
        <p:sp>
          <p:nvSpPr>
            <p:cNvPr id="11" name="object 11">
              <a:extLst>
                <a:ext uri="{FF2B5EF4-FFF2-40B4-BE49-F238E27FC236}">
                  <a16:creationId xmlns:a16="http://schemas.microsoft.com/office/drawing/2014/main" id="{120A50D7-C62B-4874-A1B9-E281AF858BC6}"/>
                </a:ext>
              </a:extLst>
            </p:cNvPr>
            <p:cNvSpPr/>
            <p:nvPr/>
          </p:nvSpPr>
          <p:spPr>
            <a:xfrm>
              <a:off x="6115049" y="1762124"/>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5C5EEF"/>
            </a:solidFill>
          </p:spPr>
          <p:txBody>
            <a:bodyPr wrap="square" lIns="0" tIns="0" rIns="0" bIns="0" rtlCol="0"/>
            <a:lstStyle/>
            <a:p>
              <a:endParaRPr/>
            </a:p>
          </p:txBody>
        </p:sp>
        <p:sp>
          <p:nvSpPr>
            <p:cNvPr id="12" name="object 12">
              <a:extLst>
                <a:ext uri="{FF2B5EF4-FFF2-40B4-BE49-F238E27FC236}">
                  <a16:creationId xmlns:a16="http://schemas.microsoft.com/office/drawing/2014/main" id="{79E20A65-3F90-FBDE-FF6B-2532B71F32D6}"/>
                </a:ext>
              </a:extLst>
            </p:cNvPr>
            <p:cNvSpPr/>
            <p:nvPr/>
          </p:nvSpPr>
          <p:spPr>
            <a:xfrm>
              <a:off x="6115049" y="1762125"/>
              <a:ext cx="114300" cy="19050"/>
            </a:xfrm>
            <a:custGeom>
              <a:avLst/>
              <a:gdLst/>
              <a:ahLst/>
              <a:cxnLst/>
              <a:rect l="l" t="t" r="r" b="b"/>
              <a:pathLst>
                <a:path w="114300" h="19050">
                  <a:moveTo>
                    <a:pt x="111125" y="19049"/>
                  </a:moveTo>
                  <a:lnTo>
                    <a:pt x="3174" y="19049"/>
                  </a:lnTo>
                  <a:lnTo>
                    <a:pt x="0" y="15874"/>
                  </a:lnTo>
                  <a:lnTo>
                    <a:pt x="0" y="3175"/>
                  </a:lnTo>
                  <a:lnTo>
                    <a:pt x="3174" y="0"/>
                  </a:lnTo>
                  <a:lnTo>
                    <a:pt x="111125" y="0"/>
                  </a:lnTo>
                  <a:lnTo>
                    <a:pt x="114299" y="3175"/>
                  </a:lnTo>
                  <a:lnTo>
                    <a:pt x="114299" y="15874"/>
                  </a:lnTo>
                  <a:lnTo>
                    <a:pt x="111125" y="19049"/>
                  </a:lnTo>
                  <a:close/>
                </a:path>
              </a:pathLst>
            </a:custGeom>
            <a:solidFill>
              <a:srgbClr val="FAFAFA">
                <a:alpha val="12159"/>
              </a:srgbClr>
            </a:solidFill>
          </p:spPr>
          <p:txBody>
            <a:bodyPr wrap="square" lIns="0" tIns="0" rIns="0" bIns="0" rtlCol="0"/>
            <a:lstStyle/>
            <a:p>
              <a:endParaRPr/>
            </a:p>
          </p:txBody>
        </p:sp>
      </p:grpSp>
      <p:grpSp>
        <p:nvGrpSpPr>
          <p:cNvPr id="13" name="object 13">
            <a:extLst>
              <a:ext uri="{FF2B5EF4-FFF2-40B4-BE49-F238E27FC236}">
                <a16:creationId xmlns:a16="http://schemas.microsoft.com/office/drawing/2014/main" id="{E73024CA-03E2-577C-97F8-4A742A7183EB}"/>
              </a:ext>
            </a:extLst>
          </p:cNvPr>
          <p:cNvGrpSpPr/>
          <p:nvPr/>
        </p:nvGrpSpPr>
        <p:grpSpPr>
          <a:xfrm>
            <a:off x="6962774" y="1762124"/>
            <a:ext cx="114300" cy="19050"/>
            <a:chOff x="6962774" y="1762124"/>
            <a:chExt cx="114300" cy="19050"/>
          </a:xfrm>
        </p:grpSpPr>
        <p:sp>
          <p:nvSpPr>
            <p:cNvPr id="14" name="object 14">
              <a:extLst>
                <a:ext uri="{FF2B5EF4-FFF2-40B4-BE49-F238E27FC236}">
                  <a16:creationId xmlns:a16="http://schemas.microsoft.com/office/drawing/2014/main" id="{8AC46F2B-EC4E-9062-5ACB-3A4F211BDFE7}"/>
                </a:ext>
              </a:extLst>
            </p:cNvPr>
            <p:cNvSpPr/>
            <p:nvPr/>
          </p:nvSpPr>
          <p:spPr>
            <a:xfrm>
              <a:off x="6962774" y="1762124"/>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090956"/>
            </a:solidFill>
          </p:spPr>
          <p:txBody>
            <a:bodyPr wrap="square" lIns="0" tIns="0" rIns="0" bIns="0" rtlCol="0"/>
            <a:lstStyle/>
            <a:p>
              <a:endParaRPr/>
            </a:p>
          </p:txBody>
        </p:sp>
        <p:sp>
          <p:nvSpPr>
            <p:cNvPr id="15" name="object 15">
              <a:extLst>
                <a:ext uri="{FF2B5EF4-FFF2-40B4-BE49-F238E27FC236}">
                  <a16:creationId xmlns:a16="http://schemas.microsoft.com/office/drawing/2014/main" id="{D444BE84-6EC5-9E77-4E39-E2D09B734734}"/>
                </a:ext>
              </a:extLst>
            </p:cNvPr>
            <p:cNvSpPr/>
            <p:nvPr/>
          </p:nvSpPr>
          <p:spPr>
            <a:xfrm>
              <a:off x="6962774" y="1762125"/>
              <a:ext cx="114300" cy="19050"/>
            </a:xfrm>
            <a:custGeom>
              <a:avLst/>
              <a:gdLst/>
              <a:ahLst/>
              <a:cxnLst/>
              <a:rect l="l" t="t" r="r" b="b"/>
              <a:pathLst>
                <a:path w="114300" h="19050">
                  <a:moveTo>
                    <a:pt x="111124" y="19049"/>
                  </a:moveTo>
                  <a:lnTo>
                    <a:pt x="3175" y="19049"/>
                  </a:lnTo>
                  <a:lnTo>
                    <a:pt x="0" y="15874"/>
                  </a:lnTo>
                  <a:lnTo>
                    <a:pt x="0" y="3175"/>
                  </a:lnTo>
                  <a:lnTo>
                    <a:pt x="3175" y="0"/>
                  </a:lnTo>
                  <a:lnTo>
                    <a:pt x="111124" y="0"/>
                  </a:lnTo>
                  <a:lnTo>
                    <a:pt x="114299" y="3175"/>
                  </a:lnTo>
                  <a:lnTo>
                    <a:pt x="114299" y="15874"/>
                  </a:lnTo>
                  <a:lnTo>
                    <a:pt x="111124" y="19049"/>
                  </a:lnTo>
                  <a:close/>
                </a:path>
              </a:pathLst>
            </a:custGeom>
            <a:solidFill>
              <a:srgbClr val="FAFAFA">
                <a:alpha val="12159"/>
              </a:srgbClr>
            </a:solidFill>
          </p:spPr>
          <p:txBody>
            <a:bodyPr wrap="square" lIns="0" tIns="0" rIns="0" bIns="0" rtlCol="0"/>
            <a:lstStyle/>
            <a:p>
              <a:endParaRPr/>
            </a:p>
          </p:txBody>
        </p:sp>
      </p:grpSp>
      <p:sp>
        <p:nvSpPr>
          <p:cNvPr id="23" name="object 23">
            <a:extLst>
              <a:ext uri="{FF2B5EF4-FFF2-40B4-BE49-F238E27FC236}">
                <a16:creationId xmlns:a16="http://schemas.microsoft.com/office/drawing/2014/main" id="{451B3731-831B-6085-C4C4-0388EA3D567E}"/>
              </a:ext>
            </a:extLst>
          </p:cNvPr>
          <p:cNvSpPr txBox="1"/>
          <p:nvPr/>
        </p:nvSpPr>
        <p:spPr>
          <a:xfrm>
            <a:off x="6356250" y="6845300"/>
            <a:ext cx="222885"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Jan</a:t>
            </a:r>
            <a:endParaRPr sz="900">
              <a:latin typeface="Tahoma"/>
              <a:cs typeface="Tahoma"/>
            </a:endParaRPr>
          </a:p>
        </p:txBody>
      </p:sp>
      <p:sp>
        <p:nvSpPr>
          <p:cNvPr id="24" name="object 24">
            <a:extLst>
              <a:ext uri="{FF2B5EF4-FFF2-40B4-BE49-F238E27FC236}">
                <a16:creationId xmlns:a16="http://schemas.microsoft.com/office/drawing/2014/main" id="{94945F8C-4D77-0151-E1DC-4C827423B3FC}"/>
              </a:ext>
            </a:extLst>
          </p:cNvPr>
          <p:cNvSpPr txBox="1"/>
          <p:nvPr/>
        </p:nvSpPr>
        <p:spPr>
          <a:xfrm>
            <a:off x="7000081" y="6845300"/>
            <a:ext cx="22542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Feb</a:t>
            </a:r>
            <a:endParaRPr sz="900">
              <a:latin typeface="Tahoma"/>
              <a:cs typeface="Tahoma"/>
            </a:endParaRPr>
          </a:p>
        </p:txBody>
      </p:sp>
      <p:sp>
        <p:nvSpPr>
          <p:cNvPr id="25" name="object 25">
            <a:extLst>
              <a:ext uri="{FF2B5EF4-FFF2-40B4-BE49-F238E27FC236}">
                <a16:creationId xmlns:a16="http://schemas.microsoft.com/office/drawing/2014/main" id="{354ABEAB-F3A2-0241-2894-397704136F54}"/>
              </a:ext>
            </a:extLst>
          </p:cNvPr>
          <p:cNvSpPr txBox="1"/>
          <p:nvPr/>
        </p:nvSpPr>
        <p:spPr>
          <a:xfrm>
            <a:off x="7639595" y="6845300"/>
            <a:ext cx="23622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Mar</a:t>
            </a:r>
            <a:endParaRPr sz="900">
              <a:latin typeface="Tahoma"/>
              <a:cs typeface="Tahoma"/>
            </a:endParaRPr>
          </a:p>
        </p:txBody>
      </p:sp>
      <p:sp>
        <p:nvSpPr>
          <p:cNvPr id="26" name="object 26">
            <a:extLst>
              <a:ext uri="{FF2B5EF4-FFF2-40B4-BE49-F238E27FC236}">
                <a16:creationId xmlns:a16="http://schemas.microsoft.com/office/drawing/2014/main" id="{57EB524B-A8E1-8749-C6B0-D30373D5ADBE}"/>
              </a:ext>
            </a:extLst>
          </p:cNvPr>
          <p:cNvSpPr txBox="1"/>
          <p:nvPr/>
        </p:nvSpPr>
        <p:spPr>
          <a:xfrm>
            <a:off x="8293992" y="6845300"/>
            <a:ext cx="217804"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Apr</a:t>
            </a:r>
            <a:endParaRPr sz="900">
              <a:latin typeface="Tahoma"/>
              <a:cs typeface="Tahoma"/>
            </a:endParaRPr>
          </a:p>
        </p:txBody>
      </p:sp>
      <p:sp>
        <p:nvSpPr>
          <p:cNvPr id="27" name="object 27">
            <a:extLst>
              <a:ext uri="{FF2B5EF4-FFF2-40B4-BE49-F238E27FC236}">
                <a16:creationId xmlns:a16="http://schemas.microsoft.com/office/drawing/2014/main" id="{F13AF53F-27DD-A1BB-A53B-DF3278511267}"/>
              </a:ext>
            </a:extLst>
          </p:cNvPr>
          <p:cNvSpPr txBox="1"/>
          <p:nvPr/>
        </p:nvSpPr>
        <p:spPr>
          <a:xfrm>
            <a:off x="8920112" y="6845300"/>
            <a:ext cx="255904"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May</a:t>
            </a:r>
            <a:endParaRPr sz="900">
              <a:latin typeface="Tahoma"/>
              <a:cs typeface="Tahoma"/>
            </a:endParaRPr>
          </a:p>
        </p:txBody>
      </p:sp>
      <p:sp>
        <p:nvSpPr>
          <p:cNvPr id="28" name="object 28">
            <a:extLst>
              <a:ext uri="{FF2B5EF4-FFF2-40B4-BE49-F238E27FC236}">
                <a16:creationId xmlns:a16="http://schemas.microsoft.com/office/drawing/2014/main" id="{3681464A-331D-8955-BAEE-891B149E0FD5}"/>
              </a:ext>
            </a:extLst>
          </p:cNvPr>
          <p:cNvSpPr txBox="1"/>
          <p:nvPr/>
        </p:nvSpPr>
        <p:spPr>
          <a:xfrm>
            <a:off x="9580016" y="6845300"/>
            <a:ext cx="226060"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Jun</a:t>
            </a:r>
            <a:endParaRPr sz="900">
              <a:latin typeface="Tahoma"/>
              <a:cs typeface="Tahoma"/>
            </a:endParaRPr>
          </a:p>
        </p:txBody>
      </p:sp>
      <p:sp>
        <p:nvSpPr>
          <p:cNvPr id="29" name="object 29">
            <a:extLst>
              <a:ext uri="{FF2B5EF4-FFF2-40B4-BE49-F238E27FC236}">
                <a16:creationId xmlns:a16="http://schemas.microsoft.com/office/drawing/2014/main" id="{4D63FA4A-0986-9DBB-0593-5331991375A8}"/>
              </a:ext>
            </a:extLst>
          </p:cNvPr>
          <p:cNvSpPr txBox="1"/>
          <p:nvPr/>
        </p:nvSpPr>
        <p:spPr>
          <a:xfrm>
            <a:off x="10244980" y="6845300"/>
            <a:ext cx="186055"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Jul</a:t>
            </a:r>
            <a:endParaRPr sz="900">
              <a:latin typeface="Tahoma"/>
              <a:cs typeface="Tahoma"/>
            </a:endParaRPr>
          </a:p>
        </p:txBody>
      </p:sp>
      <p:sp>
        <p:nvSpPr>
          <p:cNvPr id="30" name="object 30">
            <a:extLst>
              <a:ext uri="{FF2B5EF4-FFF2-40B4-BE49-F238E27FC236}">
                <a16:creationId xmlns:a16="http://schemas.microsoft.com/office/drawing/2014/main" id="{A7413465-03BC-FD04-4264-9E3D029C646C}"/>
              </a:ext>
            </a:extLst>
          </p:cNvPr>
          <p:cNvSpPr txBox="1"/>
          <p:nvPr/>
        </p:nvSpPr>
        <p:spPr>
          <a:xfrm>
            <a:off x="10862170" y="6845300"/>
            <a:ext cx="2425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Aug</a:t>
            </a:r>
            <a:endParaRPr sz="900">
              <a:latin typeface="Tahoma"/>
              <a:cs typeface="Tahoma"/>
            </a:endParaRPr>
          </a:p>
        </p:txBody>
      </p:sp>
      <p:sp>
        <p:nvSpPr>
          <p:cNvPr id="31" name="object 31">
            <a:extLst>
              <a:ext uri="{FF2B5EF4-FFF2-40B4-BE49-F238E27FC236}">
                <a16:creationId xmlns:a16="http://schemas.microsoft.com/office/drawing/2014/main" id="{BA56395F-E5B5-6D60-9C3E-9844D0BD95B7}"/>
              </a:ext>
            </a:extLst>
          </p:cNvPr>
          <p:cNvSpPr txBox="1"/>
          <p:nvPr/>
        </p:nvSpPr>
        <p:spPr>
          <a:xfrm>
            <a:off x="11510465" y="6845300"/>
            <a:ext cx="235585" cy="162560"/>
          </a:xfrm>
          <a:prstGeom prst="rect">
            <a:avLst/>
          </a:prstGeom>
        </p:spPr>
        <p:txBody>
          <a:bodyPr vert="horz" wrap="square" lIns="0" tIns="12700" rIns="0" bIns="0" rtlCol="0">
            <a:spAutoFit/>
          </a:bodyPr>
          <a:lstStyle/>
          <a:p>
            <a:pPr marL="12700">
              <a:lnSpc>
                <a:spcPct val="100000"/>
              </a:lnSpc>
              <a:spcBef>
                <a:spcPts val="100"/>
              </a:spcBef>
            </a:pPr>
            <a:r>
              <a:rPr sz="900" spc="30" dirty="0">
                <a:solidFill>
                  <a:srgbClr val="FFFFFF"/>
                </a:solidFill>
                <a:latin typeface="Tahoma"/>
                <a:cs typeface="Tahoma"/>
              </a:rPr>
              <a:t>Sep</a:t>
            </a:r>
            <a:endParaRPr sz="900">
              <a:latin typeface="Tahoma"/>
              <a:cs typeface="Tahoma"/>
            </a:endParaRPr>
          </a:p>
        </p:txBody>
      </p:sp>
      <p:sp>
        <p:nvSpPr>
          <p:cNvPr id="32" name="object 32">
            <a:extLst>
              <a:ext uri="{FF2B5EF4-FFF2-40B4-BE49-F238E27FC236}">
                <a16:creationId xmlns:a16="http://schemas.microsoft.com/office/drawing/2014/main" id="{D0EAAD8C-442E-A352-22EE-54154BC3FB8F}"/>
              </a:ext>
            </a:extLst>
          </p:cNvPr>
          <p:cNvSpPr txBox="1"/>
          <p:nvPr/>
        </p:nvSpPr>
        <p:spPr>
          <a:xfrm>
            <a:off x="12165458" y="6845300"/>
            <a:ext cx="2159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Oct</a:t>
            </a:r>
            <a:endParaRPr sz="900">
              <a:latin typeface="Tahoma"/>
              <a:cs typeface="Tahoma"/>
            </a:endParaRPr>
          </a:p>
        </p:txBody>
      </p:sp>
      <p:sp>
        <p:nvSpPr>
          <p:cNvPr id="33" name="object 33">
            <a:extLst>
              <a:ext uri="{FF2B5EF4-FFF2-40B4-BE49-F238E27FC236}">
                <a16:creationId xmlns:a16="http://schemas.microsoft.com/office/drawing/2014/main" id="{9A48DF86-D91F-BEE9-35CE-0B326D9EE449}"/>
              </a:ext>
            </a:extLst>
          </p:cNvPr>
          <p:cNvSpPr txBox="1"/>
          <p:nvPr/>
        </p:nvSpPr>
        <p:spPr>
          <a:xfrm>
            <a:off x="12797382" y="6845300"/>
            <a:ext cx="2425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Nov</a:t>
            </a:r>
            <a:endParaRPr sz="900">
              <a:latin typeface="Tahoma"/>
              <a:cs typeface="Tahoma"/>
            </a:endParaRPr>
          </a:p>
        </p:txBody>
      </p:sp>
      <p:sp>
        <p:nvSpPr>
          <p:cNvPr id="34" name="object 34">
            <a:extLst>
              <a:ext uri="{FF2B5EF4-FFF2-40B4-BE49-F238E27FC236}">
                <a16:creationId xmlns:a16="http://schemas.microsoft.com/office/drawing/2014/main" id="{96E2CCEA-6511-86AE-07ED-6F12162053F1}"/>
              </a:ext>
            </a:extLst>
          </p:cNvPr>
          <p:cNvSpPr txBox="1"/>
          <p:nvPr/>
        </p:nvSpPr>
        <p:spPr>
          <a:xfrm>
            <a:off x="13443594" y="6845300"/>
            <a:ext cx="240029" cy="162560"/>
          </a:xfrm>
          <a:prstGeom prst="rect">
            <a:avLst/>
          </a:prstGeom>
        </p:spPr>
        <p:txBody>
          <a:bodyPr vert="horz" wrap="square" lIns="0" tIns="12700" rIns="0" bIns="0" rtlCol="0">
            <a:spAutoFit/>
          </a:bodyPr>
          <a:lstStyle/>
          <a:p>
            <a:pPr marL="12700">
              <a:lnSpc>
                <a:spcPct val="100000"/>
              </a:lnSpc>
              <a:spcBef>
                <a:spcPts val="100"/>
              </a:spcBef>
            </a:pPr>
            <a:r>
              <a:rPr sz="900" spc="35" dirty="0">
                <a:solidFill>
                  <a:srgbClr val="FFFFFF"/>
                </a:solidFill>
                <a:latin typeface="Tahoma"/>
                <a:cs typeface="Tahoma"/>
              </a:rPr>
              <a:t>Dec</a:t>
            </a:r>
            <a:endParaRPr sz="900">
              <a:latin typeface="Tahoma"/>
              <a:cs typeface="Tahoma"/>
            </a:endParaRPr>
          </a:p>
        </p:txBody>
      </p:sp>
      <p:sp>
        <p:nvSpPr>
          <p:cNvPr id="35" name="object 35">
            <a:extLst>
              <a:ext uri="{FF2B5EF4-FFF2-40B4-BE49-F238E27FC236}">
                <a16:creationId xmlns:a16="http://schemas.microsoft.com/office/drawing/2014/main" id="{16395855-6A8A-17A3-9ACE-9C9BF77B7663}"/>
              </a:ext>
            </a:extLst>
          </p:cNvPr>
          <p:cNvSpPr txBox="1"/>
          <p:nvPr/>
        </p:nvSpPr>
        <p:spPr>
          <a:xfrm>
            <a:off x="6268292" y="6654800"/>
            <a:ext cx="9779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0</a:t>
            </a:r>
            <a:endParaRPr sz="900">
              <a:latin typeface="Tahoma"/>
              <a:cs typeface="Tahoma"/>
            </a:endParaRPr>
          </a:p>
        </p:txBody>
      </p:sp>
      <p:sp>
        <p:nvSpPr>
          <p:cNvPr id="36" name="object 36">
            <a:extLst>
              <a:ext uri="{FF2B5EF4-FFF2-40B4-BE49-F238E27FC236}">
                <a16:creationId xmlns:a16="http://schemas.microsoft.com/office/drawing/2014/main" id="{12BE2C48-7635-26E3-50E2-2C05BA1375DF}"/>
              </a:ext>
            </a:extLst>
          </p:cNvPr>
          <p:cNvSpPr txBox="1"/>
          <p:nvPr/>
        </p:nvSpPr>
        <p:spPr>
          <a:xfrm>
            <a:off x="6272608" y="5630862"/>
            <a:ext cx="93345"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FFFFFF"/>
                </a:solidFill>
                <a:latin typeface="Tahoma"/>
                <a:cs typeface="Tahoma"/>
              </a:rPr>
              <a:t>5</a:t>
            </a:r>
            <a:endParaRPr sz="900">
              <a:latin typeface="Tahoma"/>
              <a:cs typeface="Tahoma"/>
            </a:endParaRPr>
          </a:p>
        </p:txBody>
      </p:sp>
      <p:sp>
        <p:nvSpPr>
          <p:cNvPr id="37" name="object 37">
            <a:extLst>
              <a:ext uri="{FF2B5EF4-FFF2-40B4-BE49-F238E27FC236}">
                <a16:creationId xmlns:a16="http://schemas.microsoft.com/office/drawing/2014/main" id="{B8D3B86B-89A3-1D42-83DD-118C7F6100FD}"/>
              </a:ext>
            </a:extLst>
          </p:cNvPr>
          <p:cNvSpPr txBox="1"/>
          <p:nvPr/>
        </p:nvSpPr>
        <p:spPr>
          <a:xfrm>
            <a:off x="6221858" y="4606925"/>
            <a:ext cx="14414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10</a:t>
            </a:r>
            <a:endParaRPr sz="900">
              <a:latin typeface="Tahoma"/>
              <a:cs typeface="Tahoma"/>
            </a:endParaRPr>
          </a:p>
        </p:txBody>
      </p:sp>
      <p:sp>
        <p:nvSpPr>
          <p:cNvPr id="38" name="object 38">
            <a:extLst>
              <a:ext uri="{FF2B5EF4-FFF2-40B4-BE49-F238E27FC236}">
                <a16:creationId xmlns:a16="http://schemas.microsoft.com/office/drawing/2014/main" id="{3F695687-D573-B3FC-771A-CFBC636F1651}"/>
              </a:ext>
            </a:extLst>
          </p:cNvPr>
          <p:cNvSpPr txBox="1"/>
          <p:nvPr/>
        </p:nvSpPr>
        <p:spPr>
          <a:xfrm>
            <a:off x="6226174" y="3582987"/>
            <a:ext cx="13970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FFFFFF"/>
                </a:solidFill>
                <a:latin typeface="Tahoma"/>
                <a:cs typeface="Tahoma"/>
              </a:rPr>
              <a:t>15</a:t>
            </a:r>
            <a:endParaRPr sz="900">
              <a:latin typeface="Tahoma"/>
              <a:cs typeface="Tahoma"/>
            </a:endParaRPr>
          </a:p>
        </p:txBody>
      </p:sp>
      <p:sp>
        <p:nvSpPr>
          <p:cNvPr id="39" name="object 39">
            <a:extLst>
              <a:ext uri="{FF2B5EF4-FFF2-40B4-BE49-F238E27FC236}">
                <a16:creationId xmlns:a16="http://schemas.microsoft.com/office/drawing/2014/main" id="{5B78E5ED-683E-7D0F-D8CA-353672E50FB1}"/>
              </a:ext>
            </a:extLst>
          </p:cNvPr>
          <p:cNvSpPr txBox="1"/>
          <p:nvPr/>
        </p:nvSpPr>
        <p:spPr>
          <a:xfrm>
            <a:off x="6198641" y="2559050"/>
            <a:ext cx="167640"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FFFFFF"/>
                </a:solidFill>
                <a:latin typeface="Tahoma"/>
                <a:cs typeface="Tahoma"/>
              </a:rPr>
              <a:t>20</a:t>
            </a:r>
            <a:endParaRPr sz="900">
              <a:latin typeface="Tahoma"/>
              <a:cs typeface="Tahoma"/>
            </a:endParaRPr>
          </a:p>
        </p:txBody>
      </p:sp>
      <p:sp>
        <p:nvSpPr>
          <p:cNvPr id="40" name="object 40">
            <a:extLst>
              <a:ext uri="{FF2B5EF4-FFF2-40B4-BE49-F238E27FC236}">
                <a16:creationId xmlns:a16="http://schemas.microsoft.com/office/drawing/2014/main" id="{5AF69D1B-8674-5E0A-E635-1C7BA6D6A2C7}"/>
              </a:ext>
            </a:extLst>
          </p:cNvPr>
          <p:cNvSpPr/>
          <p:nvPr/>
        </p:nvSpPr>
        <p:spPr>
          <a:xfrm>
            <a:off x="9572624" y="7134224"/>
            <a:ext cx="581025" cy="266700"/>
          </a:xfrm>
          <a:custGeom>
            <a:avLst/>
            <a:gdLst/>
            <a:ahLst/>
            <a:cxnLst/>
            <a:rect l="l" t="t" r="r" b="b"/>
            <a:pathLst>
              <a:path w="581025" h="266700">
                <a:moveTo>
                  <a:pt x="447674" y="266699"/>
                </a:moveTo>
                <a:lnTo>
                  <a:pt x="133349" y="266699"/>
                </a:lnTo>
                <a:lnTo>
                  <a:pt x="126798" y="266539"/>
                </a:lnTo>
                <a:lnTo>
                  <a:pt x="88432" y="258906"/>
                </a:lnTo>
                <a:lnTo>
                  <a:pt x="53906" y="240452"/>
                </a:lnTo>
                <a:lnTo>
                  <a:pt x="26245" y="212792"/>
                </a:lnTo>
                <a:lnTo>
                  <a:pt x="7790" y="178265"/>
                </a:lnTo>
                <a:lnTo>
                  <a:pt x="159" y="139900"/>
                </a:lnTo>
                <a:lnTo>
                  <a:pt x="0" y="133349"/>
                </a:lnTo>
                <a:lnTo>
                  <a:pt x="159" y="126798"/>
                </a:lnTo>
                <a:lnTo>
                  <a:pt x="7790" y="88432"/>
                </a:lnTo>
                <a:lnTo>
                  <a:pt x="26245" y="53906"/>
                </a:lnTo>
                <a:lnTo>
                  <a:pt x="53905" y="26246"/>
                </a:lnTo>
                <a:lnTo>
                  <a:pt x="88432" y="7791"/>
                </a:lnTo>
                <a:lnTo>
                  <a:pt x="126798" y="160"/>
                </a:lnTo>
                <a:lnTo>
                  <a:pt x="133349" y="0"/>
                </a:lnTo>
                <a:lnTo>
                  <a:pt x="447674" y="0"/>
                </a:lnTo>
                <a:lnTo>
                  <a:pt x="486383" y="5740"/>
                </a:lnTo>
                <a:lnTo>
                  <a:pt x="521758" y="22473"/>
                </a:lnTo>
                <a:lnTo>
                  <a:pt x="550756" y="48752"/>
                </a:lnTo>
                <a:lnTo>
                  <a:pt x="570872" y="82318"/>
                </a:lnTo>
                <a:lnTo>
                  <a:pt x="580384" y="120279"/>
                </a:lnTo>
                <a:lnTo>
                  <a:pt x="581024" y="133349"/>
                </a:lnTo>
                <a:lnTo>
                  <a:pt x="580864" y="139900"/>
                </a:lnTo>
                <a:lnTo>
                  <a:pt x="573231" y="178265"/>
                </a:lnTo>
                <a:lnTo>
                  <a:pt x="554777" y="212792"/>
                </a:lnTo>
                <a:lnTo>
                  <a:pt x="527116" y="240452"/>
                </a:lnTo>
                <a:lnTo>
                  <a:pt x="492590" y="258906"/>
                </a:lnTo>
                <a:lnTo>
                  <a:pt x="454225" y="266539"/>
                </a:lnTo>
                <a:lnTo>
                  <a:pt x="447674" y="266699"/>
                </a:lnTo>
                <a:close/>
              </a:path>
            </a:pathLst>
          </a:custGeom>
          <a:solidFill>
            <a:srgbClr val="FFFFFF">
              <a:alpha val="5879"/>
            </a:srgbClr>
          </a:solidFill>
        </p:spPr>
        <p:txBody>
          <a:bodyPr wrap="square" lIns="0" tIns="0" rIns="0" bIns="0" rtlCol="0"/>
          <a:lstStyle/>
          <a:p>
            <a:endParaRPr/>
          </a:p>
        </p:txBody>
      </p:sp>
      <p:sp>
        <p:nvSpPr>
          <p:cNvPr id="41" name="object 41">
            <a:extLst>
              <a:ext uri="{FF2B5EF4-FFF2-40B4-BE49-F238E27FC236}">
                <a16:creationId xmlns:a16="http://schemas.microsoft.com/office/drawing/2014/main" id="{35CADF70-4B49-E70D-5031-90437BC5BE5A}"/>
              </a:ext>
            </a:extLst>
          </p:cNvPr>
          <p:cNvSpPr txBox="1"/>
          <p:nvPr/>
        </p:nvSpPr>
        <p:spPr>
          <a:xfrm>
            <a:off x="9678243" y="7178675"/>
            <a:ext cx="370205"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Tahoma"/>
                <a:cs typeface="Tahoma"/>
              </a:rPr>
              <a:t>Month</a:t>
            </a:r>
            <a:endParaRPr sz="900">
              <a:latin typeface="Tahoma"/>
              <a:cs typeface="Tahoma"/>
            </a:endParaRPr>
          </a:p>
        </p:txBody>
      </p:sp>
      <p:pic>
        <p:nvPicPr>
          <p:cNvPr id="48" name="Picture 47">
            <a:extLst>
              <a:ext uri="{FF2B5EF4-FFF2-40B4-BE49-F238E27FC236}">
                <a16:creationId xmlns:a16="http://schemas.microsoft.com/office/drawing/2014/main" id="{E21D0E58-DAF1-9E71-23E8-3028844EC990}"/>
              </a:ext>
            </a:extLst>
          </p:cNvPr>
          <p:cNvPicPr>
            <a:picLocks noChangeAspect="1"/>
          </p:cNvPicPr>
          <p:nvPr/>
        </p:nvPicPr>
        <p:blipFill>
          <a:blip r:embed="rId2"/>
          <a:stretch>
            <a:fillRect/>
          </a:stretch>
        </p:blipFill>
        <p:spPr>
          <a:xfrm>
            <a:off x="9176016" y="1426819"/>
            <a:ext cx="1720583" cy="198529"/>
          </a:xfrm>
          <a:prstGeom prst="rect">
            <a:avLst/>
          </a:prstGeom>
        </p:spPr>
      </p:pic>
      <p:sp>
        <p:nvSpPr>
          <p:cNvPr id="55" name="object 5">
            <a:extLst>
              <a:ext uri="{FF2B5EF4-FFF2-40B4-BE49-F238E27FC236}">
                <a16:creationId xmlns:a16="http://schemas.microsoft.com/office/drawing/2014/main" id="{0EA2F853-6BC9-FF79-0411-F65704F2A67F}"/>
              </a:ext>
            </a:extLst>
          </p:cNvPr>
          <p:cNvSpPr txBox="1">
            <a:spLocks/>
          </p:cNvSpPr>
          <p:nvPr/>
        </p:nvSpPr>
        <p:spPr>
          <a:xfrm>
            <a:off x="506186" y="556473"/>
            <a:ext cx="4180113" cy="2028761"/>
          </a:xfrm>
          <a:prstGeom prst="rect">
            <a:avLst/>
          </a:prstGeom>
        </p:spPr>
        <p:txBody>
          <a:bodyPr vert="horz" wrap="square" lIns="0" tIns="134620" rIns="0" bIns="0" rtlCol="0">
            <a:spAutoFit/>
          </a:bodyPr>
          <a:lstStyle>
            <a:lvl1pPr>
              <a:defRPr sz="2400" b="0" i="0">
                <a:solidFill>
                  <a:srgbClr val="06080C"/>
                </a:solidFill>
                <a:latin typeface="Tahoma"/>
                <a:ea typeface="+mj-ea"/>
                <a:cs typeface="Tahoma"/>
              </a:defRPr>
            </a:lvl1pPr>
          </a:lstStyle>
          <a:p>
            <a:pPr marL="12700" marR="5080">
              <a:spcBef>
                <a:spcPts val="1060"/>
              </a:spcBef>
            </a:pPr>
            <a:r>
              <a:rPr lang="en-US" sz="1500" dirty="0">
                <a:solidFill>
                  <a:schemeClr val="bg1">
                    <a:lumMod val="75000"/>
                  </a:schemeClr>
                </a:solidFill>
              </a:rPr>
              <a:t>Bike Dependency</a:t>
            </a:r>
            <a:br>
              <a:rPr lang="en-US" sz="3600" dirty="0"/>
            </a:br>
            <a:r>
              <a:rPr lang="en-US" sz="3600" dirty="0">
                <a:solidFill>
                  <a:schemeClr val="bg1">
                    <a:lumMod val="95000"/>
                  </a:schemeClr>
                </a:solidFill>
              </a:rPr>
              <a:t>Casuals log the longest rides on classic bikes</a:t>
            </a:r>
          </a:p>
        </p:txBody>
      </p:sp>
      <p:sp>
        <p:nvSpPr>
          <p:cNvPr id="56" name="object 29">
            <a:extLst>
              <a:ext uri="{FF2B5EF4-FFF2-40B4-BE49-F238E27FC236}">
                <a16:creationId xmlns:a16="http://schemas.microsoft.com/office/drawing/2014/main" id="{D5B065EC-1FD5-651F-0D8E-6B0C1D165D40}"/>
              </a:ext>
            </a:extLst>
          </p:cNvPr>
          <p:cNvSpPr txBox="1"/>
          <p:nvPr/>
        </p:nvSpPr>
        <p:spPr>
          <a:xfrm>
            <a:off x="505738" y="5712142"/>
            <a:ext cx="4256761" cy="936154"/>
          </a:xfrm>
          <a:prstGeom prst="rect">
            <a:avLst/>
          </a:prstGeom>
        </p:spPr>
        <p:txBody>
          <a:bodyPr vert="horz" wrap="square" lIns="0" tIns="12700" rIns="0" bIns="0" rtlCol="0">
            <a:spAutoFit/>
          </a:bodyPr>
          <a:lstStyle/>
          <a:p>
            <a:pPr marL="12700" marR="5080">
              <a:lnSpc>
                <a:spcPct val="100000"/>
              </a:lnSpc>
              <a:spcBef>
                <a:spcPts val="100"/>
              </a:spcBef>
            </a:pPr>
            <a:r>
              <a:rPr sz="1500" spc="100" dirty="0">
                <a:solidFill>
                  <a:schemeClr val="bg1">
                    <a:lumMod val="75000"/>
                  </a:schemeClr>
                </a:solidFill>
                <a:latin typeface="Tahoma"/>
                <a:cs typeface="Tahoma"/>
              </a:rPr>
              <a:t>Classic</a:t>
            </a:r>
            <a:r>
              <a:rPr sz="1500" spc="-25" dirty="0">
                <a:solidFill>
                  <a:schemeClr val="bg1">
                    <a:lumMod val="75000"/>
                  </a:schemeClr>
                </a:solidFill>
                <a:latin typeface="Tahoma"/>
                <a:cs typeface="Tahoma"/>
              </a:rPr>
              <a:t> </a:t>
            </a:r>
            <a:r>
              <a:rPr sz="1500" spc="65" dirty="0">
                <a:solidFill>
                  <a:schemeClr val="bg1">
                    <a:lumMod val="75000"/>
                  </a:schemeClr>
                </a:solidFill>
                <a:latin typeface="Tahoma"/>
                <a:cs typeface="Tahoma"/>
              </a:rPr>
              <a:t>bikes</a:t>
            </a:r>
            <a:r>
              <a:rPr sz="1500" spc="-25" dirty="0">
                <a:solidFill>
                  <a:schemeClr val="bg1">
                    <a:lumMod val="75000"/>
                  </a:schemeClr>
                </a:solidFill>
                <a:latin typeface="Tahoma"/>
                <a:cs typeface="Tahoma"/>
              </a:rPr>
              <a:t> </a:t>
            </a:r>
            <a:r>
              <a:rPr sz="1500" spc="55" dirty="0">
                <a:solidFill>
                  <a:schemeClr val="bg1">
                    <a:lumMod val="75000"/>
                  </a:schemeClr>
                </a:solidFill>
                <a:latin typeface="Tahoma"/>
                <a:cs typeface="Tahoma"/>
              </a:rPr>
              <a:t>drive</a:t>
            </a:r>
            <a:r>
              <a:rPr sz="1500" spc="-20" dirty="0">
                <a:solidFill>
                  <a:schemeClr val="bg1">
                    <a:lumMod val="75000"/>
                  </a:schemeClr>
                </a:solidFill>
                <a:latin typeface="Tahoma"/>
                <a:cs typeface="Tahoma"/>
              </a:rPr>
              <a:t> </a:t>
            </a:r>
            <a:r>
              <a:rPr sz="1500" dirty="0">
                <a:solidFill>
                  <a:schemeClr val="bg1">
                    <a:lumMod val="75000"/>
                  </a:schemeClr>
                </a:solidFill>
                <a:latin typeface="Tahoma"/>
                <a:cs typeface="Tahoma"/>
              </a:rPr>
              <a:t>the</a:t>
            </a:r>
            <a:r>
              <a:rPr sz="1500" spc="-25" dirty="0">
                <a:solidFill>
                  <a:schemeClr val="bg1">
                    <a:lumMod val="75000"/>
                  </a:schemeClr>
                </a:solidFill>
                <a:latin typeface="Tahoma"/>
                <a:cs typeface="Tahoma"/>
              </a:rPr>
              <a:t> </a:t>
            </a:r>
            <a:r>
              <a:rPr sz="1500" spc="60" dirty="0">
                <a:solidFill>
                  <a:schemeClr val="bg1">
                    <a:lumMod val="75000"/>
                  </a:schemeClr>
                </a:solidFill>
                <a:latin typeface="Tahoma"/>
                <a:cs typeface="Tahoma"/>
              </a:rPr>
              <a:t>longest</a:t>
            </a:r>
            <a:r>
              <a:rPr sz="1500" spc="-20" dirty="0">
                <a:solidFill>
                  <a:schemeClr val="bg1">
                    <a:lumMod val="75000"/>
                  </a:schemeClr>
                </a:solidFill>
                <a:latin typeface="Tahoma"/>
                <a:cs typeface="Tahoma"/>
              </a:rPr>
              <a:t> </a:t>
            </a:r>
            <a:r>
              <a:rPr sz="1500" spc="50" dirty="0">
                <a:solidFill>
                  <a:schemeClr val="bg1">
                    <a:lumMod val="75000"/>
                  </a:schemeClr>
                </a:solidFill>
                <a:latin typeface="Tahoma"/>
                <a:cs typeface="Tahoma"/>
              </a:rPr>
              <a:t>rides,</a:t>
            </a:r>
            <a:r>
              <a:rPr sz="1500" spc="-25" dirty="0">
                <a:solidFill>
                  <a:schemeClr val="bg1">
                    <a:lumMod val="75000"/>
                  </a:schemeClr>
                </a:solidFill>
                <a:latin typeface="Tahoma"/>
                <a:cs typeface="Tahoma"/>
              </a:rPr>
              <a:t> </a:t>
            </a:r>
            <a:r>
              <a:rPr sz="1500" spc="65" dirty="0">
                <a:solidFill>
                  <a:schemeClr val="bg1">
                    <a:lumMod val="75000"/>
                  </a:schemeClr>
                </a:solidFill>
                <a:latin typeface="Tahoma"/>
                <a:cs typeface="Tahoma"/>
              </a:rPr>
              <a:t>especially </a:t>
            </a:r>
            <a:r>
              <a:rPr sz="1500" dirty="0">
                <a:solidFill>
                  <a:schemeClr val="bg1">
                    <a:lumMod val="75000"/>
                  </a:schemeClr>
                </a:solidFill>
                <a:latin typeface="Tahoma"/>
                <a:cs typeface="Tahoma"/>
              </a:rPr>
              <a:t>for</a:t>
            </a:r>
            <a:r>
              <a:rPr sz="1500" spc="20" dirty="0">
                <a:solidFill>
                  <a:schemeClr val="bg1">
                    <a:lumMod val="75000"/>
                  </a:schemeClr>
                </a:solidFill>
                <a:latin typeface="Tahoma"/>
                <a:cs typeface="Tahoma"/>
              </a:rPr>
              <a:t> </a:t>
            </a:r>
            <a:r>
              <a:rPr sz="1500" spc="65" dirty="0">
                <a:solidFill>
                  <a:schemeClr val="bg1">
                    <a:lumMod val="75000"/>
                  </a:schemeClr>
                </a:solidFill>
                <a:latin typeface="Tahoma"/>
                <a:cs typeface="Tahoma"/>
              </a:rPr>
              <a:t>casuals.</a:t>
            </a:r>
            <a:r>
              <a:rPr sz="1500" spc="25" dirty="0">
                <a:solidFill>
                  <a:schemeClr val="bg1">
                    <a:lumMod val="75000"/>
                  </a:schemeClr>
                </a:solidFill>
                <a:latin typeface="Tahoma"/>
                <a:cs typeface="Tahoma"/>
              </a:rPr>
              <a:t> </a:t>
            </a:r>
            <a:r>
              <a:rPr sz="1500" dirty="0">
                <a:solidFill>
                  <a:schemeClr val="bg1">
                    <a:lumMod val="75000"/>
                  </a:schemeClr>
                </a:solidFill>
                <a:latin typeface="Tahoma"/>
                <a:cs typeface="Tahoma"/>
              </a:rPr>
              <a:t>Target</a:t>
            </a:r>
            <a:r>
              <a:rPr sz="1500" spc="25" dirty="0">
                <a:solidFill>
                  <a:schemeClr val="bg1">
                    <a:lumMod val="75000"/>
                  </a:schemeClr>
                </a:solidFill>
                <a:latin typeface="Tahoma"/>
                <a:cs typeface="Tahoma"/>
              </a:rPr>
              <a:t> </a:t>
            </a:r>
            <a:r>
              <a:rPr sz="1500" spc="65" dirty="0">
                <a:solidFill>
                  <a:schemeClr val="bg1">
                    <a:lumMod val="75000"/>
                  </a:schemeClr>
                </a:solidFill>
                <a:latin typeface="Tahoma"/>
                <a:cs typeface="Tahoma"/>
              </a:rPr>
              <a:t>membership</a:t>
            </a:r>
            <a:r>
              <a:rPr sz="1500" spc="25" dirty="0">
                <a:solidFill>
                  <a:schemeClr val="bg1">
                    <a:lumMod val="75000"/>
                  </a:schemeClr>
                </a:solidFill>
                <a:latin typeface="Tahoma"/>
                <a:cs typeface="Tahoma"/>
              </a:rPr>
              <a:t> </a:t>
            </a:r>
            <a:r>
              <a:rPr sz="1500" spc="55" dirty="0">
                <a:solidFill>
                  <a:schemeClr val="bg1">
                    <a:lumMod val="75000"/>
                  </a:schemeClr>
                </a:solidFill>
                <a:latin typeface="Tahoma"/>
                <a:cs typeface="Tahoma"/>
              </a:rPr>
              <a:t>promotions</a:t>
            </a:r>
            <a:r>
              <a:rPr sz="1500" spc="25" dirty="0">
                <a:solidFill>
                  <a:schemeClr val="bg1">
                    <a:lumMod val="75000"/>
                  </a:schemeClr>
                </a:solidFill>
                <a:latin typeface="Tahoma"/>
                <a:cs typeface="Tahoma"/>
              </a:rPr>
              <a:t> </a:t>
            </a:r>
            <a:r>
              <a:rPr sz="1500" spc="-25" dirty="0">
                <a:solidFill>
                  <a:schemeClr val="bg1">
                    <a:lumMod val="75000"/>
                  </a:schemeClr>
                </a:solidFill>
                <a:latin typeface="Tahoma"/>
                <a:cs typeface="Tahoma"/>
              </a:rPr>
              <a:t>at </a:t>
            </a:r>
            <a:r>
              <a:rPr sz="1500" dirty="0">
                <a:solidFill>
                  <a:schemeClr val="bg1">
                    <a:lumMod val="75000"/>
                  </a:schemeClr>
                </a:solidFill>
                <a:latin typeface="Tahoma"/>
                <a:cs typeface="Tahoma"/>
              </a:rPr>
              <a:t>high</a:t>
            </a:r>
            <a:r>
              <a:rPr sz="1500" spc="10" dirty="0">
                <a:solidFill>
                  <a:schemeClr val="bg1">
                    <a:lumMod val="75000"/>
                  </a:schemeClr>
                </a:solidFill>
                <a:latin typeface="Tahoma"/>
                <a:cs typeface="Tahoma"/>
              </a:rPr>
              <a:t> </a:t>
            </a:r>
            <a:r>
              <a:rPr sz="1500" spc="85" dirty="0">
                <a:solidFill>
                  <a:schemeClr val="bg1">
                    <a:lumMod val="75000"/>
                  </a:schemeClr>
                </a:solidFill>
                <a:latin typeface="Tahoma"/>
                <a:cs typeface="Tahoma"/>
              </a:rPr>
              <a:t>classic-</a:t>
            </a:r>
            <a:r>
              <a:rPr sz="1500" spc="80" dirty="0">
                <a:solidFill>
                  <a:schemeClr val="bg1">
                    <a:lumMod val="75000"/>
                  </a:schemeClr>
                </a:solidFill>
                <a:latin typeface="Tahoma"/>
                <a:cs typeface="Tahoma"/>
              </a:rPr>
              <a:t>bike</a:t>
            </a:r>
            <a:r>
              <a:rPr sz="1500" spc="10" dirty="0">
                <a:solidFill>
                  <a:schemeClr val="bg1">
                    <a:lumMod val="75000"/>
                  </a:schemeClr>
                </a:solidFill>
                <a:latin typeface="Tahoma"/>
                <a:cs typeface="Tahoma"/>
              </a:rPr>
              <a:t> </a:t>
            </a:r>
            <a:r>
              <a:rPr sz="1500" spc="75" dirty="0">
                <a:solidFill>
                  <a:schemeClr val="bg1">
                    <a:lumMod val="75000"/>
                  </a:schemeClr>
                </a:solidFill>
                <a:latin typeface="Tahoma"/>
                <a:cs typeface="Tahoma"/>
              </a:rPr>
              <a:t>docking</a:t>
            </a:r>
            <a:r>
              <a:rPr sz="1500" spc="10" dirty="0">
                <a:solidFill>
                  <a:schemeClr val="bg1">
                    <a:lumMod val="75000"/>
                  </a:schemeClr>
                </a:solidFill>
                <a:latin typeface="Tahoma"/>
                <a:cs typeface="Tahoma"/>
              </a:rPr>
              <a:t> </a:t>
            </a:r>
            <a:r>
              <a:rPr sz="1500" spc="50" dirty="0">
                <a:solidFill>
                  <a:schemeClr val="bg1">
                    <a:lumMod val="75000"/>
                  </a:schemeClr>
                </a:solidFill>
                <a:latin typeface="Tahoma"/>
                <a:cs typeface="Tahoma"/>
              </a:rPr>
              <a:t>stations</a:t>
            </a:r>
            <a:r>
              <a:rPr sz="1500" spc="10" dirty="0">
                <a:solidFill>
                  <a:schemeClr val="bg1">
                    <a:lumMod val="75000"/>
                  </a:schemeClr>
                </a:solidFill>
                <a:latin typeface="Tahoma"/>
                <a:cs typeface="Tahoma"/>
              </a:rPr>
              <a:t> </a:t>
            </a:r>
            <a:r>
              <a:rPr sz="1500" dirty="0">
                <a:solidFill>
                  <a:schemeClr val="bg1">
                    <a:lumMod val="75000"/>
                  </a:schemeClr>
                </a:solidFill>
                <a:latin typeface="Tahoma"/>
                <a:cs typeface="Tahoma"/>
              </a:rPr>
              <a:t>to</a:t>
            </a:r>
            <a:r>
              <a:rPr sz="1500" spc="15" dirty="0">
                <a:solidFill>
                  <a:schemeClr val="bg1">
                    <a:lumMod val="75000"/>
                  </a:schemeClr>
                </a:solidFill>
                <a:latin typeface="Tahoma"/>
                <a:cs typeface="Tahoma"/>
              </a:rPr>
              <a:t> </a:t>
            </a:r>
            <a:r>
              <a:rPr sz="1500" spc="70" dirty="0">
                <a:solidFill>
                  <a:schemeClr val="bg1">
                    <a:lumMod val="75000"/>
                  </a:schemeClr>
                </a:solidFill>
                <a:latin typeface="Tahoma"/>
                <a:cs typeface="Tahoma"/>
              </a:rPr>
              <a:t>reach</a:t>
            </a:r>
            <a:r>
              <a:rPr sz="1500" spc="10" dirty="0">
                <a:solidFill>
                  <a:schemeClr val="bg1">
                    <a:lumMod val="75000"/>
                  </a:schemeClr>
                </a:solidFill>
                <a:latin typeface="Tahoma"/>
                <a:cs typeface="Tahoma"/>
              </a:rPr>
              <a:t> </a:t>
            </a:r>
            <a:r>
              <a:rPr sz="1500" spc="-20" dirty="0">
                <a:solidFill>
                  <a:schemeClr val="bg1">
                    <a:lumMod val="75000"/>
                  </a:schemeClr>
                </a:solidFill>
                <a:latin typeface="Tahoma"/>
                <a:cs typeface="Tahoma"/>
              </a:rPr>
              <a:t>this </a:t>
            </a:r>
            <a:r>
              <a:rPr sz="1500" spc="50" dirty="0">
                <a:solidFill>
                  <a:schemeClr val="bg1">
                    <a:lumMod val="75000"/>
                  </a:schemeClr>
                </a:solidFill>
                <a:latin typeface="Tahoma"/>
                <a:cs typeface="Tahoma"/>
              </a:rPr>
              <a:t>high-</a:t>
            </a:r>
            <a:r>
              <a:rPr sz="1500" spc="65" dirty="0">
                <a:solidFill>
                  <a:schemeClr val="bg1">
                    <a:lumMod val="75000"/>
                  </a:schemeClr>
                </a:solidFill>
                <a:latin typeface="Tahoma"/>
                <a:cs typeface="Tahoma"/>
              </a:rPr>
              <a:t>engagement</a:t>
            </a:r>
            <a:r>
              <a:rPr sz="1500" spc="-20" dirty="0">
                <a:solidFill>
                  <a:schemeClr val="bg1">
                    <a:lumMod val="75000"/>
                  </a:schemeClr>
                </a:solidFill>
                <a:latin typeface="Tahoma"/>
                <a:cs typeface="Tahoma"/>
              </a:rPr>
              <a:t> </a:t>
            </a:r>
            <a:r>
              <a:rPr sz="1500" spc="40" dirty="0">
                <a:solidFill>
                  <a:schemeClr val="bg1">
                    <a:lumMod val="75000"/>
                  </a:schemeClr>
                </a:solidFill>
                <a:latin typeface="Tahoma"/>
                <a:cs typeface="Tahoma"/>
              </a:rPr>
              <a:t>segment.</a:t>
            </a:r>
            <a:endParaRPr sz="1500" dirty="0">
              <a:solidFill>
                <a:schemeClr val="bg1">
                  <a:lumMod val="75000"/>
                </a:schemeClr>
              </a:solidFill>
              <a:latin typeface="Tahoma"/>
              <a:cs typeface="Tahoma"/>
            </a:endParaRPr>
          </a:p>
        </p:txBody>
      </p:sp>
      <p:pic>
        <p:nvPicPr>
          <p:cNvPr id="58" name="Picture 57">
            <a:extLst>
              <a:ext uri="{FF2B5EF4-FFF2-40B4-BE49-F238E27FC236}">
                <a16:creationId xmlns:a16="http://schemas.microsoft.com/office/drawing/2014/main" id="{85645822-28FA-7FF0-CDC3-A52275A55F7A}"/>
              </a:ext>
            </a:extLst>
          </p:cNvPr>
          <p:cNvPicPr>
            <a:picLocks noChangeAspect="1"/>
          </p:cNvPicPr>
          <p:nvPr/>
        </p:nvPicPr>
        <p:blipFill>
          <a:blip r:embed="rId3"/>
          <a:stretch>
            <a:fillRect/>
          </a:stretch>
        </p:blipFill>
        <p:spPr>
          <a:xfrm>
            <a:off x="5510581" y="1643764"/>
            <a:ext cx="8590990" cy="5364096"/>
          </a:xfrm>
          <a:prstGeom prst="rect">
            <a:avLst/>
          </a:prstGeom>
        </p:spPr>
      </p:pic>
      <p:pic>
        <p:nvPicPr>
          <p:cNvPr id="60" name="Picture 59">
            <a:extLst>
              <a:ext uri="{FF2B5EF4-FFF2-40B4-BE49-F238E27FC236}">
                <a16:creationId xmlns:a16="http://schemas.microsoft.com/office/drawing/2014/main" id="{003A5BEA-B790-C2CE-E296-DE0B3D76F1E0}"/>
              </a:ext>
            </a:extLst>
          </p:cNvPr>
          <p:cNvPicPr>
            <a:picLocks noChangeAspect="1"/>
          </p:cNvPicPr>
          <p:nvPr/>
        </p:nvPicPr>
        <p:blipFill>
          <a:blip r:embed="rId2"/>
          <a:stretch>
            <a:fillRect/>
          </a:stretch>
        </p:blipFill>
        <p:spPr>
          <a:xfrm>
            <a:off x="9112566" y="1426819"/>
            <a:ext cx="1784034" cy="369979"/>
          </a:xfrm>
          <a:prstGeom prst="rect">
            <a:avLst/>
          </a:prstGeom>
        </p:spPr>
      </p:pic>
    </p:spTree>
    <p:extLst>
      <p:ext uri="{BB962C8B-B14F-4D97-AF65-F5344CB8AC3E}">
        <p14:creationId xmlns:p14="http://schemas.microsoft.com/office/powerpoint/2010/main" val="618424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92435" y="584835"/>
            <a:ext cx="6905626" cy="1705595"/>
          </a:xfrm>
          <a:prstGeom prst="rect">
            <a:avLst/>
          </a:prstGeom>
        </p:spPr>
        <p:txBody>
          <a:bodyPr vert="horz" wrap="square" lIns="0" tIns="165100" rIns="0" bIns="0" rtlCol="0">
            <a:spAutoFit/>
          </a:bodyPr>
          <a:lstStyle/>
          <a:p>
            <a:pPr marL="12700" marR="5080">
              <a:lnSpc>
                <a:spcPts val="6000"/>
              </a:lnSpc>
              <a:spcBef>
                <a:spcPts val="1300"/>
              </a:spcBef>
            </a:pPr>
            <a:r>
              <a:rPr sz="6000" spc="175" dirty="0">
                <a:solidFill>
                  <a:schemeClr val="tx1">
                    <a:lumMod val="75000"/>
                    <a:lumOff val="25000"/>
                  </a:schemeClr>
                </a:solidFill>
                <a:latin typeface="Tahoma"/>
                <a:cs typeface="Tahoma"/>
              </a:rPr>
              <a:t>Three</a:t>
            </a:r>
            <a:r>
              <a:rPr sz="6000" spc="-280" dirty="0">
                <a:solidFill>
                  <a:schemeClr val="tx1">
                    <a:lumMod val="75000"/>
                    <a:lumOff val="25000"/>
                  </a:schemeClr>
                </a:solidFill>
                <a:latin typeface="Tahoma"/>
                <a:cs typeface="Tahoma"/>
              </a:rPr>
              <a:t> </a:t>
            </a:r>
            <a:br>
              <a:rPr lang="en-US" sz="6000" spc="-280" dirty="0">
                <a:solidFill>
                  <a:schemeClr val="tx1">
                    <a:lumMod val="75000"/>
                    <a:lumOff val="25000"/>
                  </a:schemeClr>
                </a:solidFill>
                <a:latin typeface="Tahoma"/>
                <a:cs typeface="Tahoma"/>
              </a:rPr>
            </a:br>
            <a:r>
              <a:rPr lang="en-US" sz="6000" spc="-280" dirty="0">
                <a:solidFill>
                  <a:schemeClr val="tx1">
                    <a:lumMod val="75000"/>
                    <a:lumOff val="25000"/>
                  </a:schemeClr>
                </a:solidFill>
                <a:latin typeface="Tahoma"/>
                <a:cs typeface="Tahoma"/>
              </a:rPr>
              <a:t>r</a:t>
            </a:r>
            <a:r>
              <a:rPr sz="6000" spc="280" dirty="0">
                <a:solidFill>
                  <a:schemeClr val="tx1">
                    <a:lumMod val="75000"/>
                    <a:lumOff val="25000"/>
                  </a:schemeClr>
                </a:solidFill>
                <a:latin typeface="Tahoma"/>
                <a:cs typeface="Tahoma"/>
              </a:rPr>
              <a:t>ecom</a:t>
            </a:r>
            <a:r>
              <a:rPr sz="6000" spc="150" dirty="0">
                <a:solidFill>
                  <a:schemeClr val="tx1">
                    <a:lumMod val="75000"/>
                    <a:lumOff val="25000"/>
                  </a:schemeClr>
                </a:solidFill>
                <a:latin typeface="Tahoma"/>
                <a:cs typeface="Tahoma"/>
              </a:rPr>
              <a:t>mendations</a:t>
            </a:r>
            <a:endParaRPr sz="6000" dirty="0">
              <a:solidFill>
                <a:schemeClr val="tx1">
                  <a:lumMod val="75000"/>
                  <a:lumOff val="25000"/>
                </a:schemeClr>
              </a:solidFill>
              <a:latin typeface="Tahoma"/>
              <a:cs typeface="Tahoma"/>
            </a:endParaRPr>
          </a:p>
        </p:txBody>
      </p:sp>
      <p:sp>
        <p:nvSpPr>
          <p:cNvPr id="5" name="object 5"/>
          <p:cNvSpPr txBox="1"/>
          <p:nvPr/>
        </p:nvSpPr>
        <p:spPr>
          <a:xfrm>
            <a:off x="7683771" y="294596"/>
            <a:ext cx="6325593" cy="1918474"/>
          </a:xfrm>
          <a:prstGeom prst="rect">
            <a:avLst/>
          </a:prstGeom>
        </p:spPr>
        <p:txBody>
          <a:bodyPr vert="horz" wrap="square" lIns="0" tIns="12700" rIns="0" bIns="0" rtlCol="0">
            <a:spAutoFit/>
          </a:bodyPr>
          <a:lstStyle/>
          <a:p>
            <a:pPr marL="12700" marR="5080">
              <a:lnSpc>
                <a:spcPct val="100000"/>
              </a:lnSpc>
              <a:spcBef>
                <a:spcPts val="100"/>
              </a:spcBef>
            </a:pPr>
            <a:r>
              <a:rPr lang="en-US" spc="70" dirty="0">
                <a:solidFill>
                  <a:srgbClr val="4E4D60"/>
                </a:solidFill>
              </a:rPr>
              <a:t>Targeted seasonal and location-based marketing</a:t>
            </a:r>
            <a:endParaRPr lang="en-US" sz="1600" spc="70" dirty="0">
              <a:solidFill>
                <a:srgbClr val="4E4D60"/>
              </a:solidFill>
            </a:endParaRPr>
          </a:p>
          <a:p>
            <a:pPr marL="12700" marR="5080" algn="just">
              <a:lnSpc>
                <a:spcPct val="100000"/>
              </a:lnSpc>
              <a:spcBef>
                <a:spcPts val="100"/>
              </a:spcBef>
            </a:pPr>
            <a:br>
              <a:rPr lang="en-US" sz="1500" spc="75" dirty="0">
                <a:solidFill>
                  <a:srgbClr val="4E4D60"/>
                </a:solidFill>
                <a:latin typeface="Tahoma"/>
                <a:cs typeface="Tahoma"/>
              </a:rPr>
            </a:br>
            <a:r>
              <a:rPr lang="en-US" sz="1500" spc="75" dirty="0">
                <a:solidFill>
                  <a:srgbClr val="4E4D60"/>
                </a:solidFill>
                <a:latin typeface="Tahoma"/>
                <a:cs typeface="Tahoma"/>
              </a:rPr>
              <a:t>Launch marketing campaigns at high-traffic weekend and summer locations — parks, tourist spots, lakefronts. The message should directly show casual riders how an annual membership pays for itself across their existing summer and weekend riding habits. This is supported by the seasonal dependency chart and the weekend riding pattern chart.</a:t>
            </a:r>
            <a:endParaRPr sz="1500" dirty="0">
              <a:latin typeface="Tahoma"/>
              <a:cs typeface="Tahoma"/>
            </a:endParaRPr>
          </a:p>
        </p:txBody>
      </p:sp>
      <p:sp>
        <p:nvSpPr>
          <p:cNvPr id="6" name="object 6"/>
          <p:cNvSpPr txBox="1"/>
          <p:nvPr/>
        </p:nvSpPr>
        <p:spPr>
          <a:xfrm>
            <a:off x="7693024" y="3054350"/>
            <a:ext cx="6594475" cy="1951816"/>
          </a:xfrm>
          <a:prstGeom prst="rect">
            <a:avLst/>
          </a:prstGeom>
        </p:spPr>
        <p:txBody>
          <a:bodyPr vert="horz" wrap="square" lIns="0" tIns="12700" rIns="0" bIns="0" rtlCol="0">
            <a:spAutoFit/>
          </a:bodyPr>
          <a:lstStyle/>
          <a:p>
            <a:pPr marL="14604">
              <a:lnSpc>
                <a:spcPct val="100000"/>
              </a:lnSpc>
              <a:spcBef>
                <a:spcPts val="100"/>
              </a:spcBef>
            </a:pPr>
            <a:r>
              <a:rPr lang="en-US" sz="1800" spc="75" dirty="0">
                <a:solidFill>
                  <a:srgbClr val="4E4D60"/>
                </a:solidFill>
                <a:latin typeface="Tahoma"/>
                <a:cs typeface="Tahoma"/>
              </a:rPr>
              <a:t>Time-targeted digital advertising</a:t>
            </a:r>
            <a:br>
              <a:rPr lang="en-US" sz="1800" spc="75" dirty="0">
                <a:solidFill>
                  <a:srgbClr val="4E4D60"/>
                </a:solidFill>
                <a:latin typeface="Tahoma"/>
                <a:cs typeface="Tahoma"/>
              </a:rPr>
            </a:br>
            <a:endParaRPr sz="1800" dirty="0">
              <a:latin typeface="Tahoma"/>
              <a:cs typeface="Tahoma"/>
            </a:endParaRPr>
          </a:p>
          <a:p>
            <a:pPr marL="12700" marR="346710" algn="just">
              <a:lnSpc>
                <a:spcPct val="100000"/>
              </a:lnSpc>
            </a:pPr>
            <a:r>
              <a:rPr lang="en-US" sz="1500" spc="50" dirty="0">
                <a:solidFill>
                  <a:srgbClr val="4E4D60"/>
                </a:solidFill>
                <a:latin typeface="Tahoma"/>
                <a:cs typeface="Tahoma"/>
              </a:rPr>
              <a:t>Since casual riders are most active in the afternoon, Cyclistic should run targeted digital ads — social media, push notifications, in-app messages — specifically during afternoon hours. Strike when the casual rider is already thinking about riding. The message should promote annual membership sign-up with a limited-time incentive during peak casual riding hours.</a:t>
            </a:r>
            <a:endParaRPr sz="1500" dirty="0">
              <a:latin typeface="Tahoma"/>
              <a:cs typeface="Tahoma"/>
            </a:endParaRPr>
          </a:p>
        </p:txBody>
      </p:sp>
      <p:sp>
        <p:nvSpPr>
          <p:cNvPr id="7" name="object 7"/>
          <p:cNvSpPr txBox="1"/>
          <p:nvPr/>
        </p:nvSpPr>
        <p:spPr>
          <a:xfrm>
            <a:off x="7693025" y="5797550"/>
            <a:ext cx="6316338" cy="2208297"/>
          </a:xfrm>
          <a:prstGeom prst="rect">
            <a:avLst/>
          </a:prstGeom>
        </p:spPr>
        <p:txBody>
          <a:bodyPr vert="horz" wrap="square" lIns="0" tIns="12700" rIns="0" bIns="0" rtlCol="0">
            <a:spAutoFit/>
          </a:bodyPr>
          <a:lstStyle/>
          <a:p>
            <a:pPr marL="14604">
              <a:lnSpc>
                <a:spcPct val="100000"/>
              </a:lnSpc>
              <a:spcBef>
                <a:spcPts val="100"/>
              </a:spcBef>
            </a:pPr>
            <a:r>
              <a:rPr lang="en-US" sz="1800" spc="65" dirty="0">
                <a:solidFill>
                  <a:srgbClr val="4E4D60"/>
                </a:solidFill>
                <a:latin typeface="Tahoma"/>
                <a:cs typeface="Tahoma"/>
              </a:rPr>
              <a:t>Cost comparison marketing</a:t>
            </a:r>
          </a:p>
          <a:p>
            <a:pPr marL="14604">
              <a:lnSpc>
                <a:spcPct val="100000"/>
              </a:lnSpc>
              <a:spcBef>
                <a:spcPts val="100"/>
              </a:spcBef>
            </a:pPr>
            <a:endParaRPr lang="en-US" spc="65" dirty="0">
              <a:solidFill>
                <a:srgbClr val="4E4D60"/>
              </a:solidFill>
              <a:latin typeface="Tahoma"/>
              <a:cs typeface="Tahoma"/>
            </a:endParaRPr>
          </a:p>
          <a:p>
            <a:pPr marL="14604" algn="just">
              <a:lnSpc>
                <a:spcPct val="100000"/>
              </a:lnSpc>
              <a:spcBef>
                <a:spcPts val="100"/>
              </a:spcBef>
            </a:pPr>
            <a:r>
              <a:rPr lang="en-US" sz="1500" spc="85" dirty="0">
                <a:solidFill>
                  <a:srgbClr val="4E4D60"/>
                </a:solidFill>
                <a:latin typeface="Tahoma"/>
                <a:cs typeface="Tahoma"/>
              </a:rPr>
              <a:t>Casuals ride nearly 8 minutes longer per ride than members and pay per ride every single time. A simple cost comparison campaign showing "you've already spent enough for an annual membership" would be highly effective. Show casual riders exactly how much they're spending on single rides versus what an annual membership costs. Let the math make the argument. This is supported directly by your ride duration chart</a:t>
            </a:r>
            <a:endParaRPr sz="1500" dirty="0">
              <a:latin typeface="Tahoma"/>
              <a:cs typeface="Tahoma"/>
            </a:endParaRPr>
          </a:p>
        </p:txBody>
      </p:sp>
      <p:cxnSp>
        <p:nvCxnSpPr>
          <p:cNvPr id="9" name="Straight Connector 8">
            <a:extLst>
              <a:ext uri="{FF2B5EF4-FFF2-40B4-BE49-F238E27FC236}">
                <a16:creationId xmlns:a16="http://schemas.microsoft.com/office/drawing/2014/main" id="{1A2272C3-D8CD-9B03-EBAE-CF859788034F}"/>
              </a:ext>
            </a:extLst>
          </p:cNvPr>
          <p:cNvCxnSpPr/>
          <p:nvPr/>
        </p:nvCxnSpPr>
        <p:spPr>
          <a:xfrm>
            <a:off x="7200900" y="0"/>
            <a:ext cx="0" cy="810260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858C8C2-A0B6-D680-E03D-A5FCF0BCF243}"/>
              </a:ext>
            </a:extLst>
          </p:cNvPr>
          <p:cNvCxnSpPr>
            <a:cxnSpLocks/>
          </p:cNvCxnSpPr>
          <p:nvPr/>
        </p:nvCxnSpPr>
        <p:spPr>
          <a:xfrm>
            <a:off x="7200900" y="2603500"/>
            <a:ext cx="7467600" cy="44522"/>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8ED90BB-FD13-B005-A244-9C3176584B92}"/>
              </a:ext>
            </a:extLst>
          </p:cNvPr>
          <p:cNvCxnSpPr>
            <a:cxnSpLocks/>
          </p:cNvCxnSpPr>
          <p:nvPr/>
        </p:nvCxnSpPr>
        <p:spPr>
          <a:xfrm>
            <a:off x="7200900" y="5432318"/>
            <a:ext cx="7467600" cy="44522"/>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68299" y="7664450"/>
            <a:ext cx="2563495" cy="197490"/>
          </a:xfrm>
          <a:prstGeom prst="rect">
            <a:avLst/>
          </a:prstGeom>
        </p:spPr>
        <p:txBody>
          <a:bodyPr vert="horz" wrap="square" lIns="0" tIns="12700" rIns="0" bIns="0" rtlCol="0">
            <a:spAutoFit/>
          </a:bodyPr>
          <a:lstStyle/>
          <a:p>
            <a:pPr marL="12700">
              <a:lnSpc>
                <a:spcPct val="100000"/>
              </a:lnSpc>
              <a:spcBef>
                <a:spcPts val="100"/>
              </a:spcBef>
            </a:pPr>
            <a:r>
              <a:rPr sz="1200" i="1" spc="-10" dirty="0">
                <a:solidFill>
                  <a:schemeClr val="tx1">
                    <a:lumMod val="75000"/>
                    <a:lumOff val="25000"/>
                  </a:schemeClr>
                </a:solidFill>
                <a:latin typeface="Verdana"/>
                <a:cs typeface="Verdana"/>
              </a:rPr>
              <a:t>Cyclistic</a:t>
            </a:r>
            <a:r>
              <a:rPr sz="1200" i="1" spc="-45" dirty="0">
                <a:solidFill>
                  <a:schemeClr val="tx1">
                    <a:lumMod val="75000"/>
                    <a:lumOff val="25000"/>
                  </a:schemeClr>
                </a:solidFill>
                <a:latin typeface="Verdana"/>
                <a:cs typeface="Verdana"/>
              </a:rPr>
              <a:t> </a:t>
            </a:r>
            <a:r>
              <a:rPr sz="1200" i="1" spc="-35" dirty="0">
                <a:solidFill>
                  <a:schemeClr val="tx1">
                    <a:lumMod val="75000"/>
                    <a:lumOff val="25000"/>
                  </a:schemeClr>
                </a:solidFill>
                <a:latin typeface="Verdana"/>
                <a:cs typeface="Verdana"/>
              </a:rPr>
              <a:t>Marketing</a:t>
            </a:r>
            <a:r>
              <a:rPr sz="1200" i="1" spc="-40" dirty="0">
                <a:solidFill>
                  <a:schemeClr val="tx1">
                    <a:lumMod val="75000"/>
                    <a:lumOff val="25000"/>
                  </a:schemeClr>
                </a:solidFill>
                <a:latin typeface="Verdana"/>
                <a:cs typeface="Verdana"/>
              </a:rPr>
              <a:t> </a:t>
            </a:r>
            <a:r>
              <a:rPr sz="1200" i="1" spc="-25" dirty="0">
                <a:solidFill>
                  <a:schemeClr val="tx1">
                    <a:lumMod val="75000"/>
                    <a:lumOff val="25000"/>
                  </a:schemeClr>
                </a:solidFill>
                <a:latin typeface="Verdana"/>
                <a:cs typeface="Verdana"/>
              </a:rPr>
              <a:t>Analytics</a:t>
            </a:r>
            <a:r>
              <a:rPr sz="1200" i="1" spc="-45" dirty="0">
                <a:solidFill>
                  <a:schemeClr val="tx1">
                    <a:lumMod val="75000"/>
                    <a:lumOff val="25000"/>
                  </a:schemeClr>
                </a:solidFill>
                <a:latin typeface="Verdana"/>
                <a:cs typeface="Verdana"/>
              </a:rPr>
              <a:t> </a:t>
            </a:r>
            <a:r>
              <a:rPr sz="1200" i="1" spc="-25" dirty="0">
                <a:solidFill>
                  <a:schemeClr val="tx1">
                    <a:lumMod val="75000"/>
                    <a:lumOff val="25000"/>
                  </a:schemeClr>
                </a:solidFill>
                <a:latin typeface="Verdana"/>
                <a:cs typeface="Verdana"/>
              </a:rPr>
              <a:t>Team</a:t>
            </a:r>
            <a:endParaRPr sz="1200" dirty="0">
              <a:solidFill>
                <a:schemeClr val="tx1">
                  <a:lumMod val="75000"/>
                  <a:lumOff val="25000"/>
                </a:schemeClr>
              </a:solidFill>
              <a:latin typeface="Verdana"/>
              <a:cs typeface="Verdana"/>
            </a:endParaRPr>
          </a:p>
        </p:txBody>
      </p:sp>
      <p:sp>
        <p:nvSpPr>
          <p:cNvPr id="4" name="object 4"/>
          <p:cNvSpPr txBox="1"/>
          <p:nvPr/>
        </p:nvSpPr>
        <p:spPr>
          <a:xfrm>
            <a:off x="10782300" y="7108830"/>
            <a:ext cx="3425190" cy="753110"/>
          </a:xfrm>
          <a:prstGeom prst="rect">
            <a:avLst/>
          </a:prstGeom>
        </p:spPr>
        <p:txBody>
          <a:bodyPr vert="horz" wrap="square" lIns="0" tIns="27939" rIns="0" bIns="0" rtlCol="0">
            <a:spAutoFit/>
          </a:bodyPr>
          <a:lstStyle/>
          <a:p>
            <a:pPr marL="12700" marR="5080" indent="1680845" algn="r">
              <a:lnSpc>
                <a:spcPts val="2850"/>
              </a:lnSpc>
              <a:spcBef>
                <a:spcPts val="219"/>
              </a:spcBef>
            </a:pPr>
            <a:r>
              <a:rPr sz="2000" spc="80" dirty="0">
                <a:solidFill>
                  <a:schemeClr val="tx1">
                    <a:lumMod val="75000"/>
                    <a:lumOff val="25000"/>
                  </a:schemeClr>
                </a:solidFill>
                <a:latin typeface="Tahoma"/>
                <a:cs typeface="Tahoma"/>
              </a:rPr>
              <a:t>Get</a:t>
            </a:r>
            <a:r>
              <a:rPr sz="2000" spc="-70" dirty="0">
                <a:solidFill>
                  <a:schemeClr val="tx1">
                    <a:lumMod val="75000"/>
                    <a:lumOff val="25000"/>
                  </a:schemeClr>
                </a:solidFill>
                <a:latin typeface="Tahoma"/>
                <a:cs typeface="Tahoma"/>
              </a:rPr>
              <a:t> </a:t>
            </a:r>
            <a:r>
              <a:rPr sz="2000" dirty="0">
                <a:solidFill>
                  <a:schemeClr val="tx1">
                    <a:lumMod val="75000"/>
                    <a:lumOff val="25000"/>
                  </a:schemeClr>
                </a:solidFill>
                <a:latin typeface="Tahoma"/>
                <a:cs typeface="Tahoma"/>
              </a:rPr>
              <a:t>in</a:t>
            </a:r>
            <a:r>
              <a:rPr sz="2000" spc="-70" dirty="0">
                <a:solidFill>
                  <a:schemeClr val="tx1">
                    <a:lumMod val="75000"/>
                    <a:lumOff val="25000"/>
                  </a:schemeClr>
                </a:solidFill>
                <a:latin typeface="Tahoma"/>
                <a:cs typeface="Tahoma"/>
              </a:rPr>
              <a:t> </a:t>
            </a:r>
            <a:r>
              <a:rPr sz="2000" spc="75" dirty="0">
                <a:solidFill>
                  <a:schemeClr val="tx1">
                    <a:lumMod val="75000"/>
                    <a:lumOff val="25000"/>
                  </a:schemeClr>
                </a:solidFill>
                <a:latin typeface="Tahoma"/>
                <a:cs typeface="Tahoma"/>
              </a:rPr>
              <a:t>touc</a:t>
            </a:r>
            <a:r>
              <a:rPr lang="en-US" sz="2000" spc="75" dirty="0">
                <a:solidFill>
                  <a:schemeClr val="tx1">
                    <a:lumMod val="75000"/>
                    <a:lumOff val="25000"/>
                  </a:schemeClr>
                </a:solidFill>
                <a:latin typeface="Tahoma"/>
                <a:cs typeface="Tahoma"/>
              </a:rPr>
              <a:t>h</a:t>
            </a:r>
            <a:r>
              <a:rPr sz="2000" spc="75" dirty="0">
                <a:solidFill>
                  <a:schemeClr val="tx1">
                    <a:lumMod val="75000"/>
                    <a:lumOff val="25000"/>
                  </a:schemeClr>
                </a:solidFill>
                <a:latin typeface="Tahoma"/>
                <a:cs typeface="Tahoma"/>
              </a:rPr>
              <a:t> </a:t>
            </a:r>
            <a:r>
              <a:rPr sz="2000" spc="75" dirty="0">
                <a:solidFill>
                  <a:schemeClr val="tx1">
                    <a:lumMod val="75000"/>
                    <a:lumOff val="25000"/>
                  </a:schemeClr>
                </a:solidFill>
                <a:latin typeface="Tahoma"/>
                <a:cs typeface="Tahoma"/>
                <a:hlinkClick r:id="rId2">
                  <a:extLst>
                    <a:ext uri="{A12FA001-AC4F-418D-AE19-62706E023703}">
                      <ahyp:hlinkClr xmlns:ahyp="http://schemas.microsoft.com/office/drawing/2018/hyperlinkcolor" val="tx"/>
                    </a:ext>
                  </a:extLst>
                </a:hlinkClick>
              </a:rPr>
              <a:t>analytics@cyclistic.com</a:t>
            </a:r>
            <a:endParaRPr sz="2000" dirty="0">
              <a:solidFill>
                <a:schemeClr val="tx1">
                  <a:lumMod val="75000"/>
                  <a:lumOff val="25000"/>
                </a:schemeClr>
              </a:solidFill>
              <a:latin typeface="Tahoma"/>
              <a:cs typeface="Tahoma"/>
            </a:endParaRPr>
          </a:p>
        </p:txBody>
      </p:sp>
      <p:sp>
        <p:nvSpPr>
          <p:cNvPr id="5" name="object 5"/>
          <p:cNvSpPr txBox="1"/>
          <p:nvPr/>
        </p:nvSpPr>
        <p:spPr>
          <a:xfrm>
            <a:off x="4414837" y="2654300"/>
            <a:ext cx="5572125" cy="1397000"/>
          </a:xfrm>
          <a:prstGeom prst="rect">
            <a:avLst/>
          </a:prstGeom>
        </p:spPr>
        <p:txBody>
          <a:bodyPr vert="horz" wrap="square" lIns="0" tIns="12700" rIns="0" bIns="0" rtlCol="0">
            <a:spAutoFit/>
          </a:bodyPr>
          <a:lstStyle/>
          <a:p>
            <a:pPr marL="12700">
              <a:lnSpc>
                <a:spcPct val="100000"/>
              </a:lnSpc>
              <a:spcBef>
                <a:spcPts val="100"/>
              </a:spcBef>
            </a:pPr>
            <a:r>
              <a:rPr sz="9000" spc="275" dirty="0">
                <a:solidFill>
                  <a:schemeClr val="tx1">
                    <a:lumMod val="75000"/>
                    <a:lumOff val="25000"/>
                  </a:schemeClr>
                </a:solidFill>
                <a:latin typeface="Tahoma"/>
                <a:cs typeface="Tahoma"/>
              </a:rPr>
              <a:t>Thank</a:t>
            </a:r>
            <a:r>
              <a:rPr sz="9000" spc="-490" dirty="0">
                <a:solidFill>
                  <a:schemeClr val="tx1">
                    <a:lumMod val="75000"/>
                    <a:lumOff val="25000"/>
                  </a:schemeClr>
                </a:solidFill>
                <a:latin typeface="Tahoma"/>
                <a:cs typeface="Tahoma"/>
              </a:rPr>
              <a:t> </a:t>
            </a:r>
            <a:r>
              <a:rPr sz="9000" spc="280" dirty="0">
                <a:solidFill>
                  <a:schemeClr val="tx1">
                    <a:lumMod val="75000"/>
                    <a:lumOff val="25000"/>
                  </a:schemeClr>
                </a:solidFill>
                <a:latin typeface="Tahoma"/>
                <a:cs typeface="Tahoma"/>
              </a:rPr>
              <a:t>you</a:t>
            </a:r>
            <a:endParaRPr sz="9000" dirty="0">
              <a:solidFill>
                <a:schemeClr val="tx1">
                  <a:lumMod val="75000"/>
                  <a:lumOff val="25000"/>
                </a:schemeClr>
              </a:solidFill>
              <a:latin typeface="Tahoma"/>
              <a:cs typeface="Tahom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9FAF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TotalTime>
  <Words>745</Words>
  <Application>Microsoft Office PowerPoint</Application>
  <PresentationFormat>Custom</PresentationFormat>
  <Paragraphs>142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Segoe UI Symbol</vt:lpstr>
      <vt:lpstr>Tahoma</vt:lpstr>
      <vt:lpstr>Trebuchet MS</vt:lpstr>
      <vt:lpstr>Verdana</vt:lpstr>
      <vt:lpstr>Office Theme</vt:lpstr>
      <vt:lpstr>Cyclistic Bike-Share</vt:lpstr>
      <vt:lpstr>PowerPoint Presentation</vt:lpstr>
      <vt:lpstr>Analysis Observations</vt:lpstr>
      <vt:lpstr>Distribution of Members and Casuals</vt:lpstr>
      <vt:lpstr>% of total rides by day — Casual vs. Member</vt:lpstr>
      <vt:lpstr>Ride share by time of day — Casual vs. Member</vt:lpstr>
      <vt:lpstr>Ride share throughout the Year</vt:lpstr>
      <vt:lpstr>Average Ride duration for riders</vt:lpstr>
      <vt:lpstr>Ride duration dependency on bike type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Shikhar Vashisht</cp:lastModifiedBy>
  <cp:revision>1</cp:revision>
  <dcterms:created xsi:type="dcterms:W3CDTF">2026-04-17T07:57:18Z</dcterms:created>
  <dcterms:modified xsi:type="dcterms:W3CDTF">2026-04-17T10:26:38Z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2026-04-17T00:00:00Z</vt:filetime>
  </property>
  <property fmtid="{D5CDD505-2E9C-101B-9397-08002B2CF9AE}" pid="3" name="Creator">
    <vt:lpwstr>Chronicle (https://chroniclehq.com)</vt:lpwstr>
  </property>
  <property fmtid="{D5CDD505-2E9C-101B-9397-08002B2CF9AE}" pid="4" name="LastSaved">
    <vt:filetime>2026-04-17T00:00:00Z</vt:filetime>
  </property>
  <property fmtid="{D5CDD505-2E9C-101B-9397-08002B2CF9AE}" pid="5" name="Producer">
    <vt:lpwstr>Chronicle</vt:lpwstr>
  </property>
</Properties>
</file>